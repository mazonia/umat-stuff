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274320" cy="4389120"/>
          </a:xfrm>
          <a:prstGeom prst="roundRect">
            <a:avLst/>
          </a:prstGeom>
          <a:solidFill>
            <a:srgbClr val="0F6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28016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6E66"/>
                </a:solidFill>
                <a:latin typeface="Calibri"/>
              </a:defRPr>
            </a:pPr>
            <a:r>
              <a:t>CY376: NETWORK MONITORING, SECURITY AND AUDITING</a:t>
            </a:r>
          </a:p>
          <a:p>
            <a:pPr>
              <a:defRPr sz="3200" b="1">
                <a:solidFill>
                  <a:srgbClr val="1E293B"/>
                </a:solidFill>
                <a:latin typeface="Calibri"/>
              </a:defRPr>
            </a:pPr>
            <a:r>
              <a:t>Simulated Privilege Escalation &amp;</a:t>
            </a:r>
            <a:br/>
            <a:r>
              <a:t>Domain Compromise</a:t>
            </a:r>
          </a:p>
          <a:p>
            <a:pPr>
              <a:defRPr sz="1600" i="1">
                <a:solidFill>
                  <a:srgbClr val="475569"/>
                </a:solidFill>
                <a:latin typeface="Calibri"/>
              </a:defRPr>
            </a:pPr>
            <a:r>
              <a:t>An Assumed-Breach Active Directory Penetration Test of INLANEFREIGHT.LOCAL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0" y="3931920"/>
            <a:ext cx="10058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400" b="1">
                <a:solidFill>
                  <a:srgbClr val="0F6E66"/>
                </a:solidFill>
                <a:latin typeface="Calibri"/>
              </a:defRPr>
            </a:pPr>
            <a:r>
              <a:t>Presenter: Enoch Nana Tabi Oduro  |  Index: CY376-2026-REG  |  Track: Red Team Assessment</a:t>
            </a:r>
          </a:p>
          <a:p>
            <a:pPr>
              <a:defRPr sz="1200">
                <a:solidFill>
                  <a:srgbClr val="1E293B"/>
                </a:solidFill>
                <a:latin typeface="Calibri"/>
              </a:defRPr>
            </a:pPr>
            <a:r>
              <a:t>Submission Date: Monday, 3rd August 2026</a:t>
            </a:r>
          </a:p>
          <a:p>
            <a:pPr>
              <a:defRPr sz="1200" b="1">
                <a:solidFill>
                  <a:srgbClr val="0D9488"/>
                </a:solidFill>
                <a:latin typeface="Calibri"/>
              </a:defRPr>
            </a:pPr>
            <a:r>
              <a:t>GitHub Repository: https://github.com/Mazonia/privilege-escalation-n-dom-compromise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0728655" cy="96012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BRIEFING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1. Engagement Scope &amp; Assumed-Breach Threat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F6E66"/>
                </a:solidFill>
                <a:latin typeface="Calibri"/>
              </a:defRPr>
            </a:pPr>
            <a:r>
              <a:t>Assumed-Breach Threat Strategy</a:t>
            </a:r>
          </a:p>
          <a:p>
            <a:r>
              <a:rPr b="1" sz="1200">
                <a:solidFill>
                  <a:srgbClr val="1E293B"/>
                </a:solidFill>
              </a:rPr>
              <a:t>Realistic Threat Model: </a:t>
            </a:r>
            <a:r>
              <a:rPr sz="1150">
                <a:solidFill>
                  <a:srgbClr val="475569"/>
                </a:solidFill>
              </a:rPr>
              <a:t>Simulates an insider threat or an adversary with an established internal network foothold.</a:t>
            </a:r>
          </a:p>
          <a:p>
            <a:r>
              <a:rPr b="1" sz="1200">
                <a:solidFill>
                  <a:srgbClr val="1E293B"/>
                </a:solidFill>
              </a:rPr>
              <a:t>Starting Credential: </a:t>
            </a:r>
            <a:r>
              <a:rPr sz="1150">
                <a:solidFill>
                  <a:srgbClr val="475569"/>
                </a:solidFill>
              </a:rPr>
              <a:t>Low-privileged user hporter : Gr8hambino! on INLANEFREIGHT.LOCAL.</a:t>
            </a:r>
          </a:p>
          <a:p>
            <a:r>
              <a:rPr b="1" sz="1200">
                <a:solidFill>
                  <a:srgbClr val="1E293B"/>
                </a:solidFill>
              </a:rPr>
              <a:t>Perimeter Bypass: </a:t>
            </a:r>
            <a:r>
              <a:rPr sz="1150">
                <a:solidFill>
                  <a:srgbClr val="475569"/>
                </a:solidFill>
              </a:rPr>
              <a:t>Focuses evaluation strictly on internal AD object permissions, service isolation, and delegation oversights.</a:t>
            </a:r>
          </a:p>
          <a:p>
            <a:r>
              <a:rPr b="1" sz="1200">
                <a:solidFill>
                  <a:srgbClr val="1E293B"/>
                </a:solidFill>
              </a:rPr>
              <a:t>Zero-Day Independent: </a:t>
            </a:r>
            <a:r>
              <a:rPr sz="1150">
                <a:solidFill>
                  <a:srgbClr val="475569"/>
                </a:solidFill>
              </a:rPr>
              <a:t>Proves how native Windows protocols and ACL flaws concatenate into full domain compromise.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E6F2F0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0F6E66"/>
                </a:solidFill>
                <a:latin typeface="Calibri"/>
              </a:defRPr>
            </a:pPr>
            <a:r>
              <a:t>Primary Engagement Objectives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1. Privilege Escalation Validation: Determine if low-privileged hporter can reach Domain Administrator rights.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2. Structural Misconfiguration Audit: Map ACL oversights (ForceChangePassword, GenericWrite, GenericAll).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3. Credential Hygiene Assessment: Identify cleartext credentials in scripts, unattend files, and LSA autologon registry secrets.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4. DCSync Replication Impact: Demonstrate business risk of unmonitored GetChanges / GetChangesAll replication rights.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5. Defensive Hardening Roadmap: Formulate prioritized remediations aligned with CIS Benchmarks &amp; MITRE ATT&amp;CK.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0728655" cy="96012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BRIEFING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2. Lab Target Environment &amp; Network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5081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6E66"/>
                </a:solidFill>
                <a:latin typeface="Calibri"/>
              </a:defRPr>
            </a:pPr>
            <a:r>
              <a:t>DC01 (172.16.8.3)</a:t>
            </a:r>
          </a:p>
          <a:p>
            <a:pPr>
              <a:defRPr sz="1150" b="1">
                <a:solidFill>
                  <a:srgbClr val="475569"/>
                </a:solidFill>
                <a:latin typeface="Calibri"/>
              </a:defRPr>
            </a:pPr>
            <a:r>
              <a:t>Role: Domain Controller  |  OS: Windows Server 2019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Primary Active Directory Domain Controller for INLANEFREIGHT.LOCAL. KDC, LDAP, and DNS server.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645920"/>
            <a:ext cx="515081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6E66"/>
                </a:solidFill>
                <a:latin typeface="Calibri"/>
              </a:defRPr>
            </a:pPr>
            <a:r>
              <a:t>MS01 (172.16.8.50)</a:t>
            </a:r>
          </a:p>
          <a:p>
            <a:pPr>
              <a:defRPr sz="1150" b="1">
                <a:solidFill>
                  <a:srgbClr val="475569"/>
                </a:solidFill>
                <a:latin typeface="Calibri"/>
              </a:defRPr>
            </a:pPr>
            <a:r>
              <a:t>Role: Member Server  |  OS: Windows Server 2019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General-purpose member server hosting WinRM, SQL Express backup routines, and Sysax Automation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15081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6E66"/>
                </a:solidFill>
                <a:latin typeface="Calibri"/>
              </a:defRPr>
            </a:pPr>
            <a:r>
              <a:t>DEV01 / DMZ01 (172.16.8.10)</a:t>
            </a:r>
          </a:p>
          <a:p>
            <a:pPr>
              <a:defRPr sz="1150" b="1">
                <a:solidFill>
                  <a:srgbClr val="475569"/>
                </a:solidFill>
                <a:latin typeface="Calibri"/>
              </a:defRPr>
            </a:pPr>
            <a:r>
              <a:t>Role: Web Pivot Host  |  OS: Ubuntu 22.04 LTS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Internal web host utilized for initial credential discovery during assumed-breach phase.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3931920"/>
            <a:ext cx="5150815" cy="2103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500" b="1">
                <a:solidFill>
                  <a:srgbClr val="0F6E66"/>
                </a:solidFill>
                <a:latin typeface="Calibri"/>
              </a:defRPr>
            </a:pPr>
            <a:r>
              <a:t>Attacker Station (172.16.8.100)</a:t>
            </a:r>
          </a:p>
          <a:p>
            <a:pPr>
              <a:defRPr sz="1150" b="1">
                <a:solidFill>
                  <a:srgbClr val="475569"/>
                </a:solidFill>
                <a:latin typeface="Calibri"/>
              </a:defRPr>
            </a:pPr>
            <a:r>
              <a:t>Role: Red Team Platform  |  OS: Kali Linux 2026.2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Assessment platform equipped with NetExec, BloodHound, Impacket, Mimikatz, and Hashcat.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0728655" cy="96012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BRIEFING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3. Attack Chain Phase 1: Foothold Verification &amp; Host Compromise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1200">
                <a:solidFill>
                  <a:srgbClr val="0F6E66"/>
                </a:solidFill>
              </a:rPr>
              <a:t>Stage 1: Foothold Validation
</a:t>
            </a:r>
            <a:r>
              <a:rPr sz="1100">
                <a:solidFill>
                  <a:srgbClr val="1E293B"/>
                </a:solidFill>
              </a:rPr>
              <a:t>Validated hporter : Gr8hambino! credentials against DC01 via NetExec SMB.
</a:t>
            </a:r>
          </a:p>
          <a:p>
            <a:r>
              <a:rPr b="1" sz="1200">
                <a:solidFill>
                  <a:srgbClr val="0F6E66"/>
                </a:solidFill>
              </a:rPr>
              <a:t>Stage 2-3: ForceChangePassword ACL
</a:t>
            </a:r>
            <a:r>
              <a:rPr sz="1100">
                <a:solidFill>
                  <a:srgbClr val="1E293B"/>
                </a:solidFill>
              </a:rPr>
              <a:t>BloodHound graph analysis exposed ForceChangePassword over ssmalls. Forcefully updated password to mazoniakid via bloodyAD.
</a:t>
            </a:r>
          </a:p>
          <a:p>
            <a:r>
              <a:rPr b="1" sz="1200">
                <a:solidFill>
                  <a:srgbClr val="0F6E66"/>
                </a:solidFill>
              </a:rPr>
              <a:t>Stage 4: File Share Credential Harvesting
</a:t>
            </a:r>
            <a:r>
              <a:rPr sz="1100">
                <a:solidFill>
                  <a:srgbClr val="1E293B"/>
                </a:solidFill>
              </a:rPr>
              <a:t>Spidered IT department share as ssmalls; extracted backupadm : !qazXSW@ from SQL Express Backup.ps1.
</a:t>
            </a:r>
          </a:p>
          <a:p>
            <a:r>
              <a:rPr b="1" sz="1200">
                <a:solidFill>
                  <a:srgbClr val="0F6E66"/>
                </a:solidFill>
              </a:rPr>
              <a:t>Stage 5: WinRM Lateral Movement
</a:t>
            </a:r>
            <a:r>
              <a:rPr sz="1100">
                <a:solidFill>
                  <a:srgbClr val="1E293B"/>
                </a:solidFill>
              </a:rPr>
              <a:t>Authenticated to member server MS01 via WinRM using backupadm credentials.
</a:t>
            </a:r>
          </a:p>
          <a:p>
            <a:r>
              <a:rPr b="1" sz="1200">
                <a:solidFill>
                  <a:srgbClr val="0F6E66"/>
                </a:solidFill>
              </a:rPr>
              <a:t>Stage 6-7: Unattend.xml &amp; Sysax LPE
</a:t>
            </a:r>
            <a:r>
              <a:rPr sz="1100">
                <a:solidFill>
                  <a:srgbClr val="1E293B"/>
                </a:solidFill>
              </a:rPr>
              <a:t>Discovered cleartext ilfserveradm credentials in C:\panther\unattend.xml. Escalated to local SYSTEM via vulnerable Sysax Automation service.
</a:t>
            </a:r>
          </a:p>
        </p:txBody>
      </p:sp>
      <p:pic>
        <p:nvPicPr>
          <p:cNvPr id="4" name="Picture 3" descr="maz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338652"/>
          </a:xfrm>
          <a:prstGeom prst="rect">
            <a:avLst/>
          </a:prstGeom>
        </p:spPr>
      </p:pic>
      <p:pic>
        <p:nvPicPr>
          <p:cNvPr id="5" name="Picture 4" descr="maz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23360"/>
            <a:ext cx="4937760" cy="1498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0728655" cy="96012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BRIEFING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4. Attack Chain Phase 2: LSA Autologon Secrets &amp; Targeted Kerberoasting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1250">
                <a:solidFill>
                  <a:srgbClr val="0F6E66"/>
                </a:solidFill>
              </a:rPr>
              <a:t>Stage 8: Mimikatz LSA Secrets Dump
</a:t>
            </a:r>
            <a:r>
              <a:rPr sz="1150">
                <a:solidFill>
                  <a:srgbClr val="1E293B"/>
                </a:solidFill>
              </a:rPr>
              <a:t>Extracted cleartext autologon registry secrets (HKLM\SECURITY) on MS01; recovered domain service account mssqladm : DBAilfreight1!.
</a:t>
            </a:r>
          </a:p>
          <a:p>
            <a:r>
              <a:rPr b="1" sz="1250">
                <a:solidFill>
                  <a:srgbClr val="0F6E66"/>
                </a:solidFill>
              </a:rPr>
              <a:t>Stage 9: Targeted SPN Injection via GenericWrite
</a:t>
            </a:r>
            <a:r>
              <a:rPr sz="1150">
                <a:solidFill>
                  <a:srgbClr val="1E293B"/>
                </a:solidFill>
              </a:rPr>
              <a:t>mssqladm possessed GenericWrite rights over user ttimmons. Used bloodyAD to write a fake Service Principal Name (acmetesting/LEGIT), forcing ttimmons to become Kerberoastable.
</a:t>
            </a:r>
          </a:p>
          <a:p>
            <a:r>
              <a:rPr b="1" sz="1250">
                <a:solidFill>
                  <a:srgbClr val="0F6E66"/>
                </a:solidFill>
              </a:rPr>
              <a:t>Offline Kerberos TGS Ticket Cracking
</a:t>
            </a:r>
            <a:r>
              <a:rPr sz="1150">
                <a:solidFill>
                  <a:srgbClr val="1E293B"/>
                </a:solidFill>
              </a:rPr>
              <a:t>Requested TGS ticket via Impacket GetUserSPNs.py. Cracked Kerberos hash offline via Hashcat (Mode 13100), recovering ttimmons : Repeat09.
</a:t>
            </a:r>
          </a:p>
        </p:txBody>
      </p:sp>
      <p:pic>
        <p:nvPicPr>
          <p:cNvPr id="4" name="Picture 3" descr="default-user-o-mssqladm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2024385"/>
          </a:xfrm>
          <a:prstGeom prst="rect">
            <a:avLst/>
          </a:prstGeom>
        </p:spPr>
      </p:pic>
      <p:pic>
        <p:nvPicPr>
          <p:cNvPr id="5" name="Picture 4" descr="mssqladm-genericwrite-onttt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23360"/>
            <a:ext cx="4937760" cy="19185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0728655" cy="96012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BRIEFING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5. Attack Chain Phase 3: Group Self-Addition &amp; DCSync Domain Takeover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4864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/>
            <a:r>
              <a:rPr b="1" sz="1250">
                <a:solidFill>
                  <a:srgbClr val="0F6E66"/>
                </a:solidFill>
              </a:rPr>
              <a:t>Stage 10: Server Admins Group Self-Addition
</a:t>
            </a:r>
            <a:r>
              <a:rPr sz="1150">
                <a:solidFill>
                  <a:srgbClr val="1E293B"/>
                </a:solidFill>
              </a:rPr>
              <a:t>ttimmons possessed GenericAll control over the Server Admins security group. Used bloodyAD to self-add ttimmons directly into Server Admins.
</a:t>
            </a:r>
          </a:p>
          <a:p>
            <a:r>
              <a:rPr b="1" sz="1250">
                <a:solidFill>
                  <a:srgbClr val="0F6E66"/>
                </a:solidFill>
              </a:rPr>
              <a:t>Stage 11: DCSync Domain Credential Replication
</a:t>
            </a:r>
            <a:r>
              <a:rPr sz="1150">
                <a:solidFill>
                  <a:srgbClr val="1E293B"/>
                </a:solidFill>
              </a:rPr>
              <a:t>Server Admins group held GetChanges/GetChangesAll replication rights on the domain root. Dumped full NTDS.DIT database via secretsdump.py (Administrator hash: fd1f7e5564060258ea787ddbb6e6afa2).
</a:t>
            </a:r>
          </a:p>
          <a:p>
            <a:r>
              <a:rPr b="1" sz="1250">
                <a:solidFill>
                  <a:srgbClr val="0F6E66"/>
                </a:solidFill>
              </a:rPr>
              <a:t>Stage 12: Pass-the-Hash Domain Control
</a:t>
            </a:r>
            <a:r>
              <a:rPr sz="1150">
                <a:solidFill>
                  <a:srgbClr val="1E293B"/>
                </a:solidFill>
              </a:rPr>
              <a:t>Authenticated directly to Domain Controller DC01 via WinRM using the extracted Administrator NTLM hash, confirming 100% domain takeover.
</a:t>
            </a:r>
          </a:p>
        </p:txBody>
      </p:sp>
      <p:pic>
        <p:nvPicPr>
          <p:cNvPr id="4" name="Picture 3" descr="maz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45920"/>
            <a:ext cx="4937760" cy="1609746"/>
          </a:xfrm>
          <a:prstGeom prst="rect">
            <a:avLst/>
          </a:prstGeom>
        </p:spPr>
      </p:pic>
      <p:pic>
        <p:nvPicPr>
          <p:cNvPr id="5" name="Picture 4" descr="dc-sync-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023360"/>
            <a:ext cx="4937760" cy="18344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0728655" cy="96012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BRIEFING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6. Root-Cause Misconfigurations Chained Across Assessment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41563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Identified Misconfiguration</a:t>
                      </a:r>
                    </a:p>
                  </a:txBody>
                  <a:tcPr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0F6E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 in Attack Chain</a:t>
                      </a:r>
                    </a:p>
                  </a:txBody>
                  <a:tcPr>
                    <a:solidFill>
                      <a:srgbClr val="0F6E66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ForceChangePassword ACL Delegation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Allowed account takeover of ssmalls without password knowledge.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Plaintext Credentials in Share Script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Exposed backupadm credentials on accessible IT share.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Excessive Service Account WinRM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Permitted lateral movement of backupadm onto member server MS01.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Unattended Setup Answer File (unattend.xml)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Exposed cleartext local administrator setup credentials.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Vulnerable Scheduled Task Service (Sysax)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Enabled local privilege escalation to NT AUTHORITY\SYSTEM on MS01.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Autologon Registry Cleartext Storage (LSA)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Exposed mssqladm service account password in LSA registry secrets.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GenericWrite ACL Delegation on User 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Allowed targeted SPN injection on ttimmons for Kerberoasting.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Weak Password Policy (RC4 Kerberoastable)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Enabled offline brute-force cracking of ttimmons TGS hash.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GenericAll ACL Control over Security Group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Allowed ttimmons to self-add into privileged Server Admins group.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Extended Directory Replication Rights (DCSync)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91B1B"/>
                          </a:solidFill>
                          <a:latin typeface="Calibri"/>
                        </a:defRPr>
                      </a:pPr>
                      <a:r>
                        <a:t>Critical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Root Cause of Domain Compromise: Allowed NTDS.DIT replication dump.</a:t>
                      </a:r>
                    </a:p>
                  </a:txBody>
                  <a:tcPr>
                    <a:solidFill>
                      <a:srgbClr val="E6F2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0728655" cy="96012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BRIEFING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7. Prioritized Defensive Remediation Roadmap (CIS Benchmarks)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1. Revoke Directory Replication Rights (Immediate Critical Priority)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Immediately remove GetChanges and GetChangesAll replication rights from non-DC groups (Server Admins). Restrict replication exclusively to Domain Controllers.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2. Remediate Excessive ACL Delegations (High Priority)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Audit AD object ACLs via BloodHound Enterprise / PingCastle. Revoke ForceChangePassword, GenericWrite, and GenericAll from unprivileged accounts.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3. Migrate Service Accounts to gMSAs (High Priority)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Deploy Group Managed Service Accounts (gMSAs) with automatic 120-character password rotation for backupadm and mssqladm.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4. Enable LSA Protection &amp; Credential Guard (Medium Priority)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Configure HKLM\SYSTEM\CurrentControlSet\Control\Lsa\RunAsPPL = 1 via Group Policy to prevent Mimikatz LSASS memory dumping.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303520"/>
            <a:ext cx="10728655" cy="8046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F6E66"/>
                </a:solidFill>
                <a:latin typeface="Calibri"/>
              </a:defRPr>
            </a:pPr>
            <a:r>
              <a:t>5. Implement Microsoft Tiered Administration Model (Strategic Priority)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Enforce strict boundary separation between Tier 0 (Domain Controllers), Tier 1 (Servers), and Tier 2 (Workstations).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10728655" cy="96012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000" b="1">
                <a:solidFill>
                  <a:srgbClr val="0F6E66"/>
                </a:solidFill>
                <a:latin typeface="Calibri"/>
              </a:defRPr>
            </a:pPr>
            <a:r>
              <a:t>CY376 RED TEAM BRIEFING</a:t>
            </a:r>
          </a:p>
          <a:p>
            <a:pPr>
              <a:defRPr sz="2200" b="1">
                <a:solidFill>
                  <a:srgbClr val="1E293B"/>
                </a:solidFill>
                <a:latin typeface="Calibri"/>
              </a:defRPr>
            </a:pPr>
            <a:r>
              <a:t>8. Conclusion &amp; Presentation Wrap-up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645920"/>
            <a:ext cx="9448495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0F6E66"/>
                </a:solidFill>
                <a:latin typeface="Calibri"/>
              </a:defRPr>
            </a:pPr>
            <a:r>
              <a:t>Summary of Key Outcomes</a:t>
            </a:r>
          </a:p>
          <a:p>
            <a:pPr>
              <a:defRPr sz="1350">
                <a:solidFill>
                  <a:srgbClr val="1E293B"/>
                </a:solidFill>
                <a:latin typeface="Calibri"/>
              </a:defRPr>
            </a:pPr>
            <a:r>
              <a:t>• Full Domain Takeover Demonstrated: 12-stage attack chain successfully escalated hporter to Domain Administrator &amp; DCSync control.</a:t>
            </a:r>
          </a:p>
          <a:p>
            <a:pPr>
              <a:defRPr sz="1350">
                <a:solidFill>
                  <a:srgbClr val="1E293B"/>
                </a:solidFill>
                <a:latin typeface="Calibri"/>
              </a:defRPr>
            </a:pPr>
            <a:r>
              <a:t>• Zero Exploits Needed: Entire compromise path relied strictly on misconfigured permissions, cleartext credentials, and unmonitored directory rights.</a:t>
            </a:r>
          </a:p>
          <a:p>
            <a:pPr>
              <a:defRPr sz="1350">
                <a:solidFill>
                  <a:srgbClr val="1E293B"/>
                </a:solidFill>
                <a:latin typeface="Calibri"/>
              </a:defRPr>
            </a:pPr>
            <a:r>
              <a:t>• Defense-in-Depth Required: Implementing the remediation roadmap will sever the attack path at multiple independent stages.</a:t>
            </a:r>
          </a:p>
          <a:p>
            <a:pPr>
              <a:defRPr sz="1350">
                <a:solidFill>
                  <a:srgbClr val="1E293B"/>
                </a:solidFill>
                <a:latin typeface="Calibri"/>
              </a:defRPr>
            </a:pPr>
            <a:r>
              <a:t>• Complete Deliverables Pushed: Written Report (DOCX/PDF), Presentation Slides (.pptx), Execution Scripts, Evidence Logs, and Screenshots pushed to GitHub.</a:t>
            </a:r>
          </a:p>
          <a:p>
            <a:br/>
            <a:pPr>
              <a:defRPr sz="1800" b="1">
                <a:solidFill>
                  <a:srgbClr val="0F6E66"/>
                </a:solidFill>
                <a:latin typeface="Calibri"/>
              </a:defRPr>
            </a:pPr>
            <a:r>
              <a:t>Thank You! Open for Questions &amp; Interview Walkthrough.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