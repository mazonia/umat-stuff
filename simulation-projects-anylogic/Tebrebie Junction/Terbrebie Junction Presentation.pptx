
<file path=[Content_Types].xml><?xml version="1.0" encoding="utf-8"?>
<Types xmlns="http://schemas.openxmlformats.org/package/2006/content-types">
  <Default Extension="glb" ContentType="model/gltf.binary"/>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2" r:id="rId6"/>
    <p:sldId id="260" r:id="rId7"/>
    <p:sldId id="261" r:id="rId8"/>
    <p:sldId id="262" r:id="rId9"/>
    <p:sldId id="263" r:id="rId10"/>
    <p:sldId id="264" r:id="rId11"/>
    <p:sldId id="265" r:id="rId12"/>
    <p:sldId id="266" r:id="rId13"/>
    <p:sldId id="274" r:id="rId14"/>
    <p:sldId id="276" r:id="rId15"/>
    <p:sldId id="267" r:id="rId16"/>
    <p:sldId id="268" r:id="rId17"/>
    <p:sldId id="269" r:id="rId18"/>
    <p:sldId id="270"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97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527532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17/06/relationships/model3d" Target="../media/model3d1.glb"/></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7/06/relationships/model3d" Target="../media/model3d2.glb"/><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41B49"/>
          </a:solidFill>
          <a:ln/>
        </p:spPr>
      </p:sp>
      <p:sp>
        <p:nvSpPr>
          <p:cNvPr id="3" name="Shape 1"/>
          <p:cNvSpPr/>
          <p:nvPr/>
        </p:nvSpPr>
        <p:spPr>
          <a:xfrm>
            <a:off x="8778240" y="-2011680"/>
            <a:ext cx="5943600" cy="5943600"/>
          </a:xfrm>
          <a:prstGeom prst="ellipse">
            <a:avLst/>
          </a:prstGeom>
          <a:solidFill>
            <a:srgbClr val="1E2761"/>
          </a:solidFill>
          <a:ln/>
        </p:spPr>
      </p:sp>
      <p:sp>
        <p:nvSpPr>
          <p:cNvPr id="4" name="Shape 2"/>
          <p:cNvSpPr/>
          <p:nvPr/>
        </p:nvSpPr>
        <p:spPr>
          <a:xfrm>
            <a:off x="-2377440" y="4389120"/>
            <a:ext cx="4754880" cy="4754880"/>
          </a:xfrm>
          <a:prstGeom prst="ellipse">
            <a:avLst/>
          </a:prstGeom>
          <a:solidFill>
            <a:srgbClr val="1E2761"/>
          </a:solidFill>
          <a:ln/>
        </p:spPr>
      </p:sp>
      <p:sp>
        <p:nvSpPr>
          <p:cNvPr id="5" name="Text 3"/>
          <p:cNvSpPr/>
          <p:nvPr/>
        </p:nvSpPr>
        <p:spPr>
          <a:xfrm>
            <a:off x="822960" y="1371600"/>
            <a:ext cx="10058400" cy="457200"/>
          </a:xfrm>
          <a:prstGeom prst="rect">
            <a:avLst/>
          </a:prstGeom>
          <a:noFill/>
          <a:ln/>
        </p:spPr>
        <p:txBody>
          <a:bodyPr wrap="square"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CY378 · SIMULATION AND MODELING</a:t>
            </a:r>
            <a:endParaRPr lang="en-US" sz="1400" dirty="0"/>
          </a:p>
        </p:txBody>
      </p:sp>
      <p:sp>
        <p:nvSpPr>
          <p:cNvPr id="6" name="Text 4"/>
          <p:cNvSpPr/>
          <p:nvPr/>
        </p:nvSpPr>
        <p:spPr>
          <a:xfrm>
            <a:off x="822960" y="1920240"/>
            <a:ext cx="10058400" cy="173736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Agent-Based Simulation and Redesign of the</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Terbrebie Junction Road Network</a:t>
            </a:r>
            <a:endParaRPr lang="en-US" sz="3800" dirty="0"/>
          </a:p>
        </p:txBody>
      </p:sp>
      <p:sp>
        <p:nvSpPr>
          <p:cNvPr id="7" name="Text 5"/>
          <p:cNvSpPr/>
          <p:nvPr/>
        </p:nvSpPr>
        <p:spPr>
          <a:xfrm>
            <a:off x="822960" y="3611880"/>
            <a:ext cx="9601200" cy="45720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Traffic and Pedestrian Flow Improvement Study Using AnyLogic</a:t>
            </a:r>
            <a:endParaRPr lang="en-US" sz="1600" dirty="0"/>
          </a:p>
        </p:txBody>
      </p:sp>
      <p:sp>
        <p:nvSpPr>
          <p:cNvPr id="8" name="Shape 6"/>
          <p:cNvSpPr/>
          <p:nvPr/>
        </p:nvSpPr>
        <p:spPr>
          <a:xfrm>
            <a:off x="822960" y="4251960"/>
            <a:ext cx="2926080" cy="0"/>
          </a:xfrm>
          <a:prstGeom prst="line">
            <a:avLst/>
          </a:prstGeom>
          <a:noFill/>
          <a:ln w="25400">
            <a:solidFill>
              <a:srgbClr val="3E6AE1"/>
            </a:solidFill>
            <a:prstDash val="solid"/>
          </a:ln>
        </p:spPr>
      </p:sp>
      <p:sp>
        <p:nvSpPr>
          <p:cNvPr id="9" name="Text 7"/>
          <p:cNvSpPr/>
          <p:nvPr/>
        </p:nvSpPr>
        <p:spPr>
          <a:xfrm>
            <a:off x="822960" y="4572000"/>
            <a:ext cx="7315200" cy="3200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Presented to: Frank Laude Boateng</a:t>
            </a:r>
            <a:endParaRPr lang="en-US" sz="1400" dirty="0"/>
          </a:p>
        </p:txBody>
      </p:sp>
      <p:sp>
        <p:nvSpPr>
          <p:cNvPr id="10" name="Text 8"/>
          <p:cNvSpPr/>
          <p:nvPr/>
        </p:nvSpPr>
        <p:spPr>
          <a:xfrm>
            <a:off x="822960" y="4937760"/>
            <a:ext cx="8229600" cy="3200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Group Project · Group Leaders: Adu Paul &amp; Donkor Zipporah</a:t>
            </a:r>
            <a:endParaRPr lang="en-US" sz="1400" dirty="0"/>
          </a:p>
        </p:txBody>
      </p:sp>
      <p:sp>
        <p:nvSpPr>
          <p:cNvPr id="11" name="Text 9"/>
          <p:cNvSpPr/>
          <p:nvPr/>
        </p:nvSpPr>
        <p:spPr>
          <a:xfrm>
            <a:off x="822960" y="5303520"/>
            <a:ext cx="5486400" cy="32004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26 July 2026</a:t>
            </a:r>
            <a:endParaRPr lang="en-US" sz="1400" dirty="0"/>
          </a:p>
        </p:txBody>
      </p:sp>
      <p:pic>
        <p:nvPicPr>
          <p:cNvPr id="13" name="Picture 12">
            <a:extLst>
              <a:ext uri="{FF2B5EF4-FFF2-40B4-BE49-F238E27FC236}">
                <a16:creationId xmlns:a16="http://schemas.microsoft.com/office/drawing/2014/main" id="{DB654B1B-84E7-448D-9454-B583DC141D70}"/>
              </a:ext>
            </a:extLst>
          </p:cNvPr>
          <p:cNvPicPr>
            <a:picLocks noChangeAspect="1"/>
          </p:cNvPicPr>
          <p:nvPr/>
        </p:nvPicPr>
        <p:blipFill>
          <a:blip r:embed="rId3"/>
          <a:stretch>
            <a:fillRect/>
          </a:stretch>
        </p:blipFill>
        <p:spPr>
          <a:xfrm>
            <a:off x="10172607" y="276044"/>
            <a:ext cx="1586059" cy="1850402"/>
          </a:xfrm>
          <a:prstGeom prst="rect">
            <a:avLst/>
          </a:prstGeom>
        </p:spPr>
      </p:pic>
      <mc:AlternateContent xmlns:mc="http://schemas.openxmlformats.org/markup-compatibility/2006">
        <mc:Choice xmlns:am3d="http://schemas.microsoft.com/office/drawing/2017/model3d" Requires="am3d">
          <p:graphicFrame>
            <p:nvGraphicFramePr>
              <p:cNvPr id="12" name="3D Model 11" descr="Bulldozer">
                <a:extLst>
                  <a:ext uri="{FF2B5EF4-FFF2-40B4-BE49-F238E27FC236}">
                    <a16:creationId xmlns:a16="http://schemas.microsoft.com/office/drawing/2014/main" id="{525F02F4-079C-411D-A0DE-1C06CAA4A487}"/>
                  </a:ext>
                </a:extLst>
              </p:cNvPr>
              <p:cNvGraphicFramePr>
                <a:graphicFrameLocks noChangeAspect="1"/>
              </p:cNvGraphicFramePr>
              <p:nvPr>
                <p:extLst>
                  <p:ext uri="{D42A27DB-BD31-4B8C-83A1-F6EECF244321}">
                    <p14:modId xmlns:p14="http://schemas.microsoft.com/office/powerpoint/2010/main" val="457324930"/>
                  </p:ext>
                </p:extLst>
              </p:nvPr>
            </p:nvGraphicFramePr>
            <p:xfrm>
              <a:off x="7984851" y="2608900"/>
              <a:ext cx="3875914" cy="4435985"/>
            </p:xfrm>
            <a:graphic>
              <a:graphicData uri="http://schemas.microsoft.com/office/drawing/2017/model3d">
                <am3d:model3d r:embed="rId4">
                  <am3d:spPr>
                    <a:xfrm>
                      <a:off x="0" y="0"/>
                      <a:ext cx="3875914" cy="4435985"/>
                    </a:xfrm>
                    <a:prstGeom prst="rect">
                      <a:avLst/>
                    </a:prstGeom>
                    <a:effectLst>
                      <a:innerShdw blurRad="114300">
                        <a:prstClr val="black"/>
                      </a:innerShdw>
                    </a:effectLst>
                  </am3d:spPr>
                  <am3d:camera>
                    <am3d:pos x="0" y="0" z="68859669"/>
                    <am3d:up dx="0" dy="36000000" dz="0"/>
                    <am3d:lookAt x="0" y="0" z="0"/>
                    <am3d:perspective fov="2700000"/>
                  </am3d:camera>
                  <am3d:trans>
                    <am3d:meterPerModelUnit n="16566763" d="1000000"/>
                    <am3d:preTrans dx="45" dy="-15104050" dz="44"/>
                    <am3d:scale>
                      <am3d:sx n="1000000" d="1000000"/>
                      <am3d:sy n="1000000" d="1000000"/>
                      <am3d:sz n="1000000" d="1000000"/>
                    </am3d:scale>
                    <am3d:rot ax="625828" ay="1552395" az="275563"/>
                    <am3d:postTrans dx="0" dy="0" dz="0"/>
                  </am3d:trans>
                  <am3d:raster rName="Office3DRenderer" rVer="16.0.8326">
                    <am3d:blip r:embed="rId5"/>
                  </am3d:raster>
                  <am3d:objViewport viewportSz="54186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3D Model 11" descr="Bulldozer">
                <a:extLst>
                  <a:ext uri="{FF2B5EF4-FFF2-40B4-BE49-F238E27FC236}">
                    <a16:creationId xmlns:a16="http://schemas.microsoft.com/office/drawing/2014/main" id="{525F02F4-079C-411D-A0DE-1C06CAA4A487}"/>
                  </a:ext>
                </a:extLst>
              </p:cNvPr>
              <p:cNvPicPr>
                <a:picLocks noGrp="1" noRot="1" noChangeAspect="1" noMove="1" noResize="1" noEditPoints="1" noAdjustHandles="1" noChangeArrowheads="1" noChangeShapeType="1" noCrop="1"/>
              </p:cNvPicPr>
              <p:nvPr/>
            </p:nvPicPr>
            <p:blipFill>
              <a:blip r:embed="rId5"/>
              <a:stretch>
                <a:fillRect/>
              </a:stretch>
            </p:blipFill>
            <p:spPr>
              <a:xfrm>
                <a:off x="7984851" y="2608900"/>
                <a:ext cx="3875914" cy="4435985"/>
              </a:xfrm>
              <a:prstGeom prst="rect">
                <a:avLst/>
              </a:prstGeom>
              <a:effectLst>
                <a:innerShdw blurRad="114300">
                  <a:prstClr val="black"/>
                </a:innerShdw>
              </a:effectLs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Group Members</a:t>
            </a:r>
            <a:endParaRPr lang="en-US" sz="3000" dirty="0"/>
          </a:p>
        </p:txBody>
      </p:sp>
      <p:sp>
        <p:nvSpPr>
          <p:cNvPr id="3" name="Text 1"/>
          <p:cNvSpPr/>
          <p:nvPr/>
        </p:nvSpPr>
        <p:spPr>
          <a:xfrm>
            <a:off x="548640" y="987552"/>
            <a:ext cx="1106424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CY378 - Simulation and Modeling</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3687671539"/>
              </p:ext>
            </p:extLst>
          </p:nvPr>
        </p:nvGraphicFramePr>
        <p:xfrm>
          <a:off x="548640" y="1600200"/>
          <a:ext cx="5394960" cy="3072384"/>
        </p:xfrm>
        <a:graphic>
          <a:graphicData uri="http://schemas.openxmlformats.org/drawingml/2006/table">
            <a:tbl>
              <a:tblPr/>
              <a:tblGrid>
                <a:gridCol w="5486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Index Number</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400" b="1" dirty="0" err="1">
                          <a:solidFill>
                            <a:srgbClr val="222222"/>
                          </a:solidFill>
                          <a:latin typeface="Calibri" pitchFamily="34" charset="0"/>
                          <a:ea typeface="Calibri" pitchFamily="34" charset="-122"/>
                          <a:cs typeface="Calibri" pitchFamily="34" charset="-120"/>
                        </a:rPr>
                        <a:t>Adu</a:t>
                      </a:r>
                      <a:r>
                        <a:rPr lang="en-US" sz="1400" b="1" dirty="0">
                          <a:solidFill>
                            <a:srgbClr val="222222"/>
                          </a:solidFill>
                          <a:latin typeface="Calibri" pitchFamily="34" charset="0"/>
                          <a:ea typeface="Calibri" pitchFamily="34" charset="-122"/>
                          <a:cs typeface="Calibri" pitchFamily="34" charset="-120"/>
                        </a:rPr>
                        <a:t> Paul</a:t>
                      </a:r>
                      <a:endParaRPr lang="en-US" sz="1400" b="1"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FCM.41.018.014.23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Boateng Yaw Opoku</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FCM.41.018.107.23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Felix Agyire</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FCM.41.018.023.23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Donkor Zipporah</a:t>
                      </a:r>
                      <a:endParaRPr lang="en-US" sz="1400" b="1"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FCM.41.018.126.23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Enoch Oduro</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FCM.41.018.197.23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Joseph Eduafo</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FCM.41.018.128.23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6"/>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Nakorei Abdulai Shafiyu</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FCM.41.018.180.23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4210509404"/>
              </p:ext>
            </p:extLst>
          </p:nvPr>
        </p:nvGraphicFramePr>
        <p:xfrm>
          <a:off x="6035040" y="1600200"/>
          <a:ext cx="5394960" cy="3072384"/>
        </p:xfrm>
        <a:graphic>
          <a:graphicData uri="http://schemas.openxmlformats.org/drawingml/2006/table">
            <a:tbl>
              <a:tblPr/>
              <a:tblGrid>
                <a:gridCol w="5486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Index Number</a:t>
                      </a:r>
                      <a:endParaRPr lang="en-US" sz="11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Mensah-Onumah Jonathan Jnr.</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FCM.41.018.174.23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Coffie Obed Kakari</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FCM.41.018.115.23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Dick Bismark Kojo</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FCM.41.018.123.23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Nouterah Maxwell Fagbom</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FCM.41.018.187.23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Biney Justice</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FCM.41.018.097.23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Amoo Samuel Nii Dodoo Obrempong</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FCM.41.018.052.23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6"/>
                  </a:ext>
                </a:extLst>
              </a:tr>
              <a:tr h="384048">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Adelaide Ntriwaa Boakye</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FCM.41.018.100.23</a:t>
                      </a:r>
                      <a:endParaRPr lang="en-US" sz="105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7" name="Text 3"/>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Background of the Study Area</a:t>
            </a:r>
            <a:endParaRPr lang="en-US" sz="3000" dirty="0"/>
          </a:p>
        </p:txBody>
      </p:sp>
      <p:sp>
        <p:nvSpPr>
          <p:cNvPr id="3" name="Shape 1"/>
          <p:cNvSpPr/>
          <p:nvPr/>
        </p:nvSpPr>
        <p:spPr>
          <a:xfrm>
            <a:off x="548640" y="1554480"/>
            <a:ext cx="6492240" cy="4663440"/>
          </a:xfrm>
          <a:prstGeom prst="rect">
            <a:avLst/>
          </a:prstGeom>
          <a:solidFill>
            <a:srgbClr val="F4F6FC"/>
          </a:solidFill>
          <a:ln/>
        </p:spPr>
      </p:sp>
      <p:sp>
        <p:nvSpPr>
          <p:cNvPr id="4" name="Text 2"/>
          <p:cNvSpPr/>
          <p:nvPr/>
        </p:nvSpPr>
        <p:spPr>
          <a:xfrm>
            <a:off x="868680" y="1783080"/>
            <a:ext cx="5852160" cy="1188720"/>
          </a:xfrm>
          <a:prstGeom prst="rect">
            <a:avLst/>
          </a:prstGeom>
          <a:noFill/>
          <a:ln/>
        </p:spPr>
        <p:txBody>
          <a:bodyPr wrap="square" rtlCol="0" anchor="ctr"/>
          <a:lstStyle/>
          <a:p>
            <a:pPr marL="0" indent="0">
              <a:lnSpc>
                <a:spcPts val="2000"/>
              </a:lnSpc>
              <a:buNone/>
            </a:pPr>
            <a:r>
              <a:rPr lang="en-US" dirty="0">
                <a:solidFill>
                  <a:srgbClr val="222222"/>
                </a:solidFill>
                <a:latin typeface="Calibri" pitchFamily="34" charset="0"/>
                <a:ea typeface="Calibri" pitchFamily="34" charset="-122"/>
                <a:cs typeface="Calibri" pitchFamily="34" charset="-120"/>
              </a:rPr>
              <a:t>Terbrebie Junction is a busy intersection connecting a main arterial road with a secondary access road, surrounded by residential houses, shops, and commercial buildings.</a:t>
            </a:r>
            <a:endParaRPr lang="en-US" dirty="0"/>
          </a:p>
        </p:txBody>
      </p:sp>
      <p:sp>
        <p:nvSpPr>
          <p:cNvPr id="5" name="Text 3"/>
          <p:cNvSpPr/>
          <p:nvPr/>
        </p:nvSpPr>
        <p:spPr>
          <a:xfrm>
            <a:off x="868680" y="2971800"/>
            <a:ext cx="5852160" cy="1005840"/>
          </a:xfrm>
          <a:prstGeom prst="rect">
            <a:avLst/>
          </a:prstGeom>
          <a:noFill/>
          <a:ln/>
        </p:spPr>
        <p:txBody>
          <a:bodyPr wrap="square" rtlCol="0" anchor="ctr"/>
          <a:lstStyle/>
          <a:p>
            <a:pPr marL="0" indent="0">
              <a:lnSpc>
                <a:spcPts val="2000"/>
              </a:lnSpc>
              <a:buNone/>
            </a:pPr>
            <a:r>
              <a:rPr lang="en-US" dirty="0">
                <a:solidFill>
                  <a:srgbClr val="222222"/>
                </a:solidFill>
                <a:latin typeface="Calibri" pitchFamily="34" charset="0"/>
                <a:ea typeface="Calibri" pitchFamily="34" charset="-122"/>
                <a:cs typeface="Calibri" pitchFamily="34" charset="-120"/>
              </a:rPr>
              <a:t>It is used daily by private cars, commercial vehicles, heavy trucks, and pedestrians, with visible peaks during the morning and evening commute.</a:t>
            </a:r>
            <a:endParaRPr lang="en-US" dirty="0"/>
          </a:p>
        </p:txBody>
      </p:sp>
      <p:sp>
        <p:nvSpPr>
          <p:cNvPr id="6" name="Text 4"/>
          <p:cNvSpPr/>
          <p:nvPr/>
        </p:nvSpPr>
        <p:spPr>
          <a:xfrm>
            <a:off x="868680" y="4160520"/>
            <a:ext cx="5852160" cy="1737360"/>
          </a:xfrm>
          <a:prstGeom prst="rect">
            <a:avLst/>
          </a:prstGeom>
          <a:noFill/>
          <a:ln/>
        </p:spPr>
        <p:txBody>
          <a:bodyPr wrap="square" rtlCol="0" anchor="ctr"/>
          <a:lstStyle/>
          <a:p>
            <a:pPr marL="0" indent="0">
              <a:lnSpc>
                <a:spcPts val="2000"/>
              </a:lnSpc>
              <a:buNone/>
            </a:pPr>
            <a:r>
              <a:rPr lang="en-US" dirty="0">
                <a:solidFill>
                  <a:srgbClr val="222222"/>
                </a:solidFill>
                <a:latin typeface="Calibri" pitchFamily="34" charset="0"/>
                <a:ea typeface="Calibri" pitchFamily="34" charset="-122"/>
                <a:cs typeface="Calibri" pitchFamily="34" charset="-120"/>
              </a:rPr>
              <a:t>This project applies agent-based and road traffic modelling concepts from CY378 to study the junction, identify weaknesses in its current design, and simulate a redesign for improved safety and efficiency.</a:t>
            </a:r>
            <a:endParaRPr lang="en-US" dirty="0"/>
          </a:p>
        </p:txBody>
      </p:sp>
      <p:sp>
        <p:nvSpPr>
          <p:cNvPr id="7" name="Shape 5"/>
          <p:cNvSpPr/>
          <p:nvPr/>
        </p:nvSpPr>
        <p:spPr>
          <a:xfrm>
            <a:off x="7406640" y="1600200"/>
            <a:ext cx="4206240" cy="1234440"/>
          </a:xfrm>
          <a:prstGeom prst="roundRect">
            <a:avLst>
              <a:gd name="adj" fmla="val 5926"/>
            </a:avLst>
          </a:prstGeom>
          <a:solidFill>
            <a:srgbClr val="1E2761"/>
          </a:solidFill>
          <a:ln/>
        </p:spPr>
      </p:sp>
      <p:sp>
        <p:nvSpPr>
          <p:cNvPr id="8" name="Text 6"/>
          <p:cNvSpPr/>
          <p:nvPr/>
        </p:nvSpPr>
        <p:spPr>
          <a:xfrm>
            <a:off x="7589520" y="1709928"/>
            <a:ext cx="128016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Text 7"/>
          <p:cNvSpPr/>
          <p:nvPr/>
        </p:nvSpPr>
        <p:spPr>
          <a:xfrm>
            <a:off x="8778240" y="1737360"/>
            <a:ext cx="2651760" cy="960120"/>
          </a:xfrm>
          <a:prstGeom prst="rect">
            <a:avLst/>
          </a:prstGeom>
          <a:noFill/>
          <a:ln/>
        </p:spPr>
        <p:txBody>
          <a:bodyPr wrap="square" rtlCol="0" anchor="ctr"/>
          <a:lstStyle/>
          <a:p>
            <a:pPr marL="0" indent="0">
              <a:lnSpc>
                <a:spcPts val="1600"/>
              </a:lnSpc>
              <a:buNone/>
            </a:pPr>
            <a:r>
              <a:rPr lang="en-US" dirty="0">
                <a:solidFill>
                  <a:srgbClr val="CADCFC"/>
                </a:solidFill>
                <a:latin typeface="Calibri" pitchFamily="34" charset="0"/>
                <a:ea typeface="Calibri" pitchFamily="34" charset="-122"/>
                <a:cs typeface="Calibri" pitchFamily="34" charset="-120"/>
              </a:rPr>
              <a:t>Approach Roads Modelled</a:t>
            </a:r>
            <a:endParaRPr lang="en-US" dirty="0"/>
          </a:p>
        </p:txBody>
      </p:sp>
      <p:sp>
        <p:nvSpPr>
          <p:cNvPr id="10" name="Shape 8"/>
          <p:cNvSpPr/>
          <p:nvPr/>
        </p:nvSpPr>
        <p:spPr>
          <a:xfrm>
            <a:off x="7406640" y="3108960"/>
            <a:ext cx="4206240" cy="1234440"/>
          </a:xfrm>
          <a:prstGeom prst="roundRect">
            <a:avLst>
              <a:gd name="adj" fmla="val 5926"/>
            </a:avLst>
          </a:prstGeom>
          <a:solidFill>
            <a:srgbClr val="1E2761"/>
          </a:solidFill>
          <a:ln/>
        </p:spPr>
      </p:sp>
      <p:sp>
        <p:nvSpPr>
          <p:cNvPr id="11" name="Text 9"/>
          <p:cNvSpPr/>
          <p:nvPr/>
        </p:nvSpPr>
        <p:spPr>
          <a:xfrm>
            <a:off x="7589520" y="3218688"/>
            <a:ext cx="128016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rPr>
              <a:t>6</a:t>
            </a:r>
            <a:endParaRPr lang="en-US" sz="4000" dirty="0"/>
          </a:p>
        </p:txBody>
      </p:sp>
      <p:sp>
        <p:nvSpPr>
          <p:cNvPr id="12" name="Text 10"/>
          <p:cNvSpPr/>
          <p:nvPr/>
        </p:nvSpPr>
        <p:spPr>
          <a:xfrm>
            <a:off x="8778240" y="3246120"/>
            <a:ext cx="2651760" cy="960120"/>
          </a:xfrm>
          <a:prstGeom prst="rect">
            <a:avLst/>
          </a:prstGeom>
          <a:noFill/>
          <a:ln/>
        </p:spPr>
        <p:txBody>
          <a:bodyPr wrap="square" rtlCol="0" anchor="ctr"/>
          <a:lstStyle/>
          <a:p>
            <a:pPr marL="0" indent="0">
              <a:lnSpc>
                <a:spcPts val="1600"/>
              </a:lnSpc>
              <a:buNone/>
            </a:pPr>
            <a:r>
              <a:rPr lang="en-US" dirty="0">
                <a:solidFill>
                  <a:srgbClr val="CADCFC"/>
                </a:solidFill>
                <a:latin typeface="Calibri" pitchFamily="34" charset="0"/>
                <a:ea typeface="Calibri" pitchFamily="34" charset="-122"/>
                <a:cs typeface="Calibri" pitchFamily="34" charset="-120"/>
              </a:rPr>
              <a:t>Pedestrian Crossing Points</a:t>
            </a:r>
            <a:endParaRPr lang="en-US" dirty="0"/>
          </a:p>
        </p:txBody>
      </p:sp>
      <p:sp>
        <p:nvSpPr>
          <p:cNvPr id="13" name="Shape 11"/>
          <p:cNvSpPr/>
          <p:nvPr/>
        </p:nvSpPr>
        <p:spPr>
          <a:xfrm>
            <a:off x="7406640" y="4617720"/>
            <a:ext cx="4206240" cy="1234440"/>
          </a:xfrm>
          <a:prstGeom prst="roundRect">
            <a:avLst>
              <a:gd name="adj" fmla="val 5926"/>
            </a:avLst>
          </a:prstGeom>
          <a:solidFill>
            <a:srgbClr val="1E2761"/>
          </a:solidFill>
          <a:ln/>
        </p:spPr>
      </p:sp>
      <p:sp>
        <p:nvSpPr>
          <p:cNvPr id="14" name="Text 12"/>
          <p:cNvSpPr/>
          <p:nvPr/>
        </p:nvSpPr>
        <p:spPr>
          <a:xfrm>
            <a:off x="7589520" y="4727448"/>
            <a:ext cx="128016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rPr>
              <a:t>3</a:t>
            </a:r>
            <a:endParaRPr lang="en-US" sz="4000" dirty="0"/>
          </a:p>
        </p:txBody>
      </p:sp>
      <p:sp>
        <p:nvSpPr>
          <p:cNvPr id="15" name="Text 13"/>
          <p:cNvSpPr/>
          <p:nvPr/>
        </p:nvSpPr>
        <p:spPr>
          <a:xfrm>
            <a:off x="8778240" y="4754880"/>
            <a:ext cx="2651760" cy="960120"/>
          </a:xfrm>
          <a:prstGeom prst="rect">
            <a:avLst/>
          </a:prstGeom>
          <a:noFill/>
          <a:ln/>
        </p:spPr>
        <p:txBody>
          <a:bodyPr wrap="square" rtlCol="0" anchor="ctr"/>
          <a:lstStyle/>
          <a:p>
            <a:pPr marL="0" indent="0">
              <a:lnSpc>
                <a:spcPts val="1600"/>
              </a:lnSpc>
              <a:buNone/>
            </a:pPr>
            <a:r>
              <a:rPr lang="en-US" dirty="0">
                <a:solidFill>
                  <a:srgbClr val="CADCFC"/>
                </a:solidFill>
                <a:latin typeface="Calibri" pitchFamily="34" charset="0"/>
                <a:ea typeface="Calibri" pitchFamily="34" charset="-122"/>
                <a:cs typeface="Calibri" pitchFamily="34" charset="-120"/>
              </a:rPr>
              <a:t>Signalised Traffic Lights</a:t>
            </a:r>
            <a:endParaRPr lang="en-US" dirty="0"/>
          </a:p>
        </p:txBody>
      </p:sp>
      <p:sp>
        <p:nvSpPr>
          <p:cNvPr id="16" name="Text 14"/>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7" name="Text 1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mc:AlternateContent xmlns:mc="http://schemas.openxmlformats.org/markup-compatibility/2006">
        <mc:Choice xmlns:am3d="http://schemas.microsoft.com/office/drawing/2017/model3d" Requires="am3d">
          <p:graphicFrame>
            <p:nvGraphicFramePr>
              <p:cNvPr id="18" name="3D Model 17" descr="Hard Hat">
                <a:extLst>
                  <a:ext uri="{FF2B5EF4-FFF2-40B4-BE49-F238E27FC236}">
                    <a16:creationId xmlns:a16="http://schemas.microsoft.com/office/drawing/2014/main" id="{5662D3DE-4418-4689-A5DD-8F9A25AC856D}"/>
                  </a:ext>
                </a:extLst>
              </p:cNvPr>
              <p:cNvGraphicFramePr>
                <a:graphicFrameLocks noChangeAspect="1"/>
              </p:cNvGraphicFramePr>
              <p:nvPr>
                <p:extLst>
                  <p:ext uri="{D42A27DB-BD31-4B8C-83A1-F6EECF244321}">
                    <p14:modId xmlns:p14="http://schemas.microsoft.com/office/powerpoint/2010/main" val="3798615267"/>
                  </p:ext>
                </p:extLst>
              </p:nvPr>
            </p:nvGraphicFramePr>
            <p:xfrm rot="1123060">
              <a:off x="5230331" y="-604721"/>
              <a:ext cx="2380917" cy="1714259"/>
            </p:xfrm>
            <a:graphic>
              <a:graphicData uri="http://schemas.microsoft.com/office/drawing/2017/model3d">
                <am3d:model3d r:embed="rId3">
                  <am3d:spPr>
                    <a:xfrm rot="1123060">
                      <a:off x="0" y="0"/>
                      <a:ext cx="2380917" cy="1714259"/>
                    </a:xfrm>
                    <a:prstGeom prst="rect">
                      <a:avLst/>
                    </a:prstGeom>
                  </am3d:spPr>
                  <am3d:camera>
                    <am3d:pos x="0" y="0" z="64577525"/>
                    <am3d:up dx="0" dy="36000000" dz="0"/>
                    <am3d:lookAt x="0" y="0" z="0"/>
                    <am3d:perspective fov="2700000"/>
                  </am3d:camera>
                  <am3d:trans>
                    <am3d:meterPerModelUnit n="46706809" d="1000000"/>
                    <am3d:preTrans dx="0" dy="-9770926" dz="-21420"/>
                    <am3d:scale>
                      <am3d:sx n="1000000" d="1000000"/>
                      <am3d:sy n="1000000" d="1000000"/>
                      <am3d:sz n="1000000" d="1000000"/>
                    </am3d:scale>
                    <am3d:rot ax="10555950" ay="1942911" az="10669143"/>
                    <am3d:postTrans dx="0" dy="0" dz="0"/>
                  </am3d:trans>
                  <am3d:raster rName="Office3DRenderer" rVer="16.0.8326">
                    <am3d:blip r:embed="rId4"/>
                  </am3d:raster>
                  <am3d:objViewport viewportSz="32761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3D Model 17" descr="Hard Hat">
                <a:extLst>
                  <a:ext uri="{FF2B5EF4-FFF2-40B4-BE49-F238E27FC236}">
                    <a16:creationId xmlns:a16="http://schemas.microsoft.com/office/drawing/2014/main" id="{5662D3DE-4418-4689-A5DD-8F9A25AC856D}"/>
                  </a:ext>
                </a:extLst>
              </p:cNvPr>
              <p:cNvPicPr>
                <a:picLocks noGrp="1" noRot="1" noChangeAspect="1" noMove="1" noResize="1" noEditPoints="1" noAdjustHandles="1" noChangeArrowheads="1" noChangeShapeType="1" noCrop="1"/>
              </p:cNvPicPr>
              <p:nvPr/>
            </p:nvPicPr>
            <p:blipFill>
              <a:blip r:embed="rId4"/>
              <a:stretch>
                <a:fillRect/>
              </a:stretch>
            </p:blipFill>
            <p:spPr>
              <a:xfrm rot="1123060">
                <a:off x="5230331" y="-604721"/>
                <a:ext cx="2380917" cy="1714259"/>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Problem: Condition of the Existing Road</a:t>
            </a:r>
            <a:endParaRPr lang="en-US" sz="3000" dirty="0"/>
          </a:p>
        </p:txBody>
      </p:sp>
      <p:sp>
        <p:nvSpPr>
          <p:cNvPr id="3" name="Shape 1"/>
          <p:cNvSpPr/>
          <p:nvPr/>
        </p:nvSpPr>
        <p:spPr>
          <a:xfrm>
            <a:off x="548640" y="1600200"/>
            <a:ext cx="5394960" cy="2148840"/>
          </a:xfrm>
          <a:prstGeom prst="roundRect">
            <a:avLst>
              <a:gd name="adj" fmla="val 3404"/>
            </a:avLst>
          </a:prstGeom>
          <a:solidFill>
            <a:srgbClr val="F4F6FC"/>
          </a:solidFill>
          <a:ln/>
        </p:spPr>
      </p:sp>
      <p:sp>
        <p:nvSpPr>
          <p:cNvPr id="4" name="Shape 2"/>
          <p:cNvSpPr/>
          <p:nvPr/>
        </p:nvSpPr>
        <p:spPr>
          <a:xfrm>
            <a:off x="822960" y="1874520"/>
            <a:ext cx="502920" cy="502920"/>
          </a:xfrm>
          <a:prstGeom prst="roundRect">
            <a:avLst>
              <a:gd name="adj" fmla="val 50909"/>
            </a:avLst>
          </a:prstGeom>
          <a:solidFill>
            <a:srgbClr val="1E2761"/>
          </a:solidFill>
          <a:ln/>
        </p:spPr>
      </p:sp>
      <p:sp>
        <p:nvSpPr>
          <p:cNvPr id="5" name="Text 3"/>
          <p:cNvSpPr/>
          <p:nvPr/>
        </p:nvSpPr>
        <p:spPr>
          <a:xfrm>
            <a:off x="82296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508760" y="1856232"/>
            <a:ext cx="420624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Single Lanes Only</a:t>
            </a:r>
            <a:endParaRPr lang="en-US" sz="1600" dirty="0"/>
          </a:p>
        </p:txBody>
      </p:sp>
      <p:sp>
        <p:nvSpPr>
          <p:cNvPr id="7" name="Text 5"/>
          <p:cNvSpPr/>
          <p:nvPr/>
        </p:nvSpPr>
        <p:spPr>
          <a:xfrm>
            <a:off x="868680" y="2468880"/>
            <a:ext cx="4800600" cy="1143000"/>
          </a:xfrm>
          <a:prstGeom prst="rect">
            <a:avLst/>
          </a:prstGeom>
          <a:noFill/>
          <a:ln/>
        </p:spPr>
        <p:txBody>
          <a:bodyPr wrap="square" rtlCol="0" anchor="ctr"/>
          <a:lstStyle/>
          <a:p>
            <a:pPr marL="0" indent="0">
              <a:lnSpc>
                <a:spcPts val="1600"/>
              </a:lnSpc>
              <a:buNone/>
            </a:pPr>
            <a:r>
              <a:rPr lang="en-US" sz="1600" dirty="0">
                <a:solidFill>
                  <a:srgbClr val="222222"/>
                </a:solidFill>
                <a:latin typeface="Calibri" pitchFamily="34" charset="0"/>
                <a:ea typeface="Calibri" pitchFamily="34" charset="-122"/>
                <a:cs typeface="Calibri" pitchFamily="34" charset="-120"/>
              </a:rPr>
              <a:t>Every approach had just one lane per direction, so any slow, turning, or broken-down vehicle blocked all traffic behind it.</a:t>
            </a:r>
            <a:endParaRPr lang="en-US" sz="1600" dirty="0"/>
          </a:p>
        </p:txBody>
      </p:sp>
      <p:sp>
        <p:nvSpPr>
          <p:cNvPr id="8" name="Shape 6"/>
          <p:cNvSpPr/>
          <p:nvPr/>
        </p:nvSpPr>
        <p:spPr>
          <a:xfrm>
            <a:off x="6263640" y="1600200"/>
            <a:ext cx="5394960" cy="2148840"/>
          </a:xfrm>
          <a:prstGeom prst="roundRect">
            <a:avLst>
              <a:gd name="adj" fmla="val 3404"/>
            </a:avLst>
          </a:prstGeom>
          <a:solidFill>
            <a:srgbClr val="F4F6FC"/>
          </a:solidFill>
          <a:ln/>
        </p:spPr>
      </p:sp>
      <p:sp>
        <p:nvSpPr>
          <p:cNvPr id="9" name="Shape 7"/>
          <p:cNvSpPr/>
          <p:nvPr/>
        </p:nvSpPr>
        <p:spPr>
          <a:xfrm>
            <a:off x="6537960" y="1874520"/>
            <a:ext cx="502920" cy="502920"/>
          </a:xfrm>
          <a:prstGeom prst="roundRect">
            <a:avLst>
              <a:gd name="adj" fmla="val 50909"/>
            </a:avLst>
          </a:prstGeom>
          <a:solidFill>
            <a:srgbClr val="1E2761"/>
          </a:solidFill>
          <a:ln/>
        </p:spPr>
      </p:sp>
      <p:sp>
        <p:nvSpPr>
          <p:cNvPr id="10" name="Text 8"/>
          <p:cNvSpPr/>
          <p:nvPr/>
        </p:nvSpPr>
        <p:spPr>
          <a:xfrm>
            <a:off x="6537960" y="187452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7223760" y="1856232"/>
            <a:ext cx="420624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No Traffic Light Control</a:t>
            </a:r>
            <a:endParaRPr lang="en-US" sz="1600" dirty="0"/>
          </a:p>
        </p:txBody>
      </p:sp>
      <p:sp>
        <p:nvSpPr>
          <p:cNvPr id="12" name="Text 10"/>
          <p:cNvSpPr/>
          <p:nvPr/>
        </p:nvSpPr>
        <p:spPr>
          <a:xfrm>
            <a:off x="6583680" y="2468880"/>
            <a:ext cx="4800600" cy="1143000"/>
          </a:xfrm>
          <a:prstGeom prst="rect">
            <a:avLst/>
          </a:prstGeom>
          <a:noFill/>
          <a:ln/>
        </p:spPr>
        <p:txBody>
          <a:bodyPr wrap="square" rtlCol="0" anchor="ctr"/>
          <a:lstStyle/>
          <a:p>
            <a:pPr marL="0" indent="0">
              <a:lnSpc>
                <a:spcPts val="1600"/>
              </a:lnSpc>
              <a:buNone/>
            </a:pPr>
            <a:r>
              <a:rPr lang="en-US" dirty="0">
                <a:solidFill>
                  <a:srgbClr val="222222"/>
                </a:solidFill>
                <a:latin typeface="Calibri" pitchFamily="34" charset="0"/>
                <a:ea typeface="Calibri" pitchFamily="34" charset="-122"/>
                <a:cs typeface="Calibri" pitchFamily="34" charset="-120"/>
              </a:rPr>
              <a:t>Right of way was negotiated informally between drivers, causing congestion, confusion, and frequent near-miss incidents.</a:t>
            </a:r>
            <a:endParaRPr lang="en-US" dirty="0"/>
          </a:p>
        </p:txBody>
      </p:sp>
      <p:sp>
        <p:nvSpPr>
          <p:cNvPr id="13" name="Shape 11"/>
          <p:cNvSpPr/>
          <p:nvPr/>
        </p:nvSpPr>
        <p:spPr>
          <a:xfrm>
            <a:off x="548640" y="3977640"/>
            <a:ext cx="5394960" cy="2148840"/>
          </a:xfrm>
          <a:prstGeom prst="roundRect">
            <a:avLst>
              <a:gd name="adj" fmla="val 3404"/>
            </a:avLst>
          </a:prstGeom>
          <a:solidFill>
            <a:srgbClr val="F4F6FC"/>
          </a:solidFill>
          <a:ln/>
        </p:spPr>
      </p:sp>
      <p:sp>
        <p:nvSpPr>
          <p:cNvPr id="14" name="Shape 12"/>
          <p:cNvSpPr/>
          <p:nvPr/>
        </p:nvSpPr>
        <p:spPr>
          <a:xfrm>
            <a:off x="822960" y="4251960"/>
            <a:ext cx="502920" cy="502920"/>
          </a:xfrm>
          <a:prstGeom prst="roundRect">
            <a:avLst>
              <a:gd name="adj" fmla="val 50909"/>
            </a:avLst>
          </a:prstGeom>
          <a:solidFill>
            <a:srgbClr val="1E2761"/>
          </a:solidFill>
          <a:ln/>
        </p:spPr>
      </p:sp>
      <p:sp>
        <p:nvSpPr>
          <p:cNvPr id="15" name="Text 13"/>
          <p:cNvSpPr/>
          <p:nvPr/>
        </p:nvSpPr>
        <p:spPr>
          <a:xfrm>
            <a:off x="82296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508760" y="4233672"/>
            <a:ext cx="420624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No Pedestrian Crossings</a:t>
            </a:r>
            <a:endParaRPr lang="en-US" sz="1600" dirty="0"/>
          </a:p>
        </p:txBody>
      </p:sp>
      <p:sp>
        <p:nvSpPr>
          <p:cNvPr id="17" name="Text 15"/>
          <p:cNvSpPr/>
          <p:nvPr/>
        </p:nvSpPr>
        <p:spPr>
          <a:xfrm>
            <a:off x="868680" y="4846320"/>
            <a:ext cx="4800600" cy="1143000"/>
          </a:xfrm>
          <a:prstGeom prst="rect">
            <a:avLst/>
          </a:prstGeom>
          <a:noFill/>
          <a:ln/>
        </p:spPr>
        <p:txBody>
          <a:bodyPr wrap="square" rtlCol="0" anchor="ctr"/>
          <a:lstStyle/>
          <a:p>
            <a:pPr marL="0" indent="0">
              <a:lnSpc>
                <a:spcPts val="1600"/>
              </a:lnSpc>
              <a:buNone/>
            </a:pPr>
            <a:r>
              <a:rPr lang="en-US" sz="1600" dirty="0">
                <a:solidFill>
                  <a:srgbClr val="222222"/>
                </a:solidFill>
                <a:latin typeface="Calibri" pitchFamily="34" charset="0"/>
                <a:ea typeface="Calibri" pitchFamily="34" charset="-122"/>
                <a:cs typeface="Calibri" pitchFamily="34" charset="-120"/>
              </a:rPr>
              <a:t>No zebra crossings existed despite heavy foot traffic, forcing pedestrians to cross wherever they judged it safe.</a:t>
            </a:r>
            <a:endParaRPr lang="en-US" sz="1600" dirty="0"/>
          </a:p>
        </p:txBody>
      </p:sp>
      <p:sp>
        <p:nvSpPr>
          <p:cNvPr id="18" name="Shape 16"/>
          <p:cNvSpPr/>
          <p:nvPr/>
        </p:nvSpPr>
        <p:spPr>
          <a:xfrm>
            <a:off x="6263640" y="3977640"/>
            <a:ext cx="5394960" cy="2148840"/>
          </a:xfrm>
          <a:prstGeom prst="roundRect">
            <a:avLst>
              <a:gd name="adj" fmla="val 3404"/>
            </a:avLst>
          </a:prstGeom>
          <a:solidFill>
            <a:srgbClr val="F4F6FC"/>
          </a:solidFill>
          <a:ln/>
        </p:spPr>
      </p:sp>
      <p:sp>
        <p:nvSpPr>
          <p:cNvPr id="19" name="Shape 17"/>
          <p:cNvSpPr/>
          <p:nvPr/>
        </p:nvSpPr>
        <p:spPr>
          <a:xfrm>
            <a:off x="6537960" y="4251960"/>
            <a:ext cx="502920" cy="502920"/>
          </a:xfrm>
          <a:prstGeom prst="roundRect">
            <a:avLst>
              <a:gd name="adj" fmla="val 50909"/>
            </a:avLst>
          </a:prstGeom>
          <a:solidFill>
            <a:srgbClr val="1E2761"/>
          </a:solidFill>
          <a:ln/>
        </p:spPr>
      </p:sp>
      <p:sp>
        <p:nvSpPr>
          <p:cNvPr id="20" name="Text 18"/>
          <p:cNvSpPr/>
          <p:nvPr/>
        </p:nvSpPr>
        <p:spPr>
          <a:xfrm>
            <a:off x="6537960" y="425196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7223760" y="4233672"/>
            <a:ext cx="4206240" cy="4572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Poor Road Surface</a:t>
            </a:r>
            <a:endParaRPr lang="en-US" sz="1600" dirty="0"/>
          </a:p>
        </p:txBody>
      </p:sp>
      <p:sp>
        <p:nvSpPr>
          <p:cNvPr id="22" name="Text 20"/>
          <p:cNvSpPr/>
          <p:nvPr/>
        </p:nvSpPr>
        <p:spPr>
          <a:xfrm>
            <a:off x="6583680" y="4846320"/>
            <a:ext cx="4800600" cy="1143000"/>
          </a:xfrm>
          <a:prstGeom prst="rect">
            <a:avLst/>
          </a:prstGeom>
          <a:noFill/>
          <a:ln/>
        </p:spPr>
        <p:txBody>
          <a:bodyPr wrap="square" rtlCol="0" anchor="ctr"/>
          <a:lstStyle/>
          <a:p>
            <a:pPr marL="0" indent="0">
              <a:lnSpc>
                <a:spcPts val="1600"/>
              </a:lnSpc>
              <a:buNone/>
            </a:pPr>
            <a:r>
              <a:rPr lang="en-US" dirty="0">
                <a:solidFill>
                  <a:srgbClr val="222222"/>
                </a:solidFill>
                <a:latin typeface="Calibri" pitchFamily="34" charset="0"/>
                <a:ea typeface="Calibri" pitchFamily="34" charset="-122"/>
                <a:cs typeface="Calibri" pitchFamily="34" charset="-120"/>
              </a:rPr>
              <a:t>Uneven, poorly paved roads slowed traffic further and made the junction less safe and comfortable overall.</a:t>
            </a:r>
            <a:endParaRPr lang="en-US" dirty="0"/>
          </a:p>
        </p:txBody>
      </p:sp>
      <p:sp>
        <p:nvSpPr>
          <p:cNvPr id="23" name="Text 21"/>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24" name="Text 22"/>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685800"/>
          </a:xfrm>
          <a:prstGeom prst="rect">
            <a:avLst/>
          </a:prstGeom>
          <a:noFill/>
        </p:spPr>
        <p:txBody>
          <a:bodyPr wrap="square" lIns="0" tIns="0" rIns="0" bIns="0">
            <a:spAutoFit/>
          </a:bodyPr>
          <a:lstStyle/>
          <a:p>
            <a:pPr algn="l"/>
            <a:r>
              <a:rPr sz="3000" b="1" i="0">
                <a:solidFill>
                  <a:srgbClr val="1E2761"/>
                </a:solidFill>
                <a:latin typeface="Cambria"/>
              </a:rPr>
              <a:t>Site Evidence: The Junction Before Redesign</a:t>
            </a:r>
          </a:p>
        </p:txBody>
      </p:sp>
      <p:sp>
        <p:nvSpPr>
          <p:cNvPr id="4" name="TextBox 3"/>
          <p:cNvSpPr txBox="1"/>
          <p:nvPr/>
        </p:nvSpPr>
        <p:spPr>
          <a:xfrm>
            <a:off x="548640" y="987552"/>
            <a:ext cx="11064240" cy="365760"/>
          </a:xfrm>
          <a:prstGeom prst="rect">
            <a:avLst/>
          </a:prstGeom>
          <a:noFill/>
        </p:spPr>
        <p:txBody>
          <a:bodyPr wrap="square" lIns="0" tIns="0" rIns="0" bIns="0">
            <a:spAutoFit/>
          </a:bodyPr>
          <a:lstStyle/>
          <a:p>
            <a:pPr algn="l"/>
            <a:r>
              <a:rPr sz="1400" b="0" i="1">
                <a:solidFill>
                  <a:srgbClr val="6B6B6B"/>
                </a:solidFill>
                <a:latin typeface="Calibri"/>
              </a:rPr>
              <a:t>Photographs and site analysis confirming the deficiencies of the original layout</a:t>
            </a:r>
          </a:p>
        </p:txBody>
      </p:sp>
      <p:sp>
        <p:nvSpPr>
          <p:cNvPr id="5" name="Rounded Rectangle 4"/>
          <p:cNvSpPr/>
          <p:nvPr/>
        </p:nvSpPr>
        <p:spPr>
          <a:xfrm>
            <a:off x="548640" y="1783080"/>
            <a:ext cx="3515258" cy="306324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before1.png"/>
          <p:cNvPicPr>
            <a:picLocks noChangeAspect="1"/>
          </p:cNvPicPr>
          <p:nvPr/>
        </p:nvPicPr>
        <p:blipFill>
          <a:blip r:embed="rId2"/>
          <a:stretch>
            <a:fillRect/>
          </a:stretch>
        </p:blipFill>
        <p:spPr>
          <a:xfrm>
            <a:off x="548640" y="2267481"/>
            <a:ext cx="3515258" cy="2094437"/>
          </a:xfrm>
          <a:prstGeom prst="rect">
            <a:avLst/>
          </a:prstGeom>
        </p:spPr>
      </p:pic>
      <p:sp>
        <p:nvSpPr>
          <p:cNvPr id="7" name="TextBox 6"/>
          <p:cNvSpPr txBox="1"/>
          <p:nvPr/>
        </p:nvSpPr>
        <p:spPr>
          <a:xfrm>
            <a:off x="548640" y="4983480"/>
            <a:ext cx="3515258" cy="492443"/>
          </a:xfrm>
          <a:prstGeom prst="rect">
            <a:avLst/>
          </a:prstGeom>
          <a:noFill/>
        </p:spPr>
        <p:txBody>
          <a:bodyPr wrap="square" lIns="0" tIns="0" rIns="0" bIns="0">
            <a:spAutoFit/>
          </a:bodyPr>
          <a:lstStyle/>
          <a:p>
            <a:pPr algn="l"/>
            <a:r>
              <a:rPr sz="1600" b="0" i="0" dirty="0">
                <a:solidFill>
                  <a:srgbClr val="222222"/>
                </a:solidFill>
                <a:latin typeface="Calibri"/>
              </a:rPr>
              <a:t>Aerial view of the original junction: single-lane approaches, no traffic light.</a:t>
            </a:r>
          </a:p>
        </p:txBody>
      </p:sp>
      <p:sp>
        <p:nvSpPr>
          <p:cNvPr id="8" name="Rounded Rectangle 7"/>
          <p:cNvSpPr/>
          <p:nvPr/>
        </p:nvSpPr>
        <p:spPr>
          <a:xfrm>
            <a:off x="4338218" y="1783080"/>
            <a:ext cx="3515258" cy="306324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efore2.png"/>
          <p:cNvPicPr>
            <a:picLocks noChangeAspect="1"/>
          </p:cNvPicPr>
          <p:nvPr/>
        </p:nvPicPr>
        <p:blipFill>
          <a:blip r:embed="rId3"/>
          <a:stretch>
            <a:fillRect/>
          </a:stretch>
        </p:blipFill>
        <p:spPr>
          <a:xfrm>
            <a:off x="4338218" y="2243743"/>
            <a:ext cx="3515258" cy="2141913"/>
          </a:xfrm>
          <a:prstGeom prst="rect">
            <a:avLst/>
          </a:prstGeom>
        </p:spPr>
      </p:pic>
      <p:sp>
        <p:nvSpPr>
          <p:cNvPr id="10" name="TextBox 9"/>
          <p:cNvSpPr txBox="1"/>
          <p:nvPr/>
        </p:nvSpPr>
        <p:spPr>
          <a:xfrm>
            <a:off x="4338218" y="4983480"/>
            <a:ext cx="3515258" cy="492443"/>
          </a:xfrm>
          <a:prstGeom prst="rect">
            <a:avLst/>
          </a:prstGeom>
          <a:noFill/>
        </p:spPr>
        <p:txBody>
          <a:bodyPr wrap="square" lIns="0" tIns="0" rIns="0" bIns="0">
            <a:spAutoFit/>
          </a:bodyPr>
          <a:lstStyle/>
          <a:p>
            <a:pPr algn="l"/>
            <a:r>
              <a:rPr sz="1600" b="0" i="0" dirty="0">
                <a:solidFill>
                  <a:srgbClr val="222222"/>
                </a:solidFill>
                <a:latin typeface="Calibri"/>
              </a:rPr>
              <a:t>Close-up view confirming the absence of lane markings and pedestrian crossings.</a:t>
            </a:r>
          </a:p>
        </p:txBody>
      </p:sp>
      <p:sp>
        <p:nvSpPr>
          <p:cNvPr id="11" name="Rounded Rectangle 10"/>
          <p:cNvSpPr/>
          <p:nvPr/>
        </p:nvSpPr>
        <p:spPr>
          <a:xfrm>
            <a:off x="8127796" y="1783080"/>
            <a:ext cx="3515258" cy="306324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efore3.png"/>
          <p:cNvPicPr>
            <a:picLocks noChangeAspect="1"/>
          </p:cNvPicPr>
          <p:nvPr/>
        </p:nvPicPr>
        <p:blipFill>
          <a:blip r:embed="rId4"/>
          <a:stretch>
            <a:fillRect/>
          </a:stretch>
        </p:blipFill>
        <p:spPr>
          <a:xfrm>
            <a:off x="8127796" y="2025599"/>
            <a:ext cx="3515258" cy="2578201"/>
          </a:xfrm>
          <a:prstGeom prst="rect">
            <a:avLst/>
          </a:prstGeom>
        </p:spPr>
      </p:pic>
      <p:sp>
        <p:nvSpPr>
          <p:cNvPr id="13" name="TextBox 12"/>
          <p:cNvSpPr txBox="1"/>
          <p:nvPr/>
        </p:nvSpPr>
        <p:spPr>
          <a:xfrm>
            <a:off x="8127796" y="4983480"/>
            <a:ext cx="3515258" cy="492443"/>
          </a:xfrm>
          <a:prstGeom prst="rect">
            <a:avLst/>
          </a:prstGeom>
          <a:noFill/>
        </p:spPr>
        <p:txBody>
          <a:bodyPr wrap="square" lIns="0" tIns="0" rIns="0" bIns="0">
            <a:spAutoFit/>
          </a:bodyPr>
          <a:lstStyle/>
          <a:p>
            <a:pPr algn="l"/>
            <a:r>
              <a:rPr sz="1600" b="0" i="0" dirty="0">
                <a:solidFill>
                  <a:srgbClr val="222222"/>
                </a:solidFill>
                <a:latin typeface="Calibri"/>
              </a:rPr>
              <a:t>Site analysis marking locations identified for new traffic lights and crossings.</a:t>
            </a:r>
          </a:p>
        </p:txBody>
      </p:sp>
      <p:sp>
        <p:nvSpPr>
          <p:cNvPr id="14" name="TextBox 13"/>
          <p:cNvSpPr txBox="1"/>
          <p:nvPr/>
        </p:nvSpPr>
        <p:spPr>
          <a:xfrm>
            <a:off x="457200" y="6537960"/>
            <a:ext cx="7315200" cy="138499"/>
          </a:xfrm>
          <a:prstGeom prst="rect">
            <a:avLst/>
          </a:prstGeom>
          <a:noFill/>
        </p:spPr>
        <p:txBody>
          <a:bodyPr wrap="square" lIns="0" tIns="0" rIns="0" bIns="0">
            <a:spAutoFit/>
          </a:bodyPr>
          <a:lstStyle/>
          <a:p>
            <a:pPr algn="l"/>
            <a:r>
              <a:rPr sz="900" b="0" i="0" dirty="0" err="1">
                <a:solidFill>
                  <a:srgbClr val="6B6B6B"/>
                </a:solidFill>
                <a:latin typeface="Calibri"/>
              </a:rPr>
              <a:t>Terbrebie</a:t>
            </a:r>
            <a:r>
              <a:rPr sz="900" b="0" i="0" dirty="0">
                <a:solidFill>
                  <a:srgbClr val="6B6B6B"/>
                </a:solidFill>
                <a:latin typeface="Calibri"/>
              </a:rPr>
              <a:t> Junction </a:t>
            </a:r>
            <a:r>
              <a:rPr lang="en-US" sz="900" b="0" i="0" dirty="0">
                <a:solidFill>
                  <a:srgbClr val="6B6B6B"/>
                </a:solidFill>
                <a:latin typeface="Calibri"/>
              </a:rPr>
              <a:t>-</a:t>
            </a:r>
            <a:r>
              <a:rPr sz="900" b="0" i="0" dirty="0">
                <a:solidFill>
                  <a:srgbClr val="6B6B6B"/>
                </a:solidFill>
                <a:latin typeface="Calibri"/>
              </a:rPr>
              <a:t> CY378 Simulation and Modeling</a:t>
            </a:r>
          </a:p>
        </p:txBody>
      </p:sp>
      <p:sp>
        <p:nvSpPr>
          <p:cNvPr id="15" name="TextBox 14"/>
          <p:cNvSpPr txBox="1"/>
          <p:nvPr/>
        </p:nvSpPr>
        <p:spPr>
          <a:xfrm>
            <a:off x="11430000" y="6537960"/>
            <a:ext cx="365760" cy="274320"/>
          </a:xfrm>
          <a:prstGeom prst="rect">
            <a:avLst/>
          </a:prstGeom>
          <a:noFill/>
        </p:spPr>
        <p:txBody>
          <a:bodyPr wrap="square" lIns="0" tIns="0" rIns="0" bIns="0">
            <a:spAutoFit/>
          </a:bodyPr>
          <a:lstStyle/>
          <a:p>
            <a:pPr algn="r"/>
            <a:r>
              <a:rPr sz="900" b="0" i="0">
                <a:solidFill>
                  <a:srgbClr val="6B6B6B"/>
                </a:solidFill>
                <a:latin typeface="Calibri"/>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Objectives of the Project</a:t>
            </a:r>
            <a:endParaRPr lang="en-US" sz="3000" dirty="0"/>
          </a:p>
        </p:txBody>
      </p:sp>
      <p:sp>
        <p:nvSpPr>
          <p:cNvPr id="3" name="Shape 1"/>
          <p:cNvSpPr/>
          <p:nvPr/>
        </p:nvSpPr>
        <p:spPr>
          <a:xfrm>
            <a:off x="548640" y="1691640"/>
            <a:ext cx="457200" cy="457200"/>
          </a:xfrm>
          <a:prstGeom prst="roundRect">
            <a:avLst>
              <a:gd name="adj" fmla="val 50000"/>
            </a:avLst>
          </a:prstGeom>
          <a:solidFill>
            <a:srgbClr val="1E2761"/>
          </a:solidFill>
          <a:ln/>
        </p:spPr>
      </p:sp>
      <p:sp>
        <p:nvSpPr>
          <p:cNvPr id="4" name="Text 2"/>
          <p:cNvSpPr/>
          <p:nvPr/>
        </p:nvSpPr>
        <p:spPr>
          <a:xfrm>
            <a:off x="548640" y="169164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p:nvPr/>
        </p:nvSpPr>
        <p:spPr>
          <a:xfrm>
            <a:off x="1234440" y="1645920"/>
            <a:ext cx="10424160" cy="548640"/>
          </a:xfrm>
          <a:prstGeom prst="rect">
            <a:avLst/>
          </a:prstGeom>
          <a:noFill/>
          <a:ln/>
        </p:spPr>
        <p:txBody>
          <a:bodyPr wrap="square" rtlCol="0" anchor="ctr"/>
          <a:lstStyle/>
          <a:p>
            <a:pPr marL="0" indent="0">
              <a:buNone/>
            </a:pPr>
            <a:r>
              <a:rPr lang="en-US" dirty="0">
                <a:solidFill>
                  <a:srgbClr val="222222"/>
                </a:solidFill>
                <a:latin typeface="Calibri" pitchFamily="34" charset="0"/>
                <a:ea typeface="Calibri" pitchFamily="34" charset="-122"/>
                <a:cs typeface="Calibri" pitchFamily="34" charset="-120"/>
              </a:rPr>
              <a:t>Recreate the existing single-lane, unsignalised layout as a baseline model in AnyLogic</a:t>
            </a:r>
            <a:endParaRPr lang="en-US" dirty="0"/>
          </a:p>
        </p:txBody>
      </p:sp>
      <p:sp>
        <p:nvSpPr>
          <p:cNvPr id="6" name="Shape 4"/>
          <p:cNvSpPr/>
          <p:nvPr/>
        </p:nvSpPr>
        <p:spPr>
          <a:xfrm>
            <a:off x="548640" y="2560320"/>
            <a:ext cx="457200" cy="457200"/>
          </a:xfrm>
          <a:prstGeom prst="roundRect">
            <a:avLst>
              <a:gd name="adj" fmla="val 50000"/>
            </a:avLst>
          </a:prstGeom>
          <a:solidFill>
            <a:srgbClr val="3E6AE1"/>
          </a:solidFill>
          <a:ln/>
        </p:spPr>
      </p:sp>
      <p:sp>
        <p:nvSpPr>
          <p:cNvPr id="7" name="Text 5"/>
          <p:cNvSpPr/>
          <p:nvPr/>
        </p:nvSpPr>
        <p:spPr>
          <a:xfrm>
            <a:off x="548640" y="256032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8" name="Text 6"/>
          <p:cNvSpPr/>
          <p:nvPr/>
        </p:nvSpPr>
        <p:spPr>
          <a:xfrm>
            <a:off x="1234440" y="2514600"/>
            <a:ext cx="10424160" cy="548640"/>
          </a:xfrm>
          <a:prstGeom prst="rect">
            <a:avLst/>
          </a:prstGeom>
          <a:noFill/>
          <a:ln/>
        </p:spPr>
        <p:txBody>
          <a:bodyPr wrap="square" rtlCol="0" anchor="ctr"/>
          <a:lstStyle/>
          <a:p>
            <a:pPr marL="0" indent="0">
              <a:buNone/>
            </a:pPr>
            <a:r>
              <a:rPr lang="en-US" dirty="0">
                <a:solidFill>
                  <a:srgbClr val="222222"/>
                </a:solidFill>
                <a:latin typeface="Calibri" pitchFamily="34" charset="0"/>
                <a:ea typeface="Calibri" pitchFamily="34" charset="-122"/>
                <a:cs typeface="Calibri" pitchFamily="34" charset="-120"/>
              </a:rPr>
              <a:t>Design and implement double lanes, signalised control, and marked pedestrian crossings</a:t>
            </a:r>
            <a:endParaRPr lang="en-US" dirty="0"/>
          </a:p>
        </p:txBody>
      </p:sp>
      <p:sp>
        <p:nvSpPr>
          <p:cNvPr id="9" name="Shape 7"/>
          <p:cNvSpPr/>
          <p:nvPr/>
        </p:nvSpPr>
        <p:spPr>
          <a:xfrm>
            <a:off x="548640" y="3429000"/>
            <a:ext cx="457200" cy="457200"/>
          </a:xfrm>
          <a:prstGeom prst="roundRect">
            <a:avLst>
              <a:gd name="adj" fmla="val 50000"/>
            </a:avLst>
          </a:prstGeom>
          <a:solidFill>
            <a:srgbClr val="1E2761"/>
          </a:solidFill>
          <a:ln/>
        </p:spPr>
      </p:sp>
      <p:sp>
        <p:nvSpPr>
          <p:cNvPr id="10" name="Text 8"/>
          <p:cNvSpPr/>
          <p:nvPr/>
        </p:nvSpPr>
        <p:spPr>
          <a:xfrm>
            <a:off x="548640" y="342900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p:nvPr/>
        </p:nvSpPr>
        <p:spPr>
          <a:xfrm>
            <a:off x="1234440" y="3383280"/>
            <a:ext cx="10424160" cy="548640"/>
          </a:xfrm>
          <a:prstGeom prst="rect">
            <a:avLst/>
          </a:prstGeom>
          <a:noFill/>
          <a:ln/>
        </p:spPr>
        <p:txBody>
          <a:bodyPr wrap="square" rtlCol="0" anchor="ctr"/>
          <a:lstStyle/>
          <a:p>
            <a:pPr marL="0" indent="0">
              <a:buNone/>
            </a:pPr>
            <a:r>
              <a:rPr lang="en-US" dirty="0">
                <a:solidFill>
                  <a:srgbClr val="222222"/>
                </a:solidFill>
                <a:latin typeface="Calibri" pitchFamily="34" charset="0"/>
                <a:ea typeface="Calibri" pitchFamily="34" charset="-122"/>
                <a:cs typeface="Calibri" pitchFamily="34" charset="-120"/>
              </a:rPr>
              <a:t>Model vehicle and pedestrian interaction using the Road Traffic and Pedestrian Libraries</a:t>
            </a:r>
            <a:endParaRPr lang="en-US" dirty="0"/>
          </a:p>
        </p:txBody>
      </p:sp>
      <p:sp>
        <p:nvSpPr>
          <p:cNvPr id="12" name="Shape 10"/>
          <p:cNvSpPr/>
          <p:nvPr/>
        </p:nvSpPr>
        <p:spPr>
          <a:xfrm>
            <a:off x="548640" y="4297680"/>
            <a:ext cx="457200" cy="457200"/>
          </a:xfrm>
          <a:prstGeom prst="roundRect">
            <a:avLst>
              <a:gd name="adj" fmla="val 50000"/>
            </a:avLst>
          </a:prstGeom>
          <a:solidFill>
            <a:srgbClr val="3E6AE1"/>
          </a:solidFill>
          <a:ln/>
        </p:spPr>
      </p:sp>
      <p:sp>
        <p:nvSpPr>
          <p:cNvPr id="13" name="Text 11"/>
          <p:cNvSpPr/>
          <p:nvPr/>
        </p:nvSpPr>
        <p:spPr>
          <a:xfrm>
            <a:off x="548640" y="429768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4" name="Text 12"/>
          <p:cNvSpPr/>
          <p:nvPr/>
        </p:nvSpPr>
        <p:spPr>
          <a:xfrm>
            <a:off x="1234440" y="4251960"/>
            <a:ext cx="10424160" cy="548640"/>
          </a:xfrm>
          <a:prstGeom prst="rect">
            <a:avLst/>
          </a:prstGeom>
          <a:noFill/>
          <a:ln/>
        </p:spPr>
        <p:txBody>
          <a:bodyPr wrap="square" rtlCol="0" anchor="ctr"/>
          <a:lstStyle/>
          <a:p>
            <a:pPr marL="0" indent="0">
              <a:buNone/>
            </a:pPr>
            <a:r>
              <a:rPr lang="en-US" dirty="0">
                <a:solidFill>
                  <a:srgbClr val="222222"/>
                </a:solidFill>
                <a:latin typeface="Calibri" pitchFamily="34" charset="0"/>
                <a:ea typeface="Calibri" pitchFamily="34" charset="-122"/>
                <a:cs typeface="Calibri" pitchFamily="34" charset="-120"/>
              </a:rPr>
              <a:t>Evaluate, through simulation, whether the redesign reduces congestion and improves safety</a:t>
            </a:r>
            <a:endParaRPr lang="en-US" dirty="0"/>
          </a:p>
        </p:txBody>
      </p:sp>
      <p:sp>
        <p:nvSpPr>
          <p:cNvPr id="15" name="Shape 13"/>
          <p:cNvSpPr/>
          <p:nvPr/>
        </p:nvSpPr>
        <p:spPr>
          <a:xfrm>
            <a:off x="548640" y="5166360"/>
            <a:ext cx="457200" cy="457200"/>
          </a:xfrm>
          <a:prstGeom prst="roundRect">
            <a:avLst>
              <a:gd name="adj" fmla="val 50000"/>
            </a:avLst>
          </a:prstGeom>
          <a:solidFill>
            <a:srgbClr val="1E2761"/>
          </a:solidFill>
          <a:ln/>
        </p:spPr>
      </p:sp>
      <p:sp>
        <p:nvSpPr>
          <p:cNvPr id="16" name="Text 14"/>
          <p:cNvSpPr/>
          <p:nvPr/>
        </p:nvSpPr>
        <p:spPr>
          <a:xfrm>
            <a:off x="548640" y="5166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7" name="Text 15"/>
          <p:cNvSpPr/>
          <p:nvPr/>
        </p:nvSpPr>
        <p:spPr>
          <a:xfrm>
            <a:off x="1234440" y="5120640"/>
            <a:ext cx="10424160" cy="548640"/>
          </a:xfrm>
          <a:prstGeom prst="rect">
            <a:avLst/>
          </a:prstGeom>
          <a:noFill/>
          <a:ln/>
        </p:spPr>
        <p:txBody>
          <a:bodyPr wrap="square" rtlCol="0" anchor="ctr"/>
          <a:lstStyle/>
          <a:p>
            <a:pPr marL="0" indent="0">
              <a:buNone/>
            </a:pPr>
            <a:r>
              <a:rPr lang="en-US" dirty="0">
                <a:solidFill>
                  <a:srgbClr val="222222"/>
                </a:solidFill>
                <a:latin typeface="Calibri" pitchFamily="34" charset="0"/>
                <a:ea typeface="Calibri" pitchFamily="34" charset="-122"/>
                <a:cs typeface="Calibri" pitchFamily="34" charset="-120"/>
              </a:rPr>
              <a:t>Present findings and recommendations suitable for academic and practical use</a:t>
            </a:r>
            <a:endParaRPr lang="en-US" dirty="0"/>
          </a:p>
        </p:txBody>
      </p:sp>
      <p:sp>
        <p:nvSpPr>
          <p:cNvPr id="18" name="Text 16"/>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9" name="Text 17"/>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 and Tools Used</a:t>
            </a:r>
            <a:endParaRPr lang="en-US" sz="3000" dirty="0"/>
          </a:p>
        </p:txBody>
      </p:sp>
      <p:sp>
        <p:nvSpPr>
          <p:cNvPr id="3" name="Shape 1"/>
          <p:cNvSpPr/>
          <p:nvPr/>
        </p:nvSpPr>
        <p:spPr>
          <a:xfrm>
            <a:off x="548640" y="1645920"/>
            <a:ext cx="5212080" cy="4480560"/>
          </a:xfrm>
          <a:prstGeom prst="roundRect">
            <a:avLst>
              <a:gd name="adj" fmla="val 1633"/>
            </a:avLst>
          </a:prstGeom>
          <a:solidFill>
            <a:srgbClr val="1E2761"/>
          </a:solidFill>
          <a:ln/>
        </p:spPr>
      </p:sp>
      <p:sp>
        <p:nvSpPr>
          <p:cNvPr id="4" name="Text 2"/>
          <p:cNvSpPr/>
          <p:nvPr/>
        </p:nvSpPr>
        <p:spPr>
          <a:xfrm>
            <a:off x="868680" y="1874520"/>
            <a:ext cx="457200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AnyLogic Simulation Software</a:t>
            </a:r>
            <a:endParaRPr lang="en-US" sz="1800" dirty="0"/>
          </a:p>
        </p:txBody>
      </p:sp>
      <p:sp>
        <p:nvSpPr>
          <p:cNvPr id="5" name="Text 3"/>
          <p:cNvSpPr/>
          <p:nvPr/>
        </p:nvSpPr>
        <p:spPr>
          <a:xfrm>
            <a:off x="868680" y="2423160"/>
            <a:ext cx="4572000" cy="1920240"/>
          </a:xfrm>
          <a:prstGeom prst="rect">
            <a:avLst/>
          </a:prstGeom>
          <a:noFill/>
          <a:ln/>
        </p:spPr>
        <p:txBody>
          <a:bodyPr wrap="square" rtlCol="0" anchor="ctr"/>
          <a:lstStyle/>
          <a:p>
            <a:pPr marL="0" indent="0">
              <a:lnSpc>
                <a:spcPts val="1800"/>
              </a:lnSpc>
              <a:buNone/>
            </a:pPr>
            <a:r>
              <a:rPr lang="en-US" sz="2000" dirty="0">
                <a:solidFill>
                  <a:srgbClr val="CADCFC"/>
                </a:solidFill>
                <a:latin typeface="Calibri" pitchFamily="34" charset="0"/>
                <a:ea typeface="Calibri" pitchFamily="34" charset="-122"/>
                <a:cs typeface="Calibri" pitchFamily="34" charset="-120"/>
              </a:rPr>
              <a:t>A multi-method simulation platform providing purpose-built libraries for road traffic and pedestrian dynamics, allowing vehicles and pedestrians to be modelled as individual interacting agents.</a:t>
            </a:r>
            <a:endParaRPr lang="en-US" sz="2000" dirty="0"/>
          </a:p>
        </p:txBody>
      </p:sp>
      <p:sp>
        <p:nvSpPr>
          <p:cNvPr id="6" name="Text 4"/>
          <p:cNvSpPr/>
          <p:nvPr/>
        </p:nvSpPr>
        <p:spPr>
          <a:xfrm>
            <a:off x="868680" y="5394960"/>
            <a:ext cx="4572000" cy="36576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Project file: TerbrebieJunction3.alp</a:t>
            </a:r>
            <a:endParaRPr lang="en-US" sz="1250" dirty="0"/>
          </a:p>
        </p:txBody>
      </p:sp>
      <p:sp>
        <p:nvSpPr>
          <p:cNvPr id="7" name="Shape 5"/>
          <p:cNvSpPr/>
          <p:nvPr/>
        </p:nvSpPr>
        <p:spPr>
          <a:xfrm>
            <a:off x="6035040" y="1645920"/>
            <a:ext cx="5577840" cy="1325880"/>
          </a:xfrm>
          <a:prstGeom prst="roundRect">
            <a:avLst>
              <a:gd name="adj" fmla="val 5517"/>
            </a:avLst>
          </a:prstGeom>
          <a:solidFill>
            <a:srgbClr val="F4F6FC"/>
          </a:solidFill>
          <a:ln/>
        </p:spPr>
      </p:sp>
      <p:sp>
        <p:nvSpPr>
          <p:cNvPr id="8" name="Text 6"/>
          <p:cNvSpPr/>
          <p:nvPr/>
        </p:nvSpPr>
        <p:spPr>
          <a:xfrm>
            <a:off x="6309360" y="1783080"/>
            <a:ext cx="50292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Road Traffic Library</a:t>
            </a:r>
            <a:endParaRPr lang="en-US" sz="1450" dirty="0"/>
          </a:p>
        </p:txBody>
      </p:sp>
      <p:sp>
        <p:nvSpPr>
          <p:cNvPr id="9" name="Text 7"/>
          <p:cNvSpPr/>
          <p:nvPr/>
        </p:nvSpPr>
        <p:spPr>
          <a:xfrm>
            <a:off x="6309360" y="2194560"/>
            <a:ext cx="5029200" cy="685800"/>
          </a:xfrm>
          <a:prstGeom prst="rect">
            <a:avLst/>
          </a:prstGeom>
          <a:noFill/>
          <a:ln/>
        </p:spPr>
        <p:txBody>
          <a:bodyPr wrap="square" rtlCol="0" anchor="ctr"/>
          <a:lstStyle/>
          <a:p>
            <a:pPr marL="0" indent="0">
              <a:lnSpc>
                <a:spcPts val="1500"/>
              </a:lnSpc>
              <a:buNone/>
            </a:pPr>
            <a:r>
              <a:rPr lang="en-US" dirty="0">
                <a:solidFill>
                  <a:srgbClr val="222222"/>
                </a:solidFill>
                <a:latin typeface="Calibri" pitchFamily="34" charset="0"/>
                <a:ea typeface="Calibri" pitchFamily="34" charset="-122"/>
                <a:cs typeface="Calibri" pitchFamily="34" charset="-120"/>
              </a:rPr>
              <a:t>carSource, selectOutput, carMoveTo, carDispose, and traffic light objects</a:t>
            </a:r>
            <a:endParaRPr lang="en-US" dirty="0"/>
          </a:p>
        </p:txBody>
      </p:sp>
      <p:sp>
        <p:nvSpPr>
          <p:cNvPr id="10" name="Shape 8"/>
          <p:cNvSpPr/>
          <p:nvPr/>
        </p:nvSpPr>
        <p:spPr>
          <a:xfrm>
            <a:off x="6035040" y="3200400"/>
            <a:ext cx="5577840" cy="1325880"/>
          </a:xfrm>
          <a:prstGeom prst="roundRect">
            <a:avLst>
              <a:gd name="adj" fmla="val 5517"/>
            </a:avLst>
          </a:prstGeom>
          <a:solidFill>
            <a:srgbClr val="F4F6FC"/>
          </a:solidFill>
          <a:ln/>
        </p:spPr>
      </p:sp>
      <p:sp>
        <p:nvSpPr>
          <p:cNvPr id="11" name="Text 9"/>
          <p:cNvSpPr/>
          <p:nvPr/>
        </p:nvSpPr>
        <p:spPr>
          <a:xfrm>
            <a:off x="6309360" y="3337560"/>
            <a:ext cx="50292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Pedestrian Library</a:t>
            </a:r>
            <a:endParaRPr lang="en-US" sz="1450" dirty="0"/>
          </a:p>
        </p:txBody>
      </p:sp>
      <p:sp>
        <p:nvSpPr>
          <p:cNvPr id="12" name="Text 10"/>
          <p:cNvSpPr/>
          <p:nvPr/>
        </p:nvSpPr>
        <p:spPr>
          <a:xfrm>
            <a:off x="6309360" y="3749040"/>
            <a:ext cx="5029200" cy="685800"/>
          </a:xfrm>
          <a:prstGeom prst="rect">
            <a:avLst/>
          </a:prstGeom>
          <a:noFill/>
          <a:ln/>
        </p:spPr>
        <p:txBody>
          <a:bodyPr wrap="square" rtlCol="0" anchor="ctr"/>
          <a:lstStyle/>
          <a:p>
            <a:pPr marL="0" indent="0">
              <a:lnSpc>
                <a:spcPts val="1500"/>
              </a:lnSpc>
              <a:buNone/>
            </a:pPr>
            <a:r>
              <a:rPr lang="en-US" dirty="0">
                <a:solidFill>
                  <a:srgbClr val="222222"/>
                </a:solidFill>
                <a:latin typeface="Calibri" pitchFamily="34" charset="0"/>
                <a:ea typeface="Calibri" pitchFamily="34" charset="-122"/>
                <a:cs typeface="Calibri" pitchFamily="34" charset="-120"/>
              </a:rPr>
              <a:t>pedSource, pedGoTo, pedWait, and pedSink objects</a:t>
            </a:r>
            <a:endParaRPr lang="en-US" dirty="0"/>
          </a:p>
        </p:txBody>
      </p:sp>
      <p:sp>
        <p:nvSpPr>
          <p:cNvPr id="13" name="Shape 11"/>
          <p:cNvSpPr/>
          <p:nvPr/>
        </p:nvSpPr>
        <p:spPr>
          <a:xfrm>
            <a:off x="6035040" y="4754880"/>
            <a:ext cx="5577840" cy="1325880"/>
          </a:xfrm>
          <a:prstGeom prst="roundRect">
            <a:avLst>
              <a:gd name="adj" fmla="val 5517"/>
            </a:avLst>
          </a:prstGeom>
          <a:solidFill>
            <a:srgbClr val="F4F6FC"/>
          </a:solidFill>
          <a:ln/>
        </p:spPr>
      </p:sp>
      <p:sp>
        <p:nvSpPr>
          <p:cNvPr id="14" name="Text 12"/>
          <p:cNvSpPr/>
          <p:nvPr/>
        </p:nvSpPr>
        <p:spPr>
          <a:xfrm>
            <a:off x="6309360" y="4892040"/>
            <a:ext cx="502920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2D / 3D Scene Design</a:t>
            </a:r>
            <a:endParaRPr lang="en-US" sz="1450" dirty="0"/>
          </a:p>
        </p:txBody>
      </p:sp>
      <p:sp>
        <p:nvSpPr>
          <p:cNvPr id="15" name="Text 13"/>
          <p:cNvSpPr/>
          <p:nvPr/>
        </p:nvSpPr>
        <p:spPr>
          <a:xfrm>
            <a:off x="6309360" y="5303520"/>
            <a:ext cx="5029200" cy="685800"/>
          </a:xfrm>
          <a:prstGeom prst="rect">
            <a:avLst/>
          </a:prstGeom>
          <a:noFill/>
          <a:ln/>
        </p:spPr>
        <p:txBody>
          <a:bodyPr wrap="square" rtlCol="0" anchor="ctr"/>
          <a:lstStyle/>
          <a:p>
            <a:pPr marL="0" indent="0">
              <a:lnSpc>
                <a:spcPts val="1500"/>
              </a:lnSpc>
              <a:buNone/>
            </a:pPr>
            <a:r>
              <a:rPr lang="en-US" dirty="0">
                <a:solidFill>
                  <a:srgbClr val="222222"/>
                </a:solidFill>
                <a:latin typeface="Calibri" pitchFamily="34" charset="0"/>
                <a:ea typeface="Calibri" pitchFamily="34" charset="-122"/>
                <a:cs typeface="Calibri" pitchFamily="34" charset="-120"/>
              </a:rPr>
              <a:t>Lane markings, buildings, and surroundings modelled to resemble the real junction</a:t>
            </a:r>
            <a:endParaRPr lang="en-US" dirty="0"/>
          </a:p>
        </p:txBody>
      </p:sp>
      <p:sp>
        <p:nvSpPr>
          <p:cNvPr id="16" name="Text 14"/>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7" name="Text 15"/>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Redesign at a Glance</a:t>
            </a:r>
            <a:endParaRPr lang="en-US" sz="3000" dirty="0"/>
          </a:p>
        </p:txBody>
      </p:sp>
      <p:sp>
        <p:nvSpPr>
          <p:cNvPr id="3" name="Text 1"/>
          <p:cNvSpPr/>
          <p:nvPr/>
        </p:nvSpPr>
        <p:spPr>
          <a:xfrm>
            <a:off x="548640" y="987552"/>
            <a:ext cx="1106424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Four changes address every weakness of the original junction</a:t>
            </a:r>
            <a:endParaRPr lang="en-US" sz="1400" dirty="0"/>
          </a:p>
        </p:txBody>
      </p:sp>
      <p:sp>
        <p:nvSpPr>
          <p:cNvPr id="4" name="Shape 2"/>
          <p:cNvSpPr/>
          <p:nvPr/>
        </p:nvSpPr>
        <p:spPr>
          <a:xfrm>
            <a:off x="548640" y="1828800"/>
            <a:ext cx="2697480" cy="3931920"/>
          </a:xfrm>
          <a:prstGeom prst="roundRect">
            <a:avLst>
              <a:gd name="adj" fmla="val 2712"/>
            </a:avLst>
          </a:prstGeom>
          <a:solidFill>
            <a:srgbClr val="F4F6FC"/>
          </a:solidFill>
          <a:ln/>
        </p:spPr>
      </p:sp>
      <p:sp>
        <p:nvSpPr>
          <p:cNvPr id="6" name="Text 4"/>
          <p:cNvSpPr/>
          <p:nvPr/>
        </p:nvSpPr>
        <p:spPr>
          <a:xfrm>
            <a:off x="777240" y="2971800"/>
            <a:ext cx="2240280" cy="685800"/>
          </a:xfrm>
          <a:prstGeom prst="rect">
            <a:avLst/>
          </a:prstGeom>
          <a:noFill/>
          <a:ln/>
        </p:spPr>
        <p:txBody>
          <a:bodyPr wrap="square" rtlCol="0" anchor="ctr"/>
          <a:lstStyle/>
          <a:p>
            <a:pPr marL="0" indent="0">
              <a:lnSpc>
                <a:spcPts val="1800"/>
              </a:lnSpc>
              <a:buNone/>
            </a:pPr>
            <a:r>
              <a:rPr lang="en-US" sz="1550" b="1" dirty="0">
                <a:solidFill>
                  <a:srgbClr val="1E2761"/>
                </a:solidFill>
                <a:latin typeface="Cambria" pitchFamily="34" charset="0"/>
                <a:ea typeface="Cambria" pitchFamily="34" charset="-122"/>
                <a:cs typeface="Cambria" pitchFamily="34" charset="-120"/>
              </a:rPr>
              <a:t>Double Lanes</a:t>
            </a:r>
            <a:endParaRPr lang="en-US" sz="1550" dirty="0"/>
          </a:p>
        </p:txBody>
      </p:sp>
      <p:sp>
        <p:nvSpPr>
          <p:cNvPr id="7" name="Text 5"/>
          <p:cNvSpPr/>
          <p:nvPr/>
        </p:nvSpPr>
        <p:spPr>
          <a:xfrm>
            <a:off x="777240" y="3703320"/>
            <a:ext cx="2240280" cy="1920240"/>
          </a:xfrm>
          <a:prstGeom prst="rect">
            <a:avLst/>
          </a:prstGeom>
          <a:noFill/>
          <a:ln/>
        </p:spPr>
        <p:txBody>
          <a:bodyPr wrap="square" rtlCol="0" anchor="ctr"/>
          <a:lstStyle/>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Replaces every single lane with two, increasing capacity and separating through and turning traffic.</a:t>
            </a:r>
            <a:endParaRPr lang="en-US" sz="1600" dirty="0"/>
          </a:p>
        </p:txBody>
      </p:sp>
      <p:sp>
        <p:nvSpPr>
          <p:cNvPr id="8" name="Shape 6"/>
          <p:cNvSpPr/>
          <p:nvPr/>
        </p:nvSpPr>
        <p:spPr>
          <a:xfrm>
            <a:off x="3474720" y="1828800"/>
            <a:ext cx="2697480" cy="3931920"/>
          </a:xfrm>
          <a:prstGeom prst="roundRect">
            <a:avLst>
              <a:gd name="adj" fmla="val 2712"/>
            </a:avLst>
          </a:prstGeom>
          <a:solidFill>
            <a:srgbClr val="F4F6FC"/>
          </a:solidFill>
          <a:ln/>
        </p:spPr>
      </p:sp>
      <p:sp>
        <p:nvSpPr>
          <p:cNvPr id="10" name="Text 8"/>
          <p:cNvSpPr/>
          <p:nvPr/>
        </p:nvSpPr>
        <p:spPr>
          <a:xfrm>
            <a:off x="3703320" y="2971800"/>
            <a:ext cx="2240280" cy="685800"/>
          </a:xfrm>
          <a:prstGeom prst="rect">
            <a:avLst/>
          </a:prstGeom>
          <a:noFill/>
          <a:ln/>
        </p:spPr>
        <p:txBody>
          <a:bodyPr wrap="square" rtlCol="0" anchor="ctr"/>
          <a:lstStyle/>
          <a:p>
            <a:pPr marL="0" indent="0">
              <a:lnSpc>
                <a:spcPts val="1800"/>
              </a:lnSpc>
              <a:buNone/>
            </a:pPr>
            <a:r>
              <a:rPr lang="en-US" sz="1550" b="1" dirty="0">
                <a:solidFill>
                  <a:srgbClr val="1E2761"/>
                </a:solidFill>
                <a:latin typeface="Cambria" pitchFamily="34" charset="0"/>
                <a:ea typeface="Cambria" pitchFamily="34" charset="-122"/>
                <a:cs typeface="Cambria" pitchFamily="34" charset="-120"/>
              </a:rPr>
              <a:t>Traffic Lights</a:t>
            </a:r>
            <a:endParaRPr lang="en-US" sz="1550" dirty="0"/>
          </a:p>
        </p:txBody>
      </p:sp>
      <p:sp>
        <p:nvSpPr>
          <p:cNvPr id="11" name="Text 9"/>
          <p:cNvSpPr/>
          <p:nvPr/>
        </p:nvSpPr>
        <p:spPr>
          <a:xfrm>
            <a:off x="3703320" y="3703320"/>
            <a:ext cx="2240280" cy="1920240"/>
          </a:xfrm>
          <a:prstGeom prst="rect">
            <a:avLst/>
          </a:prstGeom>
          <a:noFill/>
          <a:ln/>
        </p:spPr>
        <p:txBody>
          <a:bodyPr wrap="square" rtlCol="0" anchor="ctr"/>
          <a:lstStyle/>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Introduces signal control, formally assigning right of way and coordinating vehicle and pedestrian phases.</a:t>
            </a:r>
            <a:endParaRPr lang="en-US" sz="1600" dirty="0"/>
          </a:p>
        </p:txBody>
      </p:sp>
      <p:sp>
        <p:nvSpPr>
          <p:cNvPr id="12" name="Shape 10"/>
          <p:cNvSpPr/>
          <p:nvPr/>
        </p:nvSpPr>
        <p:spPr>
          <a:xfrm>
            <a:off x="6400800" y="1828800"/>
            <a:ext cx="2697480" cy="3931920"/>
          </a:xfrm>
          <a:prstGeom prst="roundRect">
            <a:avLst>
              <a:gd name="adj" fmla="val 2712"/>
            </a:avLst>
          </a:prstGeom>
          <a:solidFill>
            <a:srgbClr val="F4F6FC"/>
          </a:solidFill>
          <a:ln/>
        </p:spPr>
      </p:sp>
      <p:sp>
        <p:nvSpPr>
          <p:cNvPr id="14" name="Text 12"/>
          <p:cNvSpPr/>
          <p:nvPr/>
        </p:nvSpPr>
        <p:spPr>
          <a:xfrm>
            <a:off x="6629400" y="2971800"/>
            <a:ext cx="2240280" cy="685800"/>
          </a:xfrm>
          <a:prstGeom prst="rect">
            <a:avLst/>
          </a:prstGeom>
          <a:noFill/>
          <a:ln/>
        </p:spPr>
        <p:txBody>
          <a:bodyPr wrap="square" rtlCol="0" anchor="ctr"/>
          <a:lstStyle/>
          <a:p>
            <a:pPr marL="0" indent="0">
              <a:lnSpc>
                <a:spcPts val="1800"/>
              </a:lnSpc>
              <a:buNone/>
            </a:pPr>
            <a:r>
              <a:rPr lang="en-US" sz="1550" b="1" dirty="0">
                <a:solidFill>
                  <a:srgbClr val="1E2761"/>
                </a:solidFill>
                <a:latin typeface="Cambria" pitchFamily="34" charset="0"/>
                <a:ea typeface="Cambria" pitchFamily="34" charset="-122"/>
                <a:cs typeface="Cambria" pitchFamily="34" charset="-120"/>
              </a:rPr>
              <a:t>Zebra Crossings</a:t>
            </a:r>
            <a:endParaRPr lang="en-US" sz="1550" dirty="0"/>
          </a:p>
        </p:txBody>
      </p:sp>
      <p:sp>
        <p:nvSpPr>
          <p:cNvPr id="15" name="Text 13"/>
          <p:cNvSpPr/>
          <p:nvPr/>
        </p:nvSpPr>
        <p:spPr>
          <a:xfrm>
            <a:off x="6629400" y="3703320"/>
            <a:ext cx="2240280" cy="1920240"/>
          </a:xfrm>
          <a:prstGeom prst="rect">
            <a:avLst/>
          </a:prstGeom>
          <a:noFill/>
          <a:ln/>
        </p:spPr>
        <p:txBody>
          <a:bodyPr wrap="square" rtlCol="0" anchor="ctr"/>
          <a:lstStyle/>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Marks safe, predictable pedestrian crossing points tied to the signal cycle.</a:t>
            </a:r>
            <a:endParaRPr lang="en-US" sz="1600" dirty="0"/>
          </a:p>
        </p:txBody>
      </p:sp>
      <p:sp>
        <p:nvSpPr>
          <p:cNvPr id="16" name="Shape 14"/>
          <p:cNvSpPr/>
          <p:nvPr/>
        </p:nvSpPr>
        <p:spPr>
          <a:xfrm>
            <a:off x="9326880" y="1828800"/>
            <a:ext cx="2697480" cy="3931920"/>
          </a:xfrm>
          <a:prstGeom prst="roundRect">
            <a:avLst>
              <a:gd name="adj" fmla="val 2712"/>
            </a:avLst>
          </a:prstGeom>
          <a:solidFill>
            <a:srgbClr val="F4F6FC"/>
          </a:solidFill>
          <a:ln/>
        </p:spPr>
      </p:sp>
      <p:sp>
        <p:nvSpPr>
          <p:cNvPr id="18" name="Text 16"/>
          <p:cNvSpPr/>
          <p:nvPr/>
        </p:nvSpPr>
        <p:spPr>
          <a:xfrm>
            <a:off x="9555480" y="2971800"/>
            <a:ext cx="2240280" cy="685800"/>
          </a:xfrm>
          <a:prstGeom prst="rect">
            <a:avLst/>
          </a:prstGeom>
          <a:noFill/>
          <a:ln/>
        </p:spPr>
        <p:txBody>
          <a:bodyPr wrap="square" rtlCol="0" anchor="ctr"/>
          <a:lstStyle/>
          <a:p>
            <a:pPr marL="0" indent="0">
              <a:lnSpc>
                <a:spcPts val="1800"/>
              </a:lnSpc>
              <a:buNone/>
            </a:pPr>
            <a:r>
              <a:rPr lang="en-US" sz="1550" b="1" dirty="0">
                <a:solidFill>
                  <a:srgbClr val="1E2761"/>
                </a:solidFill>
                <a:latin typeface="Cambria" pitchFamily="34" charset="0"/>
                <a:ea typeface="Cambria" pitchFamily="34" charset="-122"/>
                <a:cs typeface="Cambria" pitchFamily="34" charset="-120"/>
              </a:rPr>
              <a:t>Resurfacing</a:t>
            </a:r>
            <a:endParaRPr lang="en-US" sz="1550" dirty="0"/>
          </a:p>
        </p:txBody>
      </p:sp>
      <p:sp>
        <p:nvSpPr>
          <p:cNvPr id="19" name="Text 17"/>
          <p:cNvSpPr/>
          <p:nvPr/>
        </p:nvSpPr>
        <p:spPr>
          <a:xfrm>
            <a:off x="9555480" y="3703320"/>
            <a:ext cx="2240280" cy="1920240"/>
          </a:xfrm>
          <a:prstGeom prst="rect">
            <a:avLst/>
          </a:prstGeom>
          <a:noFill/>
          <a:ln/>
        </p:spPr>
        <p:txBody>
          <a:bodyPr wrap="square" rtlCol="0" anchor="ctr"/>
          <a:lstStyle/>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Replaces the deteriorated surface with a well-paved, clearly marked road.</a:t>
            </a:r>
            <a:endParaRPr lang="en-US" sz="1600" dirty="0"/>
          </a:p>
        </p:txBody>
      </p:sp>
      <p:sp>
        <p:nvSpPr>
          <p:cNvPr id="20" name="Text 1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21" name="Text 19"/>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Double Lanes Were Added</a:t>
            </a:r>
            <a:endParaRPr lang="en-US" sz="3000" dirty="0"/>
          </a:p>
        </p:txBody>
      </p:sp>
      <p:sp>
        <p:nvSpPr>
          <p:cNvPr id="3" name="Shape 1"/>
          <p:cNvSpPr/>
          <p:nvPr/>
        </p:nvSpPr>
        <p:spPr>
          <a:xfrm>
            <a:off x="548640" y="1737360"/>
            <a:ext cx="11064240" cy="914400"/>
          </a:xfrm>
          <a:prstGeom prst="roundRect">
            <a:avLst>
              <a:gd name="adj" fmla="val 6000"/>
            </a:avLst>
          </a:prstGeom>
          <a:solidFill>
            <a:srgbClr val="F4F6FC"/>
          </a:solidFill>
          <a:ln/>
        </p:spPr>
      </p:sp>
      <p:sp>
        <p:nvSpPr>
          <p:cNvPr id="4" name="Shape 2"/>
          <p:cNvSpPr/>
          <p:nvPr/>
        </p:nvSpPr>
        <p:spPr>
          <a:xfrm>
            <a:off x="548640" y="1737360"/>
            <a:ext cx="109728" cy="914400"/>
          </a:xfrm>
          <a:prstGeom prst="rect">
            <a:avLst/>
          </a:prstGeom>
          <a:solidFill>
            <a:srgbClr val="1E2761"/>
          </a:solidFill>
          <a:ln/>
        </p:spPr>
      </p:sp>
      <p:sp>
        <p:nvSpPr>
          <p:cNvPr id="5" name="Text 3"/>
          <p:cNvSpPr/>
          <p:nvPr/>
        </p:nvSpPr>
        <p:spPr>
          <a:xfrm>
            <a:off x="914400" y="173736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Additional capacity allows more vehicles to be processed within the same time, reducing queue lengths at peak periods</a:t>
            </a:r>
            <a:endParaRPr lang="en-US" sz="1600" dirty="0"/>
          </a:p>
        </p:txBody>
      </p:sp>
      <p:sp>
        <p:nvSpPr>
          <p:cNvPr id="6" name="Shape 4"/>
          <p:cNvSpPr/>
          <p:nvPr/>
        </p:nvSpPr>
        <p:spPr>
          <a:xfrm>
            <a:off x="548640" y="2834640"/>
            <a:ext cx="11064240" cy="914400"/>
          </a:xfrm>
          <a:prstGeom prst="roundRect">
            <a:avLst>
              <a:gd name="adj" fmla="val 6000"/>
            </a:avLst>
          </a:prstGeom>
          <a:solidFill>
            <a:srgbClr val="F4F6FC"/>
          </a:solidFill>
          <a:ln/>
        </p:spPr>
      </p:sp>
      <p:sp>
        <p:nvSpPr>
          <p:cNvPr id="7" name="Shape 5"/>
          <p:cNvSpPr/>
          <p:nvPr/>
        </p:nvSpPr>
        <p:spPr>
          <a:xfrm>
            <a:off x="548640" y="2834640"/>
            <a:ext cx="109728" cy="914400"/>
          </a:xfrm>
          <a:prstGeom prst="rect">
            <a:avLst/>
          </a:prstGeom>
          <a:solidFill>
            <a:srgbClr val="1E2761"/>
          </a:solidFill>
          <a:ln/>
        </p:spPr>
      </p:sp>
      <p:sp>
        <p:nvSpPr>
          <p:cNvPr id="8" name="Text 6"/>
          <p:cNvSpPr/>
          <p:nvPr/>
        </p:nvSpPr>
        <p:spPr>
          <a:xfrm>
            <a:off x="914400" y="283464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Slower vehicles, such as turning or loading trucks, no longer block the entire flow of traffic</a:t>
            </a:r>
            <a:endParaRPr lang="en-US" sz="1600" dirty="0"/>
          </a:p>
        </p:txBody>
      </p:sp>
      <p:sp>
        <p:nvSpPr>
          <p:cNvPr id="9" name="Shape 7"/>
          <p:cNvSpPr/>
          <p:nvPr/>
        </p:nvSpPr>
        <p:spPr>
          <a:xfrm>
            <a:off x="548640" y="3931920"/>
            <a:ext cx="11064240" cy="914400"/>
          </a:xfrm>
          <a:prstGeom prst="roundRect">
            <a:avLst>
              <a:gd name="adj" fmla="val 6000"/>
            </a:avLst>
          </a:prstGeom>
          <a:solidFill>
            <a:srgbClr val="F4F6FC"/>
          </a:solidFill>
          <a:ln/>
        </p:spPr>
      </p:sp>
      <p:sp>
        <p:nvSpPr>
          <p:cNvPr id="10" name="Shape 8"/>
          <p:cNvSpPr/>
          <p:nvPr/>
        </p:nvSpPr>
        <p:spPr>
          <a:xfrm>
            <a:off x="548640" y="3931920"/>
            <a:ext cx="109728" cy="914400"/>
          </a:xfrm>
          <a:prstGeom prst="rect">
            <a:avLst/>
          </a:prstGeom>
          <a:solidFill>
            <a:srgbClr val="1E2761"/>
          </a:solidFill>
          <a:ln/>
        </p:spPr>
      </p:sp>
      <p:sp>
        <p:nvSpPr>
          <p:cNvPr id="11" name="Text 9"/>
          <p:cNvSpPr/>
          <p:nvPr/>
        </p:nvSpPr>
        <p:spPr>
          <a:xfrm>
            <a:off x="914400" y="393192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Separate lanes allow through-traffic and turning traffic to be assigned to specific lanes, reducing conflict points</a:t>
            </a:r>
            <a:endParaRPr lang="en-US" sz="1600" dirty="0"/>
          </a:p>
        </p:txBody>
      </p:sp>
      <p:sp>
        <p:nvSpPr>
          <p:cNvPr id="12" name="Shape 10"/>
          <p:cNvSpPr/>
          <p:nvPr/>
        </p:nvSpPr>
        <p:spPr>
          <a:xfrm>
            <a:off x="548640" y="5029200"/>
            <a:ext cx="11064240" cy="914400"/>
          </a:xfrm>
          <a:prstGeom prst="roundRect">
            <a:avLst>
              <a:gd name="adj" fmla="val 6000"/>
            </a:avLst>
          </a:prstGeom>
          <a:solidFill>
            <a:srgbClr val="F4F6FC"/>
          </a:solidFill>
          <a:ln/>
        </p:spPr>
      </p:sp>
      <p:sp>
        <p:nvSpPr>
          <p:cNvPr id="13" name="Shape 11"/>
          <p:cNvSpPr/>
          <p:nvPr/>
        </p:nvSpPr>
        <p:spPr>
          <a:xfrm>
            <a:off x="548640" y="5029200"/>
            <a:ext cx="109728" cy="914400"/>
          </a:xfrm>
          <a:prstGeom prst="rect">
            <a:avLst/>
          </a:prstGeom>
          <a:solidFill>
            <a:srgbClr val="1E2761"/>
          </a:solidFill>
          <a:ln/>
        </p:spPr>
      </p:sp>
      <p:sp>
        <p:nvSpPr>
          <p:cNvPr id="14" name="Text 12"/>
          <p:cNvSpPr/>
          <p:nvPr/>
        </p:nvSpPr>
        <p:spPr>
          <a:xfrm>
            <a:off x="914400" y="502920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Extra manoeuvring space improves overall safety when drivers must react to unexpected situations</a:t>
            </a:r>
            <a:endParaRPr lang="en-US" sz="16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Traffic Lights Were Installed</a:t>
            </a:r>
            <a:endParaRPr lang="en-US" sz="3000" dirty="0"/>
          </a:p>
        </p:txBody>
      </p:sp>
      <p:sp>
        <p:nvSpPr>
          <p:cNvPr id="3" name="Shape 1"/>
          <p:cNvSpPr/>
          <p:nvPr/>
        </p:nvSpPr>
        <p:spPr>
          <a:xfrm>
            <a:off x="548640" y="1737360"/>
            <a:ext cx="11064240" cy="914400"/>
          </a:xfrm>
          <a:prstGeom prst="roundRect">
            <a:avLst>
              <a:gd name="adj" fmla="val 6000"/>
            </a:avLst>
          </a:prstGeom>
          <a:solidFill>
            <a:srgbClr val="F4F6FC"/>
          </a:solidFill>
          <a:ln/>
        </p:spPr>
      </p:sp>
      <p:sp>
        <p:nvSpPr>
          <p:cNvPr id="4" name="Shape 2"/>
          <p:cNvSpPr/>
          <p:nvPr/>
        </p:nvSpPr>
        <p:spPr>
          <a:xfrm>
            <a:off x="548640" y="1737360"/>
            <a:ext cx="109728" cy="914400"/>
          </a:xfrm>
          <a:prstGeom prst="rect">
            <a:avLst/>
          </a:prstGeom>
          <a:solidFill>
            <a:srgbClr val="3E6AE1"/>
          </a:solidFill>
          <a:ln/>
        </p:spPr>
      </p:sp>
      <p:sp>
        <p:nvSpPr>
          <p:cNvPr id="5" name="Text 3"/>
          <p:cNvSpPr/>
          <p:nvPr/>
        </p:nvSpPr>
        <p:spPr>
          <a:xfrm>
            <a:off x="914400" y="1737360"/>
            <a:ext cx="10424160" cy="914400"/>
          </a:xfrm>
          <a:prstGeom prst="rect">
            <a:avLst/>
          </a:prstGeom>
          <a:noFill/>
          <a:ln/>
        </p:spPr>
        <p:txBody>
          <a:bodyPr wrap="square" rtlCol="0" anchor="ctr"/>
          <a:lstStyle/>
          <a:p>
            <a:pPr marL="0" indent="0">
              <a:lnSpc>
                <a:spcPts val="1700"/>
              </a:lnSpc>
              <a:buNone/>
            </a:pPr>
            <a:r>
              <a:rPr lang="en-US" sz="1400" dirty="0">
                <a:solidFill>
                  <a:srgbClr val="222222"/>
                </a:solidFill>
                <a:latin typeface="Calibri" pitchFamily="34" charset="0"/>
                <a:ea typeface="Calibri" pitchFamily="34" charset="-122"/>
                <a:cs typeface="Calibri" pitchFamily="34" charset="-120"/>
              </a:rPr>
              <a:t>Formally assign right of way, removing the informal negotiation that caused delays and near-collisions</a:t>
            </a:r>
            <a:endParaRPr lang="en-US" sz="1400" dirty="0"/>
          </a:p>
        </p:txBody>
      </p:sp>
      <p:sp>
        <p:nvSpPr>
          <p:cNvPr id="6" name="Shape 4"/>
          <p:cNvSpPr/>
          <p:nvPr/>
        </p:nvSpPr>
        <p:spPr>
          <a:xfrm>
            <a:off x="548640" y="2834640"/>
            <a:ext cx="11064240" cy="914400"/>
          </a:xfrm>
          <a:prstGeom prst="roundRect">
            <a:avLst>
              <a:gd name="adj" fmla="val 6000"/>
            </a:avLst>
          </a:prstGeom>
          <a:solidFill>
            <a:srgbClr val="F4F6FC"/>
          </a:solidFill>
          <a:ln/>
        </p:spPr>
      </p:sp>
      <p:sp>
        <p:nvSpPr>
          <p:cNvPr id="7" name="Shape 5"/>
          <p:cNvSpPr/>
          <p:nvPr/>
        </p:nvSpPr>
        <p:spPr>
          <a:xfrm>
            <a:off x="548640" y="2834640"/>
            <a:ext cx="109728" cy="914400"/>
          </a:xfrm>
          <a:prstGeom prst="rect">
            <a:avLst/>
          </a:prstGeom>
          <a:solidFill>
            <a:srgbClr val="3E6AE1"/>
          </a:solidFill>
          <a:ln/>
        </p:spPr>
      </p:sp>
      <p:sp>
        <p:nvSpPr>
          <p:cNvPr id="8" name="Text 6"/>
          <p:cNvSpPr/>
          <p:nvPr/>
        </p:nvSpPr>
        <p:spPr>
          <a:xfrm>
            <a:off x="914400" y="2834640"/>
            <a:ext cx="10424160" cy="914400"/>
          </a:xfrm>
          <a:prstGeom prst="rect">
            <a:avLst/>
          </a:prstGeom>
          <a:noFill/>
          <a:ln/>
        </p:spPr>
        <p:txBody>
          <a:bodyPr wrap="square" rtlCol="0" anchor="ctr"/>
          <a:lstStyle/>
          <a:p>
            <a:pPr marL="0" indent="0">
              <a:lnSpc>
                <a:spcPts val="1700"/>
              </a:lnSpc>
              <a:buNone/>
            </a:pPr>
            <a:r>
              <a:rPr lang="en-US" sz="1400" dirty="0">
                <a:solidFill>
                  <a:srgbClr val="222222"/>
                </a:solidFill>
                <a:latin typeface="Calibri" pitchFamily="34" charset="0"/>
                <a:ea typeface="Calibri" pitchFamily="34" charset="-122"/>
                <a:cs typeface="Calibri" pitchFamily="34" charset="-120"/>
              </a:rPr>
              <a:t>Coordinate vehicle movement with pedestrian crossing phases so rights of way never conflict</a:t>
            </a:r>
            <a:endParaRPr lang="en-US" sz="1400" dirty="0"/>
          </a:p>
        </p:txBody>
      </p:sp>
      <p:sp>
        <p:nvSpPr>
          <p:cNvPr id="9" name="Shape 7"/>
          <p:cNvSpPr/>
          <p:nvPr/>
        </p:nvSpPr>
        <p:spPr>
          <a:xfrm>
            <a:off x="548640" y="3931920"/>
            <a:ext cx="11064240" cy="914400"/>
          </a:xfrm>
          <a:prstGeom prst="roundRect">
            <a:avLst>
              <a:gd name="adj" fmla="val 6000"/>
            </a:avLst>
          </a:prstGeom>
          <a:solidFill>
            <a:srgbClr val="F4F6FC"/>
          </a:solidFill>
          <a:ln/>
        </p:spPr>
      </p:sp>
      <p:sp>
        <p:nvSpPr>
          <p:cNvPr id="10" name="Shape 8"/>
          <p:cNvSpPr/>
          <p:nvPr/>
        </p:nvSpPr>
        <p:spPr>
          <a:xfrm>
            <a:off x="548640" y="3931920"/>
            <a:ext cx="109728" cy="914400"/>
          </a:xfrm>
          <a:prstGeom prst="rect">
            <a:avLst/>
          </a:prstGeom>
          <a:solidFill>
            <a:srgbClr val="3E6AE1"/>
          </a:solidFill>
          <a:ln/>
        </p:spPr>
      </p:sp>
      <p:sp>
        <p:nvSpPr>
          <p:cNvPr id="11" name="Text 9"/>
          <p:cNvSpPr/>
          <p:nvPr/>
        </p:nvSpPr>
        <p:spPr>
          <a:xfrm>
            <a:off x="914400" y="3931920"/>
            <a:ext cx="10424160" cy="914400"/>
          </a:xfrm>
          <a:prstGeom prst="rect">
            <a:avLst/>
          </a:prstGeom>
          <a:noFill/>
          <a:ln/>
        </p:spPr>
        <p:txBody>
          <a:bodyPr wrap="square" rtlCol="0" anchor="ctr"/>
          <a:lstStyle/>
          <a:p>
            <a:pPr marL="0" indent="0">
              <a:lnSpc>
                <a:spcPts val="1700"/>
              </a:lnSpc>
              <a:buNone/>
            </a:pPr>
            <a:r>
              <a:rPr lang="en-US" sz="1400" dirty="0">
                <a:solidFill>
                  <a:srgbClr val="222222"/>
                </a:solidFill>
                <a:latin typeface="Calibri" pitchFamily="34" charset="0"/>
                <a:ea typeface="Calibri" pitchFamily="34" charset="-122"/>
                <a:cs typeface="Calibri" pitchFamily="34" charset="-120"/>
              </a:rPr>
              <a:t>Can be tuned to match real demand on each approach, optimising the flow of traffic</a:t>
            </a:r>
            <a:endParaRPr lang="en-US" sz="1400" dirty="0"/>
          </a:p>
        </p:txBody>
      </p:sp>
      <p:sp>
        <p:nvSpPr>
          <p:cNvPr id="12" name="Shape 10"/>
          <p:cNvSpPr/>
          <p:nvPr/>
        </p:nvSpPr>
        <p:spPr>
          <a:xfrm>
            <a:off x="548640" y="5029200"/>
            <a:ext cx="11064240" cy="914400"/>
          </a:xfrm>
          <a:prstGeom prst="roundRect">
            <a:avLst>
              <a:gd name="adj" fmla="val 6000"/>
            </a:avLst>
          </a:prstGeom>
          <a:solidFill>
            <a:srgbClr val="F4F6FC"/>
          </a:solidFill>
          <a:ln/>
        </p:spPr>
      </p:sp>
      <p:sp>
        <p:nvSpPr>
          <p:cNvPr id="13" name="Shape 11"/>
          <p:cNvSpPr/>
          <p:nvPr/>
        </p:nvSpPr>
        <p:spPr>
          <a:xfrm>
            <a:off x="548640" y="5029200"/>
            <a:ext cx="109728" cy="914400"/>
          </a:xfrm>
          <a:prstGeom prst="rect">
            <a:avLst/>
          </a:prstGeom>
          <a:solidFill>
            <a:srgbClr val="3E6AE1"/>
          </a:solidFill>
          <a:ln/>
        </p:spPr>
      </p:sp>
      <p:sp>
        <p:nvSpPr>
          <p:cNvPr id="14" name="Text 12"/>
          <p:cNvSpPr/>
          <p:nvPr/>
        </p:nvSpPr>
        <p:spPr>
          <a:xfrm>
            <a:off x="914400" y="5029200"/>
            <a:ext cx="10424160" cy="914400"/>
          </a:xfrm>
          <a:prstGeom prst="rect">
            <a:avLst/>
          </a:prstGeom>
          <a:noFill/>
          <a:ln/>
        </p:spPr>
        <p:txBody>
          <a:bodyPr wrap="square" rtlCol="0" anchor="ctr"/>
          <a:lstStyle/>
          <a:p>
            <a:pPr marL="0" indent="0">
              <a:lnSpc>
                <a:spcPts val="1700"/>
              </a:lnSpc>
              <a:buNone/>
            </a:pPr>
            <a:r>
              <a:rPr lang="en-US" sz="1400" dirty="0">
                <a:solidFill>
                  <a:srgbClr val="222222"/>
                </a:solidFill>
                <a:latin typeface="Calibri" pitchFamily="34" charset="0"/>
                <a:ea typeface="Calibri" pitchFamily="34" charset="-122"/>
                <a:cs typeface="Calibri" pitchFamily="34" charset="-120"/>
              </a:rPr>
              <a:t>Create a predictable stop-and-move pattern, reducing sudden braking and gridlock</a:t>
            </a:r>
            <a:endParaRPr lang="en-US" sz="14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Zebra Crossings Were Introduced</a:t>
            </a:r>
            <a:endParaRPr lang="en-US" sz="3000" dirty="0"/>
          </a:p>
        </p:txBody>
      </p:sp>
      <p:sp>
        <p:nvSpPr>
          <p:cNvPr id="3" name="Shape 1"/>
          <p:cNvSpPr/>
          <p:nvPr/>
        </p:nvSpPr>
        <p:spPr>
          <a:xfrm>
            <a:off x="548640" y="1737360"/>
            <a:ext cx="11064240" cy="914400"/>
          </a:xfrm>
          <a:prstGeom prst="roundRect">
            <a:avLst>
              <a:gd name="adj" fmla="val 6000"/>
            </a:avLst>
          </a:prstGeom>
          <a:solidFill>
            <a:srgbClr val="F4F6FC"/>
          </a:solidFill>
          <a:ln/>
        </p:spPr>
      </p:sp>
      <p:sp>
        <p:nvSpPr>
          <p:cNvPr id="4" name="Shape 2"/>
          <p:cNvSpPr/>
          <p:nvPr/>
        </p:nvSpPr>
        <p:spPr>
          <a:xfrm>
            <a:off x="548640" y="1737360"/>
            <a:ext cx="109728" cy="914400"/>
          </a:xfrm>
          <a:prstGeom prst="rect">
            <a:avLst/>
          </a:prstGeom>
          <a:solidFill>
            <a:srgbClr val="5C8A3A"/>
          </a:solidFill>
          <a:ln/>
        </p:spPr>
      </p:sp>
      <p:sp>
        <p:nvSpPr>
          <p:cNvPr id="5" name="Text 3"/>
          <p:cNvSpPr/>
          <p:nvPr/>
        </p:nvSpPr>
        <p:spPr>
          <a:xfrm>
            <a:off x="914400" y="173736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Give pedestrians a clearly marked, predictable place to cross, rather than crossing at random points</a:t>
            </a:r>
            <a:endParaRPr lang="en-US" sz="1600" dirty="0"/>
          </a:p>
        </p:txBody>
      </p:sp>
      <p:sp>
        <p:nvSpPr>
          <p:cNvPr id="6" name="Shape 4"/>
          <p:cNvSpPr/>
          <p:nvPr/>
        </p:nvSpPr>
        <p:spPr>
          <a:xfrm>
            <a:off x="548640" y="2834640"/>
            <a:ext cx="11064240" cy="914400"/>
          </a:xfrm>
          <a:prstGeom prst="roundRect">
            <a:avLst>
              <a:gd name="adj" fmla="val 6000"/>
            </a:avLst>
          </a:prstGeom>
          <a:solidFill>
            <a:srgbClr val="F4F6FC"/>
          </a:solidFill>
          <a:ln/>
        </p:spPr>
      </p:sp>
      <p:sp>
        <p:nvSpPr>
          <p:cNvPr id="7" name="Shape 5"/>
          <p:cNvSpPr/>
          <p:nvPr/>
        </p:nvSpPr>
        <p:spPr>
          <a:xfrm>
            <a:off x="548640" y="2834640"/>
            <a:ext cx="109728" cy="914400"/>
          </a:xfrm>
          <a:prstGeom prst="rect">
            <a:avLst/>
          </a:prstGeom>
          <a:solidFill>
            <a:srgbClr val="5C8A3A"/>
          </a:solidFill>
          <a:ln/>
        </p:spPr>
      </p:sp>
      <p:sp>
        <p:nvSpPr>
          <p:cNvPr id="8" name="Text 6"/>
          <p:cNvSpPr/>
          <p:nvPr/>
        </p:nvSpPr>
        <p:spPr>
          <a:xfrm>
            <a:off x="914400" y="283464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Paired with the pedestrian signal phase, ensure a protected interval to cross safely</a:t>
            </a:r>
            <a:endParaRPr lang="en-US" sz="1600" dirty="0"/>
          </a:p>
        </p:txBody>
      </p:sp>
      <p:sp>
        <p:nvSpPr>
          <p:cNvPr id="9" name="Shape 7"/>
          <p:cNvSpPr/>
          <p:nvPr/>
        </p:nvSpPr>
        <p:spPr>
          <a:xfrm>
            <a:off x="548640" y="3931920"/>
            <a:ext cx="11064240" cy="914400"/>
          </a:xfrm>
          <a:prstGeom prst="roundRect">
            <a:avLst>
              <a:gd name="adj" fmla="val 6000"/>
            </a:avLst>
          </a:prstGeom>
          <a:solidFill>
            <a:srgbClr val="F4F6FC"/>
          </a:solidFill>
          <a:ln/>
        </p:spPr>
      </p:sp>
      <p:sp>
        <p:nvSpPr>
          <p:cNvPr id="10" name="Shape 8"/>
          <p:cNvSpPr/>
          <p:nvPr/>
        </p:nvSpPr>
        <p:spPr>
          <a:xfrm>
            <a:off x="548640" y="3931920"/>
            <a:ext cx="109728" cy="914400"/>
          </a:xfrm>
          <a:prstGeom prst="rect">
            <a:avLst/>
          </a:prstGeom>
          <a:solidFill>
            <a:srgbClr val="5C8A3A"/>
          </a:solidFill>
          <a:ln/>
        </p:spPr>
      </p:sp>
      <p:sp>
        <p:nvSpPr>
          <p:cNvPr id="11" name="Text 9"/>
          <p:cNvSpPr/>
          <p:nvPr/>
        </p:nvSpPr>
        <p:spPr>
          <a:xfrm>
            <a:off x="914400" y="393192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Reflect the residential character of the area and the meaningful volume of daily foot traffic</a:t>
            </a:r>
            <a:endParaRPr lang="en-US" sz="1600" dirty="0"/>
          </a:p>
        </p:txBody>
      </p:sp>
      <p:sp>
        <p:nvSpPr>
          <p:cNvPr id="12" name="Shape 10"/>
          <p:cNvSpPr/>
          <p:nvPr/>
        </p:nvSpPr>
        <p:spPr>
          <a:xfrm>
            <a:off x="548640" y="5029200"/>
            <a:ext cx="11064240" cy="914400"/>
          </a:xfrm>
          <a:prstGeom prst="roundRect">
            <a:avLst>
              <a:gd name="adj" fmla="val 6000"/>
            </a:avLst>
          </a:prstGeom>
          <a:solidFill>
            <a:srgbClr val="F4F6FC"/>
          </a:solidFill>
          <a:ln/>
        </p:spPr>
      </p:sp>
      <p:sp>
        <p:nvSpPr>
          <p:cNvPr id="13" name="Shape 11"/>
          <p:cNvSpPr/>
          <p:nvPr/>
        </p:nvSpPr>
        <p:spPr>
          <a:xfrm>
            <a:off x="548640" y="5029200"/>
            <a:ext cx="109728" cy="914400"/>
          </a:xfrm>
          <a:prstGeom prst="rect">
            <a:avLst/>
          </a:prstGeom>
          <a:solidFill>
            <a:srgbClr val="5C8A3A"/>
          </a:solidFill>
          <a:ln/>
        </p:spPr>
      </p:sp>
      <p:sp>
        <p:nvSpPr>
          <p:cNvPr id="14" name="Text 12"/>
          <p:cNvSpPr/>
          <p:nvPr/>
        </p:nvSpPr>
        <p:spPr>
          <a:xfrm>
            <a:off x="914400" y="5029200"/>
            <a:ext cx="10424160" cy="914400"/>
          </a:xfrm>
          <a:prstGeom prst="rect">
            <a:avLst/>
          </a:prstGeom>
          <a:noFill/>
          <a:ln/>
        </p:spPr>
        <p:txBody>
          <a:bodyPr wrap="square" rtlCol="0" anchor="ctr"/>
          <a:lstStyle/>
          <a:p>
            <a:pPr marL="0" indent="0">
              <a:lnSpc>
                <a:spcPts val="1700"/>
              </a:lnSpc>
              <a:buNone/>
            </a:pPr>
            <a:r>
              <a:rPr lang="en-US" sz="1600" dirty="0">
                <a:solidFill>
                  <a:srgbClr val="222222"/>
                </a:solidFill>
                <a:latin typeface="Calibri" pitchFamily="34" charset="0"/>
                <a:ea typeface="Calibri" pitchFamily="34" charset="-122"/>
                <a:cs typeface="Calibri" pitchFamily="34" charset="-120"/>
              </a:rPr>
              <a:t>Reduce informal, unpredictable crossing behaviour and lower the risk of pedestrian accidents</a:t>
            </a:r>
            <a:endParaRPr lang="en-US" sz="16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Model Architecture</a:t>
            </a:r>
            <a:endParaRPr lang="en-US" sz="3000" dirty="0"/>
          </a:p>
        </p:txBody>
      </p:sp>
      <p:sp>
        <p:nvSpPr>
          <p:cNvPr id="3" name="Text 1"/>
          <p:cNvSpPr/>
          <p:nvPr/>
        </p:nvSpPr>
        <p:spPr>
          <a:xfrm>
            <a:off x="548640" y="987552"/>
            <a:ext cx="1106424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How vehicle and pedestrian agents flow through the model</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2355623982"/>
              </p:ext>
            </p:extLst>
          </p:nvPr>
        </p:nvGraphicFramePr>
        <p:xfrm>
          <a:off x="548640" y="1691640"/>
          <a:ext cx="7315200" cy="3968496"/>
        </p:xfrm>
        <a:graphic>
          <a:graphicData uri="http://schemas.openxmlformats.org/drawingml/2006/table">
            <a:tbl>
              <a:tblPr/>
              <a:tblGrid>
                <a:gridCol w="25603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Function</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carSource / pedSource</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Generate vehicles and pedestrians at each approach into the junction</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selectOutput</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Routes each vehicle onto the correct lane or path</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carMoveTo / pedGoTo</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Moves agents along a defined lane, path, or crossing</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Traffic Light</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Coordinates right of way between vehicle and pedestrian flows</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pedWait</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Holds pedestrians at the kerb until the crossing phase is granted</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4F6FC"/>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222222"/>
                          </a:solidFill>
                          <a:latin typeface="Calibri" pitchFamily="34" charset="0"/>
                          <a:ea typeface="Calibri" pitchFamily="34" charset="-122"/>
                          <a:cs typeface="Calibri" pitchFamily="34" charset="-120"/>
                        </a:rPr>
                        <a:t>carDispose / pedSink</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Calibri" pitchFamily="34" charset="0"/>
                          <a:ea typeface="Calibri" pitchFamily="34" charset="-122"/>
                          <a:cs typeface="Calibri" pitchFamily="34" charset="-120"/>
                        </a:rPr>
                        <a:t>Removes agents from the model once their journey is complete</a:t>
                      </a:r>
                      <a:endParaRPr lang="en-US" sz="1400" dirty="0">
                        <a:latin typeface="Calibri" charset="0"/>
                        <a:ea typeface="Calibri" charset="0"/>
                        <a:cs typeface="Calibri" charset="0"/>
                      </a:endParaRPr>
                    </a:p>
                  </a:txBody>
                  <a:tcPr>
                    <a:lnL w="9525" cap="flat" cmpd="sng" algn="ctr">
                      <a:solidFill>
                        <a:srgbClr val="DADFF0"/>
                      </a:solidFill>
                      <a:prstDash val="solid"/>
                      <a:round/>
                      <a:headEnd type="none" w="med" len="med"/>
                      <a:tailEnd type="none" w="med" len="med"/>
                    </a:lnL>
                    <a:lnR w="9525" cap="flat" cmpd="sng" algn="ctr">
                      <a:solidFill>
                        <a:srgbClr val="DADFF0"/>
                      </a:solidFill>
                      <a:prstDash val="solid"/>
                      <a:round/>
                      <a:headEnd type="none" w="med" len="med"/>
                      <a:tailEnd type="none" w="med" len="med"/>
                    </a:lnR>
                    <a:lnT w="9525" cap="flat" cmpd="sng" algn="ctr">
                      <a:solidFill>
                        <a:srgbClr val="DADFF0"/>
                      </a:solidFill>
                      <a:prstDash val="solid"/>
                      <a:round/>
                      <a:headEnd type="none" w="med" len="med"/>
                      <a:tailEnd type="none" w="med" len="med"/>
                    </a:lnT>
                    <a:lnB w="9525" cap="flat" cmpd="sng" algn="ctr">
                      <a:solidFill>
                        <a:srgbClr val="DADF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pic>
        <p:nvPicPr>
          <p:cNvPr id="5" name="Image 0" descr="/home/claude/report/1785005340229_image.png"/>
          <p:cNvPicPr>
            <a:picLocks noChangeAspect="1"/>
          </p:cNvPicPr>
          <p:nvPr/>
        </p:nvPicPr>
        <p:blipFill>
          <a:blip r:embed="rId3"/>
          <a:stretch>
            <a:fillRect/>
          </a:stretch>
        </p:blipFill>
        <p:spPr>
          <a:xfrm>
            <a:off x="7886928" y="2112525"/>
            <a:ext cx="4203472" cy="2805671"/>
          </a:xfrm>
          <a:prstGeom prst="rect">
            <a:avLst/>
          </a:prstGeom>
        </p:spPr>
      </p:pic>
      <p:sp>
        <p:nvSpPr>
          <p:cNvPr id="6" name="Text 2"/>
          <p:cNvSpPr/>
          <p:nvPr/>
        </p:nvSpPr>
        <p:spPr>
          <a:xfrm>
            <a:off x="8229600" y="5111235"/>
            <a:ext cx="3931920" cy="365760"/>
          </a:xfrm>
          <a:prstGeom prst="rect">
            <a:avLst/>
          </a:prstGeom>
          <a:noFill/>
          <a:ln/>
        </p:spPr>
        <p:txBody>
          <a:bodyPr wrap="square" rtlCol="0" anchor="ctr"/>
          <a:lstStyle/>
          <a:p>
            <a:pPr marL="0" indent="0" algn="ctr">
              <a:buNone/>
            </a:pPr>
            <a:r>
              <a:rPr lang="en-US" sz="1000" i="1" dirty="0">
                <a:solidFill>
                  <a:srgbClr val="6B6B6B"/>
                </a:solidFill>
                <a:latin typeface="Calibri" pitchFamily="34" charset="0"/>
                <a:ea typeface="Calibri" pitchFamily="34" charset="-122"/>
                <a:cs typeface="Calibri" pitchFamily="34" charset="-120"/>
              </a:rPr>
              <a:t>Figure: Process flow of car and pedestrian agents</a:t>
            </a:r>
            <a:endParaRPr lang="en-US" sz="1000" dirty="0"/>
          </a:p>
        </p:txBody>
      </p:sp>
      <p:sp>
        <p:nvSpPr>
          <p:cNvPr id="7" name="Text 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8" name="Text 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685800"/>
          </a:xfrm>
          <a:prstGeom prst="rect">
            <a:avLst/>
          </a:prstGeom>
          <a:noFill/>
        </p:spPr>
        <p:txBody>
          <a:bodyPr wrap="square" lIns="0" tIns="0" rIns="0" bIns="0">
            <a:spAutoFit/>
          </a:bodyPr>
          <a:lstStyle/>
          <a:p>
            <a:pPr algn="l"/>
            <a:r>
              <a:rPr sz="3000" b="1" i="0" dirty="0">
                <a:solidFill>
                  <a:srgbClr val="1E2761"/>
                </a:solidFill>
                <a:latin typeface="Cambria"/>
              </a:rPr>
              <a:t>Model Verification and Validation</a:t>
            </a:r>
          </a:p>
        </p:txBody>
      </p:sp>
      <p:sp>
        <p:nvSpPr>
          <p:cNvPr id="4" name="TextBox 3"/>
          <p:cNvSpPr txBox="1"/>
          <p:nvPr/>
        </p:nvSpPr>
        <p:spPr>
          <a:xfrm>
            <a:off x="548640" y="987552"/>
            <a:ext cx="11064240" cy="365760"/>
          </a:xfrm>
          <a:prstGeom prst="rect">
            <a:avLst/>
          </a:prstGeom>
          <a:noFill/>
        </p:spPr>
        <p:txBody>
          <a:bodyPr wrap="square" lIns="0" tIns="0" rIns="0" bIns="0">
            <a:spAutoFit/>
          </a:bodyPr>
          <a:lstStyle/>
          <a:p>
            <a:pPr algn="l"/>
            <a:r>
              <a:rPr sz="1400" b="0" i="1" dirty="0">
                <a:solidFill>
                  <a:srgbClr val="6B6B6B"/>
                </a:solidFill>
                <a:latin typeface="Calibri"/>
              </a:rPr>
              <a:t>Confirming the model was built correctly, and that it credibly represents the real junction</a:t>
            </a:r>
          </a:p>
        </p:txBody>
      </p:sp>
      <p:sp>
        <p:nvSpPr>
          <p:cNvPr id="5" name="Rounded Rectangle 4"/>
          <p:cNvSpPr/>
          <p:nvPr/>
        </p:nvSpPr>
        <p:spPr>
          <a:xfrm>
            <a:off x="548640" y="1737360"/>
            <a:ext cx="5349240" cy="68580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47088"/>
            <a:ext cx="4892040" cy="230832"/>
          </a:xfrm>
          <a:prstGeom prst="rect">
            <a:avLst/>
          </a:prstGeom>
          <a:noFill/>
        </p:spPr>
        <p:txBody>
          <a:bodyPr wrap="square" lIns="0" tIns="0" rIns="0" bIns="0">
            <a:spAutoFit/>
          </a:bodyPr>
          <a:lstStyle/>
          <a:p>
            <a:pPr algn="l"/>
            <a:r>
              <a:rPr sz="1500" b="1" i="0" dirty="0">
                <a:solidFill>
                  <a:srgbClr val="FFFFFF"/>
                </a:solidFill>
                <a:latin typeface="Cambria"/>
              </a:rPr>
              <a:t>Verification </a:t>
            </a:r>
            <a:r>
              <a:rPr lang="en-US" sz="1500" b="1" i="0" dirty="0">
                <a:solidFill>
                  <a:srgbClr val="FFFFFF"/>
                </a:solidFill>
                <a:latin typeface="Cambria"/>
              </a:rPr>
              <a:t>-</a:t>
            </a:r>
            <a:r>
              <a:rPr sz="1500" b="1" i="0" dirty="0">
                <a:solidFill>
                  <a:srgbClr val="FFFFFF"/>
                </a:solidFill>
                <a:latin typeface="Cambria"/>
              </a:rPr>
              <a:t> “Building the Model Right”</a:t>
            </a:r>
          </a:p>
        </p:txBody>
      </p:sp>
      <p:sp>
        <p:nvSpPr>
          <p:cNvPr id="7" name="TextBox 6"/>
          <p:cNvSpPr txBox="1"/>
          <p:nvPr/>
        </p:nvSpPr>
        <p:spPr>
          <a:xfrm>
            <a:off x="594360" y="2560320"/>
            <a:ext cx="5257800" cy="4206240"/>
          </a:xfrm>
          <a:prstGeom prst="rect">
            <a:avLst/>
          </a:prstGeom>
          <a:noFill/>
        </p:spPr>
        <p:txBody>
          <a:bodyPr wrap="square">
            <a:spAutoFit/>
          </a:bodyPr>
          <a:lstStyle/>
          <a:p>
            <a:pPr>
              <a:spcAft>
                <a:spcPts val="1000"/>
              </a:spcAft>
            </a:pPr>
            <a:r>
              <a:rPr sz="1250" dirty="0">
                <a:solidFill>
                  <a:srgbClr val="222222"/>
                </a:solidFill>
                <a:latin typeface="Calibri"/>
              </a:rPr>
              <a:t>•  Stepped through the model at reduced speed to trace vehicles and pedestrians through every block</a:t>
            </a:r>
          </a:p>
          <a:p>
            <a:pPr>
              <a:spcAft>
                <a:spcPts val="1000"/>
              </a:spcAft>
            </a:pPr>
            <a:r>
              <a:rPr sz="1250" dirty="0">
                <a:solidFill>
                  <a:srgbClr val="222222"/>
                </a:solidFill>
                <a:latin typeface="Calibri"/>
              </a:rPr>
              <a:t>•  Cross-checked the process flow diagram against the actual </a:t>
            </a:r>
            <a:r>
              <a:rPr sz="1250" dirty="0" err="1">
                <a:solidFill>
                  <a:srgbClr val="222222"/>
                </a:solidFill>
                <a:latin typeface="Calibri"/>
              </a:rPr>
              <a:t>AnyLogic</a:t>
            </a:r>
            <a:r>
              <a:rPr sz="1250" dirty="0">
                <a:solidFill>
                  <a:srgbClr val="222222"/>
                </a:solidFill>
                <a:latin typeface="Calibri"/>
              </a:rPr>
              <a:t> model, block by block</a:t>
            </a:r>
          </a:p>
          <a:p>
            <a:pPr>
              <a:spcAft>
                <a:spcPts val="1000"/>
              </a:spcAft>
            </a:pPr>
            <a:r>
              <a:rPr sz="1250" dirty="0">
                <a:solidFill>
                  <a:srgbClr val="222222"/>
                </a:solidFill>
                <a:latin typeface="Calibri"/>
              </a:rPr>
              <a:t>•  Confirmed every generated agent was eventually removed at its dispose or sink block, with none lost or stuck</a:t>
            </a:r>
          </a:p>
          <a:p>
            <a:pPr>
              <a:spcAft>
                <a:spcPts val="1000"/>
              </a:spcAft>
            </a:pPr>
            <a:r>
              <a:rPr sz="1250" dirty="0">
                <a:solidFill>
                  <a:srgbClr val="222222"/>
                </a:solidFill>
                <a:latin typeface="Calibri"/>
              </a:rPr>
              <a:t>•  Checked that </a:t>
            </a:r>
            <a:r>
              <a:rPr sz="1250" dirty="0" err="1">
                <a:solidFill>
                  <a:srgbClr val="222222"/>
                </a:solidFill>
                <a:latin typeface="Calibri"/>
              </a:rPr>
              <a:t>selectOutput</a:t>
            </a:r>
            <a:r>
              <a:rPr sz="1250" dirty="0">
                <a:solidFill>
                  <a:srgbClr val="222222"/>
                </a:solidFill>
                <a:latin typeface="Calibri"/>
              </a:rPr>
              <a:t> routing probabilities sent vehicles onto the correct lanes as intended</a:t>
            </a:r>
          </a:p>
          <a:p>
            <a:pPr>
              <a:spcAft>
                <a:spcPts val="1000"/>
              </a:spcAft>
            </a:pPr>
            <a:r>
              <a:rPr sz="1250" dirty="0">
                <a:solidFill>
                  <a:srgbClr val="222222"/>
                </a:solidFill>
                <a:latin typeface="Calibri"/>
              </a:rPr>
              <a:t>•  Verified traffic light phase timings matched configured values, with no conflicting phases active together</a:t>
            </a:r>
          </a:p>
        </p:txBody>
      </p:sp>
      <p:sp>
        <p:nvSpPr>
          <p:cNvPr id="8" name="Rounded Rectangle 7"/>
          <p:cNvSpPr/>
          <p:nvPr/>
        </p:nvSpPr>
        <p:spPr>
          <a:xfrm>
            <a:off x="6263640" y="1737360"/>
            <a:ext cx="5349240" cy="685800"/>
          </a:xfrm>
          <a:prstGeom prst="roundRect">
            <a:avLst>
              <a:gd name="adj" fmla="val 8000"/>
            </a:avLst>
          </a:prstGeom>
          <a:solidFill>
            <a:srgbClr val="3E6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47088"/>
            <a:ext cx="4892040" cy="230832"/>
          </a:xfrm>
          <a:prstGeom prst="rect">
            <a:avLst/>
          </a:prstGeom>
          <a:noFill/>
        </p:spPr>
        <p:txBody>
          <a:bodyPr wrap="square" lIns="0" tIns="0" rIns="0" bIns="0">
            <a:spAutoFit/>
          </a:bodyPr>
          <a:lstStyle/>
          <a:p>
            <a:pPr algn="l"/>
            <a:r>
              <a:rPr sz="1500" b="1" i="0" dirty="0">
                <a:solidFill>
                  <a:srgbClr val="FFFFFF"/>
                </a:solidFill>
                <a:latin typeface="Cambria"/>
              </a:rPr>
              <a:t>Validation </a:t>
            </a:r>
            <a:r>
              <a:rPr lang="en-US" sz="1500" b="1" i="0" dirty="0">
                <a:solidFill>
                  <a:srgbClr val="FFFFFF"/>
                </a:solidFill>
                <a:latin typeface="Cambria"/>
              </a:rPr>
              <a:t>-</a:t>
            </a:r>
            <a:r>
              <a:rPr sz="1500" b="1" i="0" dirty="0">
                <a:solidFill>
                  <a:srgbClr val="FFFFFF"/>
                </a:solidFill>
                <a:latin typeface="Cambria"/>
              </a:rPr>
              <a:t> “Building the Right Model”</a:t>
            </a:r>
          </a:p>
        </p:txBody>
      </p:sp>
      <p:sp>
        <p:nvSpPr>
          <p:cNvPr id="10" name="TextBox 9"/>
          <p:cNvSpPr txBox="1"/>
          <p:nvPr/>
        </p:nvSpPr>
        <p:spPr>
          <a:xfrm>
            <a:off x="6309359" y="2560320"/>
            <a:ext cx="5257800" cy="4206240"/>
          </a:xfrm>
          <a:prstGeom prst="rect">
            <a:avLst/>
          </a:prstGeom>
          <a:noFill/>
        </p:spPr>
        <p:txBody>
          <a:bodyPr wrap="square">
            <a:spAutoFit/>
          </a:bodyPr>
          <a:lstStyle/>
          <a:p>
            <a:pPr>
              <a:spcAft>
                <a:spcPts val="1000"/>
              </a:spcAft>
            </a:pPr>
            <a:r>
              <a:rPr sz="1250">
                <a:solidFill>
                  <a:srgbClr val="222222"/>
                </a:solidFill>
                <a:latin typeface="Calibri"/>
              </a:rPr>
              <a:t>•  Face validation: compared the AnyLogic 2D/3D layout against real satellite images and site photographs</a:t>
            </a:r>
          </a:p>
          <a:p>
            <a:pPr>
              <a:spcAft>
                <a:spcPts val="1000"/>
              </a:spcAft>
            </a:pPr>
            <a:r>
              <a:rPr sz="1250">
                <a:solidFill>
                  <a:srgbClr val="222222"/>
                </a:solidFill>
                <a:latin typeface="Calibri"/>
              </a:rPr>
              <a:t>•  Group members familiar with the junction confirmed the simulated congestion and pedestrian patterns were realistic</a:t>
            </a:r>
          </a:p>
          <a:p>
            <a:pPr>
              <a:spcAft>
                <a:spcPts val="1000"/>
              </a:spcAft>
            </a:pPr>
            <a:r>
              <a:rPr sz="1250">
                <a:solidFill>
                  <a:srgbClr val="222222"/>
                </a:solidFill>
                <a:latin typeface="Calibri"/>
              </a:rPr>
              <a:t>•  Extreme condition tests: very low and very high arrival rates produced logically consistent free flow and queuing</a:t>
            </a:r>
          </a:p>
          <a:p>
            <a:pPr>
              <a:spcAft>
                <a:spcPts val="1000"/>
              </a:spcAft>
            </a:pPr>
            <a:r>
              <a:rPr sz="1250">
                <a:solidFill>
                  <a:srgbClr val="222222"/>
                </a:solidFill>
                <a:latin typeface="Calibri"/>
              </a:rPr>
              <a:t>•  Sensitivity checks: adjusting signal phase durations changed queue lengths and waits in the expected direction</a:t>
            </a:r>
          </a:p>
          <a:p>
            <a:pPr>
              <a:spcAft>
                <a:spcPts val="1000"/>
              </a:spcAft>
            </a:pPr>
            <a:r>
              <a:rPr sz="1250">
                <a:solidFill>
                  <a:srgbClr val="222222"/>
                </a:solidFill>
                <a:latin typeface="Calibri"/>
              </a:rPr>
              <a:t>•  Full validation remains partial until the redesign is built and compared against real traffic data</a:t>
            </a:r>
          </a:p>
        </p:txBody>
      </p:sp>
      <p:sp>
        <p:nvSpPr>
          <p:cNvPr id="11" name="TextBox 10"/>
          <p:cNvSpPr txBox="1"/>
          <p:nvPr/>
        </p:nvSpPr>
        <p:spPr>
          <a:xfrm>
            <a:off x="457200" y="6537960"/>
            <a:ext cx="7315200" cy="138499"/>
          </a:xfrm>
          <a:prstGeom prst="rect">
            <a:avLst/>
          </a:prstGeom>
          <a:noFill/>
        </p:spPr>
        <p:txBody>
          <a:bodyPr wrap="square" lIns="0" tIns="0" rIns="0" bIns="0">
            <a:spAutoFit/>
          </a:bodyPr>
          <a:lstStyle/>
          <a:p>
            <a:pPr algn="l"/>
            <a:r>
              <a:rPr sz="900" b="0" i="0" dirty="0" err="1">
                <a:solidFill>
                  <a:srgbClr val="6B6B6B"/>
                </a:solidFill>
                <a:latin typeface="Calibri"/>
              </a:rPr>
              <a:t>Terbrebie</a:t>
            </a:r>
            <a:r>
              <a:rPr sz="900" b="0" i="0" dirty="0">
                <a:solidFill>
                  <a:srgbClr val="6B6B6B"/>
                </a:solidFill>
                <a:latin typeface="Calibri"/>
              </a:rPr>
              <a:t> Junction </a:t>
            </a:r>
            <a:r>
              <a:rPr lang="en-US" sz="900" b="0" i="0" dirty="0">
                <a:solidFill>
                  <a:srgbClr val="6B6B6B"/>
                </a:solidFill>
                <a:latin typeface="Calibri"/>
              </a:rPr>
              <a:t>-</a:t>
            </a:r>
            <a:r>
              <a:rPr sz="900" b="0" i="0" dirty="0">
                <a:solidFill>
                  <a:srgbClr val="6B6B6B"/>
                </a:solidFill>
                <a:latin typeface="Calibri"/>
              </a:rPr>
              <a:t> CY378 Simulation and Modeling</a:t>
            </a:r>
          </a:p>
        </p:txBody>
      </p:sp>
      <p:sp>
        <p:nvSpPr>
          <p:cNvPr id="12" name="TextBox 11"/>
          <p:cNvSpPr txBox="1"/>
          <p:nvPr/>
        </p:nvSpPr>
        <p:spPr>
          <a:xfrm>
            <a:off x="11430000" y="6537960"/>
            <a:ext cx="365760" cy="274320"/>
          </a:xfrm>
          <a:prstGeom prst="rect">
            <a:avLst/>
          </a:prstGeom>
          <a:noFill/>
        </p:spPr>
        <p:txBody>
          <a:bodyPr wrap="square" lIns="0" tIns="0" rIns="0" bIns="0">
            <a:spAutoFit/>
          </a:bodyPr>
          <a:lstStyle/>
          <a:p>
            <a:pPr algn="r"/>
            <a:r>
              <a:rPr sz="900" b="0" i="0">
                <a:solidFill>
                  <a:srgbClr val="6B6B6B"/>
                </a:solidFill>
                <a:latin typeface="Calibri"/>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Economic Implications</a:t>
            </a:r>
            <a:endParaRPr lang="en-US" sz="3000" dirty="0"/>
          </a:p>
        </p:txBody>
      </p:sp>
      <p:sp>
        <p:nvSpPr>
          <p:cNvPr id="3" name="Shape 1"/>
          <p:cNvSpPr/>
          <p:nvPr/>
        </p:nvSpPr>
        <p:spPr>
          <a:xfrm>
            <a:off x="548640" y="1828800"/>
            <a:ext cx="2697480" cy="3566160"/>
          </a:xfrm>
          <a:prstGeom prst="roundRect">
            <a:avLst>
              <a:gd name="adj" fmla="val 2712"/>
            </a:avLst>
          </a:prstGeom>
          <a:solidFill>
            <a:srgbClr val="1E2761"/>
          </a:solidFill>
          <a:ln/>
        </p:spPr>
      </p:sp>
      <p:sp>
        <p:nvSpPr>
          <p:cNvPr id="4" name="Text 2"/>
          <p:cNvSpPr/>
          <p:nvPr/>
        </p:nvSpPr>
        <p:spPr>
          <a:xfrm>
            <a:off x="77724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Capital &amp; Operational Expenditure (Infrastructure Costs)</a:t>
            </a:r>
            <a:endParaRPr lang="en-US" sz="1550" dirty="0"/>
          </a:p>
        </p:txBody>
      </p:sp>
      <p:sp>
        <p:nvSpPr>
          <p:cNvPr id="5" name="Text 3"/>
          <p:cNvSpPr/>
          <p:nvPr/>
        </p:nvSpPr>
        <p:spPr>
          <a:xfrm>
            <a:off x="777240" y="2788920"/>
            <a:ext cx="2240280" cy="2468880"/>
          </a:xfrm>
          <a:prstGeom prst="rect">
            <a:avLst/>
          </a:prstGeom>
          <a:noFill/>
          <a:ln/>
        </p:spPr>
        <p:txBody>
          <a:bodyPr wrap="square" rtlCol="0" anchor="ctr"/>
          <a:lstStyle/>
          <a:p>
            <a:pPr marL="0" indent="0">
              <a:lnSpc>
                <a:spcPts val="1600"/>
              </a:lnSpc>
              <a:buNone/>
            </a:pPr>
            <a:r>
              <a:rPr lang="en-US" sz="1400" dirty="0">
                <a:solidFill>
                  <a:srgbClr val="CADCFC"/>
                </a:solidFill>
                <a:latin typeface="Times New Roman" panose="02020603050405020304" pitchFamily="18" charset="0"/>
                <a:ea typeface="Calibri" pitchFamily="34" charset="-122"/>
                <a:cs typeface="Times New Roman" panose="02020603050405020304" pitchFamily="18" charset="0"/>
              </a:rPr>
              <a:t>Upfront capital costs must be met by local government or road authorities, but these costs are typical amortized over a 15 to 20-year design life, keeping annual costs modest relative to overall construction figures.</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3474720" y="1828800"/>
            <a:ext cx="2697480" cy="3566160"/>
          </a:xfrm>
          <a:prstGeom prst="roundRect">
            <a:avLst>
              <a:gd name="adj" fmla="val 2712"/>
            </a:avLst>
          </a:prstGeom>
          <a:solidFill>
            <a:srgbClr val="1E2761"/>
          </a:solidFill>
          <a:ln/>
        </p:spPr>
      </p:sp>
      <p:sp>
        <p:nvSpPr>
          <p:cNvPr id="7" name="Text 5"/>
          <p:cNvSpPr/>
          <p:nvPr/>
        </p:nvSpPr>
        <p:spPr>
          <a:xfrm>
            <a:off x="370332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Travel Time &amp; Congestion Savings</a:t>
            </a:r>
            <a:endParaRPr lang="en-US" sz="1550" dirty="0"/>
          </a:p>
        </p:txBody>
      </p:sp>
      <p:sp>
        <p:nvSpPr>
          <p:cNvPr id="8" name="Text 6"/>
          <p:cNvSpPr/>
          <p:nvPr/>
        </p:nvSpPr>
        <p:spPr>
          <a:xfrm>
            <a:off x="370332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The most immediate and directly quantifiable benefit is the reduction in vehicle delay</a:t>
            </a:r>
            <a:endParaRPr lang="en-US" sz="1600" dirty="0"/>
          </a:p>
        </p:txBody>
      </p:sp>
      <p:sp>
        <p:nvSpPr>
          <p:cNvPr id="9" name="Shape 7"/>
          <p:cNvSpPr/>
          <p:nvPr/>
        </p:nvSpPr>
        <p:spPr>
          <a:xfrm>
            <a:off x="6400800" y="1828800"/>
            <a:ext cx="2697480" cy="3566160"/>
          </a:xfrm>
          <a:prstGeom prst="roundRect">
            <a:avLst>
              <a:gd name="adj" fmla="val 2712"/>
            </a:avLst>
          </a:prstGeom>
          <a:solidFill>
            <a:srgbClr val="1E2761"/>
          </a:solidFill>
          <a:ln/>
        </p:spPr>
      </p:sp>
      <p:sp>
        <p:nvSpPr>
          <p:cNvPr id="10" name="Text 8"/>
          <p:cNvSpPr/>
          <p:nvPr/>
        </p:nvSpPr>
        <p:spPr>
          <a:xfrm>
            <a:off x="662940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Accident Cost Reduction</a:t>
            </a:r>
            <a:endParaRPr lang="en-US" sz="1550" dirty="0"/>
          </a:p>
        </p:txBody>
      </p:sp>
      <p:sp>
        <p:nvSpPr>
          <p:cNvPr id="11" name="Text 9"/>
          <p:cNvSpPr/>
          <p:nvPr/>
        </p:nvSpPr>
        <p:spPr>
          <a:xfrm>
            <a:off x="662940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Road accidents impose high monetary costs on households, emergency services, healthcare facilities, and insurance systems. Safety is improved through three mechanisms.</a:t>
            </a:r>
            <a:endParaRPr lang="en-US" sz="1600" dirty="0"/>
          </a:p>
        </p:txBody>
      </p:sp>
      <p:sp>
        <p:nvSpPr>
          <p:cNvPr id="12" name="Shape 10"/>
          <p:cNvSpPr/>
          <p:nvPr/>
        </p:nvSpPr>
        <p:spPr>
          <a:xfrm>
            <a:off x="9326880" y="1828800"/>
            <a:ext cx="2697480" cy="3566160"/>
          </a:xfrm>
          <a:prstGeom prst="roundRect">
            <a:avLst>
              <a:gd name="adj" fmla="val 2712"/>
            </a:avLst>
          </a:prstGeom>
          <a:solidFill>
            <a:srgbClr val="1E2761"/>
          </a:solidFill>
          <a:ln/>
        </p:spPr>
      </p:sp>
      <p:sp>
        <p:nvSpPr>
          <p:cNvPr id="13" name="Text 11"/>
          <p:cNvSpPr/>
          <p:nvPr/>
        </p:nvSpPr>
        <p:spPr>
          <a:xfrm>
            <a:off x="955548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Economic Development &amp; Land-Use Secondary Effects</a:t>
            </a:r>
            <a:endParaRPr lang="en-US" sz="1550" dirty="0"/>
          </a:p>
        </p:txBody>
      </p:sp>
      <p:sp>
        <p:nvSpPr>
          <p:cNvPr id="14" name="Text 12"/>
          <p:cNvSpPr/>
          <p:nvPr/>
        </p:nvSpPr>
        <p:spPr>
          <a:xfrm>
            <a:off x="955548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Reduced congestion and safer walking access boost customer visits to nearby small businesses and informal traders</a:t>
            </a:r>
            <a:endParaRPr lang="en-US" sz="16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extLst>
      <p:ext uri="{BB962C8B-B14F-4D97-AF65-F5344CB8AC3E}">
        <p14:creationId xmlns:p14="http://schemas.microsoft.com/office/powerpoint/2010/main" val="836647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41B49"/>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Redesigned Junction - 2D Layout</a:t>
            </a:r>
            <a:endParaRPr lang="en-US" sz="28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Double lanes, traffic lights, and marked pedestrian crossings</a:t>
            </a:r>
            <a:endParaRPr lang="en-US" sz="1400" dirty="0"/>
          </a:p>
        </p:txBody>
      </p:sp>
      <p:sp>
        <p:nvSpPr>
          <p:cNvPr id="4" name="Shape 2"/>
          <p:cNvSpPr/>
          <p:nvPr/>
        </p:nvSpPr>
        <p:spPr>
          <a:xfrm>
            <a:off x="3418694" y="1325880"/>
            <a:ext cx="5351565" cy="5212080"/>
          </a:xfrm>
          <a:prstGeom prst="roundRect">
            <a:avLst>
              <a:gd name="adj" fmla="val 877"/>
            </a:avLst>
          </a:prstGeom>
          <a:solidFill>
            <a:srgbClr val="FFFFFF"/>
          </a:solidFill>
          <a:ln/>
        </p:spPr>
      </p:sp>
      <p:pic>
        <p:nvPicPr>
          <p:cNvPr id="5" name="Image 0" descr="/home/claude/report/1785005342868_image.png"/>
          <p:cNvPicPr>
            <a:picLocks noChangeAspect="1"/>
          </p:cNvPicPr>
          <p:nvPr/>
        </p:nvPicPr>
        <p:blipFill>
          <a:blip r:embed="rId3"/>
          <a:stretch>
            <a:fillRect/>
          </a:stretch>
        </p:blipFill>
        <p:spPr>
          <a:xfrm>
            <a:off x="3555854" y="1463040"/>
            <a:ext cx="5077245" cy="4937760"/>
          </a:xfrm>
          <a:prstGeom prst="rect">
            <a:avLst/>
          </a:prstGeom>
        </p:spPr>
      </p:pic>
      <p:sp>
        <p:nvSpPr>
          <p:cNvPr id="6" name="Text 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FB2E0"/>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FB2E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141B49"/>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Redesigned Junction - 3D Simulation View</a:t>
            </a:r>
            <a:endParaRPr lang="en-US" sz="2800" dirty="0"/>
          </a:p>
        </p:txBody>
      </p:sp>
      <p:sp>
        <p:nvSpPr>
          <p:cNvPr id="3" name="Text 1"/>
          <p:cNvSpPr/>
          <p:nvPr/>
        </p:nvSpPr>
        <p:spPr>
          <a:xfrm>
            <a:off x="548640" y="960120"/>
            <a:ext cx="1106424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Vehicles and pedestrians moving through the improved layout during a simulation run</a:t>
            </a:r>
            <a:endParaRPr lang="en-US" sz="1400" dirty="0"/>
          </a:p>
        </p:txBody>
      </p:sp>
      <p:sp>
        <p:nvSpPr>
          <p:cNvPr id="4" name="Shape 2"/>
          <p:cNvSpPr/>
          <p:nvPr/>
        </p:nvSpPr>
        <p:spPr>
          <a:xfrm>
            <a:off x="1110996" y="1463040"/>
            <a:ext cx="9966960" cy="8074021"/>
          </a:xfrm>
          <a:prstGeom prst="roundRect">
            <a:avLst>
              <a:gd name="adj" fmla="val 566"/>
            </a:avLst>
          </a:prstGeom>
          <a:solidFill>
            <a:srgbClr val="FFFFFF"/>
          </a:solidFill>
          <a:ln/>
        </p:spPr>
      </p:sp>
      <p:pic>
        <p:nvPicPr>
          <p:cNvPr id="5" name="Image 0" descr="/home/claude/report/1785005345963_image.png"/>
          <p:cNvPicPr>
            <a:picLocks noChangeAspect="1"/>
          </p:cNvPicPr>
          <p:nvPr/>
        </p:nvPicPr>
        <p:blipFill>
          <a:blip r:embed="rId3"/>
          <a:stretch>
            <a:fillRect/>
          </a:stretch>
        </p:blipFill>
        <p:spPr>
          <a:xfrm>
            <a:off x="1248156" y="1600200"/>
            <a:ext cx="9692640" cy="7799701"/>
          </a:xfrm>
          <a:prstGeom prst="rect">
            <a:avLst/>
          </a:prstGeom>
        </p:spPr>
      </p:pic>
      <p:sp>
        <p:nvSpPr>
          <p:cNvPr id="6" name="Text 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9FB2E0"/>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9FB2E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Expected Outcomes and Benefits</a:t>
            </a:r>
            <a:endParaRPr lang="en-US" sz="3000" dirty="0"/>
          </a:p>
        </p:txBody>
      </p:sp>
      <p:sp>
        <p:nvSpPr>
          <p:cNvPr id="3" name="Shape 1"/>
          <p:cNvSpPr/>
          <p:nvPr/>
        </p:nvSpPr>
        <p:spPr>
          <a:xfrm>
            <a:off x="548640" y="1828800"/>
            <a:ext cx="2697480" cy="3566160"/>
          </a:xfrm>
          <a:prstGeom prst="roundRect">
            <a:avLst>
              <a:gd name="adj" fmla="val 2712"/>
            </a:avLst>
          </a:prstGeom>
          <a:solidFill>
            <a:srgbClr val="1E2761"/>
          </a:solidFill>
          <a:ln/>
        </p:spPr>
      </p:sp>
      <p:sp>
        <p:nvSpPr>
          <p:cNvPr id="4" name="Text 2"/>
          <p:cNvSpPr/>
          <p:nvPr/>
        </p:nvSpPr>
        <p:spPr>
          <a:xfrm>
            <a:off x="77724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Less Congestion</a:t>
            </a:r>
            <a:endParaRPr lang="en-US" sz="1550" dirty="0"/>
          </a:p>
        </p:txBody>
      </p:sp>
      <p:sp>
        <p:nvSpPr>
          <p:cNvPr id="5" name="Text 3"/>
          <p:cNvSpPr/>
          <p:nvPr/>
        </p:nvSpPr>
        <p:spPr>
          <a:xfrm>
            <a:off x="77724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Reduced vehicle queuing from added lane capacity and separated turning traffic</a:t>
            </a:r>
            <a:endParaRPr lang="en-US" sz="1600" dirty="0"/>
          </a:p>
        </p:txBody>
      </p:sp>
      <p:sp>
        <p:nvSpPr>
          <p:cNvPr id="6" name="Shape 4"/>
          <p:cNvSpPr/>
          <p:nvPr/>
        </p:nvSpPr>
        <p:spPr>
          <a:xfrm>
            <a:off x="3474720" y="1828800"/>
            <a:ext cx="2697480" cy="3566160"/>
          </a:xfrm>
          <a:prstGeom prst="roundRect">
            <a:avLst>
              <a:gd name="adj" fmla="val 2712"/>
            </a:avLst>
          </a:prstGeom>
          <a:solidFill>
            <a:srgbClr val="1E2761"/>
          </a:solidFill>
          <a:ln/>
        </p:spPr>
      </p:sp>
      <p:sp>
        <p:nvSpPr>
          <p:cNvPr id="7" name="Text 5"/>
          <p:cNvSpPr/>
          <p:nvPr/>
        </p:nvSpPr>
        <p:spPr>
          <a:xfrm>
            <a:off x="370332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Orderly Flow</a:t>
            </a:r>
            <a:endParaRPr lang="en-US" sz="1550" dirty="0"/>
          </a:p>
        </p:txBody>
      </p:sp>
      <p:sp>
        <p:nvSpPr>
          <p:cNvPr id="8" name="Text 6"/>
          <p:cNvSpPr/>
          <p:nvPr/>
        </p:nvSpPr>
        <p:spPr>
          <a:xfrm>
            <a:off x="370332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Predictable traffic movement from signal control replacing informal right of way</a:t>
            </a:r>
            <a:endParaRPr lang="en-US" sz="1600" dirty="0"/>
          </a:p>
        </p:txBody>
      </p:sp>
      <p:sp>
        <p:nvSpPr>
          <p:cNvPr id="9" name="Shape 7"/>
          <p:cNvSpPr/>
          <p:nvPr/>
        </p:nvSpPr>
        <p:spPr>
          <a:xfrm>
            <a:off x="6400800" y="1828800"/>
            <a:ext cx="2697480" cy="3566160"/>
          </a:xfrm>
          <a:prstGeom prst="roundRect">
            <a:avLst>
              <a:gd name="adj" fmla="val 2712"/>
            </a:avLst>
          </a:prstGeom>
          <a:solidFill>
            <a:srgbClr val="1E2761"/>
          </a:solidFill>
          <a:ln/>
        </p:spPr>
      </p:sp>
      <p:sp>
        <p:nvSpPr>
          <p:cNvPr id="10" name="Text 8"/>
          <p:cNvSpPr/>
          <p:nvPr/>
        </p:nvSpPr>
        <p:spPr>
          <a:xfrm>
            <a:off x="662940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Safer Crossings</a:t>
            </a:r>
            <a:endParaRPr lang="en-US" sz="1550" dirty="0"/>
          </a:p>
        </p:txBody>
      </p:sp>
      <p:sp>
        <p:nvSpPr>
          <p:cNvPr id="11" name="Text 9"/>
          <p:cNvSpPr/>
          <p:nvPr/>
        </p:nvSpPr>
        <p:spPr>
          <a:xfrm>
            <a:off x="662940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Improved pedestrian safety through crossings coordinated with signal phases</a:t>
            </a:r>
            <a:endParaRPr lang="en-US" sz="1600" dirty="0"/>
          </a:p>
        </p:txBody>
      </p:sp>
      <p:sp>
        <p:nvSpPr>
          <p:cNvPr id="12" name="Shape 10"/>
          <p:cNvSpPr/>
          <p:nvPr/>
        </p:nvSpPr>
        <p:spPr>
          <a:xfrm>
            <a:off x="9326880" y="1828800"/>
            <a:ext cx="2697480" cy="3566160"/>
          </a:xfrm>
          <a:prstGeom prst="roundRect">
            <a:avLst>
              <a:gd name="adj" fmla="val 2712"/>
            </a:avLst>
          </a:prstGeom>
          <a:solidFill>
            <a:srgbClr val="1E2761"/>
          </a:solidFill>
          <a:ln/>
        </p:spPr>
      </p:sp>
      <p:sp>
        <p:nvSpPr>
          <p:cNvPr id="13" name="Text 11"/>
          <p:cNvSpPr/>
          <p:nvPr/>
        </p:nvSpPr>
        <p:spPr>
          <a:xfrm>
            <a:off x="9555480" y="2103120"/>
            <a:ext cx="2240280" cy="640080"/>
          </a:xfrm>
          <a:prstGeom prst="rect">
            <a:avLst/>
          </a:prstGeom>
          <a:noFill/>
          <a:ln/>
        </p:spPr>
        <p:txBody>
          <a:bodyPr wrap="square" rtlCol="0" anchor="ctr"/>
          <a:lstStyle/>
          <a:p>
            <a:pPr marL="0" indent="0">
              <a:lnSpc>
                <a:spcPts val="1800"/>
              </a:lnSpc>
              <a:buNone/>
            </a:pPr>
            <a:r>
              <a:rPr lang="en-US" sz="1550" b="1" dirty="0">
                <a:solidFill>
                  <a:srgbClr val="FFFFFF"/>
                </a:solidFill>
                <a:latin typeface="Cambria" pitchFamily="34" charset="0"/>
                <a:ea typeface="Cambria" pitchFamily="34" charset="-122"/>
                <a:cs typeface="Cambria" pitchFamily="34" charset="-120"/>
              </a:rPr>
              <a:t>Better Experience</a:t>
            </a:r>
            <a:endParaRPr lang="en-US" sz="1550" dirty="0"/>
          </a:p>
        </p:txBody>
      </p:sp>
      <p:sp>
        <p:nvSpPr>
          <p:cNvPr id="14" name="Text 12"/>
          <p:cNvSpPr/>
          <p:nvPr/>
        </p:nvSpPr>
        <p:spPr>
          <a:xfrm>
            <a:off x="9555480" y="2788920"/>
            <a:ext cx="2240280" cy="2468880"/>
          </a:xfrm>
          <a:prstGeom prst="rect">
            <a:avLst/>
          </a:prstGeom>
          <a:noFill/>
          <a:ln/>
        </p:spPr>
        <p:txBody>
          <a:bodyPr wrap="square" rtlCol="0" anchor="ctr"/>
          <a:lstStyle/>
          <a:p>
            <a:pPr marL="0" indent="0">
              <a:lnSpc>
                <a:spcPts val="1600"/>
              </a:lnSpc>
              <a:buNone/>
            </a:pPr>
            <a:r>
              <a:rPr lang="en-US" sz="1600" dirty="0">
                <a:solidFill>
                  <a:srgbClr val="CADCFC"/>
                </a:solidFill>
                <a:latin typeface="Calibri" pitchFamily="34" charset="0"/>
                <a:ea typeface="Calibri" pitchFamily="34" charset="-122"/>
                <a:cs typeface="Calibri" pitchFamily="34" charset="-120"/>
              </a:rPr>
              <a:t>Smoother driving and walking, supported by resurfacing and clear markings</a:t>
            </a:r>
            <a:endParaRPr lang="en-US" sz="16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6" name="Text 14"/>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Challenges and Limitations</a:t>
            </a:r>
            <a:endParaRPr lang="en-US" sz="3000" dirty="0"/>
          </a:p>
        </p:txBody>
      </p:sp>
      <p:sp>
        <p:nvSpPr>
          <p:cNvPr id="3" name="Shape 1"/>
          <p:cNvSpPr/>
          <p:nvPr/>
        </p:nvSpPr>
        <p:spPr>
          <a:xfrm>
            <a:off x="548640" y="1828800"/>
            <a:ext cx="11064240" cy="1051560"/>
          </a:xfrm>
          <a:prstGeom prst="roundRect">
            <a:avLst>
              <a:gd name="adj" fmla="val 5217"/>
            </a:avLst>
          </a:prstGeom>
          <a:solidFill>
            <a:srgbClr val="F4F6FC"/>
          </a:solidFill>
          <a:ln/>
        </p:spPr>
      </p:sp>
      <p:sp>
        <p:nvSpPr>
          <p:cNvPr id="4" name="Shape 2"/>
          <p:cNvSpPr/>
          <p:nvPr/>
        </p:nvSpPr>
        <p:spPr>
          <a:xfrm>
            <a:off x="548640" y="1828800"/>
            <a:ext cx="109728" cy="1051560"/>
          </a:xfrm>
          <a:prstGeom prst="rect">
            <a:avLst/>
          </a:prstGeom>
          <a:solidFill>
            <a:srgbClr val="B8860B"/>
          </a:solidFill>
          <a:ln/>
        </p:spPr>
      </p:sp>
      <p:sp>
        <p:nvSpPr>
          <p:cNvPr id="5" name="Text 3"/>
          <p:cNvSpPr/>
          <p:nvPr/>
        </p:nvSpPr>
        <p:spPr>
          <a:xfrm>
            <a:off x="914400" y="1828800"/>
            <a:ext cx="10424160" cy="1051560"/>
          </a:xfrm>
          <a:prstGeom prst="rect">
            <a:avLst/>
          </a:prstGeom>
          <a:noFill/>
          <a:ln/>
        </p:spPr>
        <p:txBody>
          <a:bodyPr wrap="square" rtlCol="0" anchor="ctr"/>
          <a:lstStyle/>
          <a:p>
            <a:pPr marL="0" indent="0">
              <a:lnSpc>
                <a:spcPts val="1800"/>
              </a:lnSpc>
              <a:buNone/>
            </a:pPr>
            <a:r>
              <a:rPr lang="en-US" dirty="0">
                <a:solidFill>
                  <a:srgbClr val="222222"/>
                </a:solidFill>
                <a:latin typeface="Calibri" pitchFamily="34" charset="0"/>
                <a:ea typeface="Calibri" pitchFamily="34" charset="-122"/>
                <a:cs typeface="Calibri" pitchFamily="34" charset="-120"/>
              </a:rPr>
              <a:t>Estimating realistic arrival rates without access to formal traffic count data</a:t>
            </a:r>
            <a:endParaRPr lang="en-US" dirty="0"/>
          </a:p>
        </p:txBody>
      </p:sp>
      <p:sp>
        <p:nvSpPr>
          <p:cNvPr id="6" name="Shape 4"/>
          <p:cNvSpPr/>
          <p:nvPr/>
        </p:nvSpPr>
        <p:spPr>
          <a:xfrm>
            <a:off x="548640" y="3063240"/>
            <a:ext cx="11064240" cy="1051560"/>
          </a:xfrm>
          <a:prstGeom prst="roundRect">
            <a:avLst>
              <a:gd name="adj" fmla="val 5217"/>
            </a:avLst>
          </a:prstGeom>
          <a:solidFill>
            <a:srgbClr val="F4F6FC"/>
          </a:solidFill>
          <a:ln/>
        </p:spPr>
      </p:sp>
      <p:sp>
        <p:nvSpPr>
          <p:cNvPr id="7" name="Shape 5"/>
          <p:cNvSpPr/>
          <p:nvPr/>
        </p:nvSpPr>
        <p:spPr>
          <a:xfrm>
            <a:off x="548640" y="3063240"/>
            <a:ext cx="109728" cy="1051560"/>
          </a:xfrm>
          <a:prstGeom prst="rect">
            <a:avLst/>
          </a:prstGeom>
          <a:solidFill>
            <a:srgbClr val="B8860B"/>
          </a:solidFill>
          <a:ln/>
        </p:spPr>
      </p:sp>
      <p:sp>
        <p:nvSpPr>
          <p:cNvPr id="8" name="Text 6"/>
          <p:cNvSpPr/>
          <p:nvPr/>
        </p:nvSpPr>
        <p:spPr>
          <a:xfrm>
            <a:off x="914400" y="3063240"/>
            <a:ext cx="10424160" cy="1051560"/>
          </a:xfrm>
          <a:prstGeom prst="rect">
            <a:avLst/>
          </a:prstGeom>
          <a:noFill/>
          <a:ln/>
        </p:spPr>
        <p:txBody>
          <a:bodyPr wrap="square" rtlCol="0" anchor="ctr"/>
          <a:lstStyle/>
          <a:p>
            <a:pPr marL="0" indent="0">
              <a:lnSpc>
                <a:spcPts val="1800"/>
              </a:lnSpc>
              <a:buNone/>
            </a:pPr>
            <a:r>
              <a:rPr lang="en-US" dirty="0">
                <a:solidFill>
                  <a:srgbClr val="222222"/>
                </a:solidFill>
                <a:latin typeface="Calibri" pitchFamily="34" charset="0"/>
                <a:ea typeface="Calibri" pitchFamily="34" charset="-122"/>
                <a:cs typeface="Calibri" pitchFamily="34" charset="-120"/>
              </a:rPr>
              <a:t>Coordinating traffic light timing with pedestrian phases to avoid unrealistic waiting times</a:t>
            </a:r>
            <a:endParaRPr lang="en-US" dirty="0"/>
          </a:p>
        </p:txBody>
      </p:sp>
      <p:sp>
        <p:nvSpPr>
          <p:cNvPr id="9" name="Shape 7"/>
          <p:cNvSpPr/>
          <p:nvPr/>
        </p:nvSpPr>
        <p:spPr>
          <a:xfrm>
            <a:off x="548640" y="4297680"/>
            <a:ext cx="11064240" cy="1051560"/>
          </a:xfrm>
          <a:prstGeom prst="roundRect">
            <a:avLst>
              <a:gd name="adj" fmla="val 5217"/>
            </a:avLst>
          </a:prstGeom>
          <a:solidFill>
            <a:srgbClr val="F4F6FC"/>
          </a:solidFill>
          <a:ln/>
        </p:spPr>
      </p:sp>
      <p:sp>
        <p:nvSpPr>
          <p:cNvPr id="10" name="Shape 8"/>
          <p:cNvSpPr/>
          <p:nvPr/>
        </p:nvSpPr>
        <p:spPr>
          <a:xfrm>
            <a:off x="548640" y="4297680"/>
            <a:ext cx="109728" cy="1051560"/>
          </a:xfrm>
          <a:prstGeom prst="rect">
            <a:avLst/>
          </a:prstGeom>
          <a:solidFill>
            <a:srgbClr val="B8860B"/>
          </a:solidFill>
          <a:ln/>
        </p:spPr>
      </p:sp>
      <p:sp>
        <p:nvSpPr>
          <p:cNvPr id="11" name="Text 9"/>
          <p:cNvSpPr/>
          <p:nvPr/>
        </p:nvSpPr>
        <p:spPr>
          <a:xfrm>
            <a:off x="914400" y="4297680"/>
            <a:ext cx="10424160" cy="1051560"/>
          </a:xfrm>
          <a:prstGeom prst="rect">
            <a:avLst/>
          </a:prstGeom>
          <a:noFill/>
          <a:ln/>
        </p:spPr>
        <p:txBody>
          <a:bodyPr wrap="square" rtlCol="0" anchor="ctr"/>
          <a:lstStyle/>
          <a:p>
            <a:pPr marL="0" indent="0">
              <a:lnSpc>
                <a:spcPts val="1800"/>
              </a:lnSpc>
              <a:buNone/>
            </a:pPr>
            <a:r>
              <a:rPr lang="en-US" dirty="0">
                <a:solidFill>
                  <a:srgbClr val="222222"/>
                </a:solidFill>
                <a:latin typeface="Calibri" pitchFamily="34" charset="0"/>
                <a:ea typeface="Calibri" pitchFamily="34" charset="-122"/>
                <a:cs typeface="Calibri" pitchFamily="34" charset="-120"/>
              </a:rPr>
              <a:t>Replicating the exact physical geometry of the junction within the simulation environment</a:t>
            </a:r>
            <a:endParaRPr lang="en-US" dirty="0"/>
          </a:p>
        </p:txBody>
      </p:sp>
      <p:sp>
        <p:nvSpPr>
          <p:cNvPr id="12" name="Text 10"/>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6B6B6B"/>
                </a:solidFill>
                <a:latin typeface="Calibri" pitchFamily="34" charset="0"/>
                <a:ea typeface="Calibri" pitchFamily="34" charset="-122"/>
                <a:cs typeface="Calibri" pitchFamily="34" charset="-120"/>
              </a:rPr>
              <a:t>Terbrebie Junction - CY378 Simulation and Modeling</a:t>
            </a:r>
            <a:endParaRPr lang="en-US" sz="900" dirty="0"/>
          </a:p>
        </p:txBody>
      </p:sp>
      <p:sp>
        <p:nvSpPr>
          <p:cNvPr id="13" name="Text 11"/>
          <p:cNvSpPr/>
          <p:nvPr/>
        </p:nvSpPr>
        <p:spPr>
          <a:xfrm>
            <a:off x="11430000" y="6537960"/>
            <a:ext cx="36576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41B49"/>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E2761"/>
          </a:solidFill>
          <a:ln/>
        </p:spPr>
      </p:sp>
      <p:sp>
        <p:nvSpPr>
          <p:cNvPr id="3" name="Text 1"/>
          <p:cNvSpPr/>
          <p:nvPr/>
        </p:nvSpPr>
        <p:spPr>
          <a:xfrm>
            <a:off x="822960" y="68580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and Recommendations</a:t>
            </a:r>
            <a:endParaRPr lang="en-US" sz="3000" dirty="0"/>
          </a:p>
        </p:txBody>
      </p:sp>
      <p:sp>
        <p:nvSpPr>
          <p:cNvPr id="4" name="Text 2"/>
          <p:cNvSpPr/>
          <p:nvPr/>
        </p:nvSpPr>
        <p:spPr>
          <a:xfrm>
            <a:off x="822960" y="1737360"/>
            <a:ext cx="10332720" cy="1371600"/>
          </a:xfrm>
          <a:prstGeom prst="rect">
            <a:avLst/>
          </a:prstGeom>
          <a:noFill/>
          <a:ln/>
        </p:spPr>
        <p:txBody>
          <a:bodyPr wrap="square" rtlCol="0" anchor="ctr"/>
          <a:lstStyle/>
          <a:p>
            <a:pPr marL="0" indent="0">
              <a:lnSpc>
                <a:spcPts val="2200"/>
              </a:lnSpc>
              <a:buNone/>
            </a:pPr>
            <a:r>
              <a:rPr lang="en-US" dirty="0">
                <a:solidFill>
                  <a:srgbClr val="CADCFC"/>
                </a:solidFill>
                <a:latin typeface="Calibri" pitchFamily="34" charset="0"/>
                <a:ea typeface="Calibri" pitchFamily="34" charset="-122"/>
                <a:cs typeface="Calibri" pitchFamily="34" charset="-120"/>
              </a:rPr>
              <a:t>The simulation demonstrates that the deficiencies of the original Terbrebie Junction, namely single-lane approaches, the absence of signal control, and the absence of pedestrian crossings, can be addressed through double lanes, traffic lights, marked crossings, and improved resurfacing.</a:t>
            </a:r>
            <a:endParaRPr lang="en-US" dirty="0"/>
          </a:p>
        </p:txBody>
      </p:sp>
      <p:sp>
        <p:nvSpPr>
          <p:cNvPr id="5" name="Text 3"/>
          <p:cNvSpPr/>
          <p:nvPr/>
        </p:nvSpPr>
        <p:spPr>
          <a:xfrm>
            <a:off x="822960" y="3291840"/>
            <a:ext cx="10332720" cy="1280160"/>
          </a:xfrm>
          <a:prstGeom prst="rect">
            <a:avLst/>
          </a:prstGeom>
          <a:noFill/>
          <a:ln/>
        </p:spPr>
        <p:txBody>
          <a:bodyPr wrap="square" rtlCol="0" anchor="ctr"/>
          <a:lstStyle/>
          <a:p>
            <a:pPr marL="0" indent="0">
              <a:lnSpc>
                <a:spcPts val="2200"/>
              </a:lnSpc>
              <a:buNone/>
            </a:pPr>
            <a:r>
              <a:rPr lang="en-US" dirty="0">
                <a:solidFill>
                  <a:srgbClr val="CADCFC"/>
                </a:solidFill>
                <a:latin typeface="Calibri" pitchFamily="34" charset="0"/>
                <a:ea typeface="Calibri" pitchFamily="34" charset="-122"/>
                <a:cs typeface="Calibri" pitchFamily="34" charset="-120"/>
              </a:rPr>
              <a:t>The group recommends that the relevant road authority consider these findings for future improvement works, and that real traffic count data be collected beforehand to refine arrival rates and signal timings.</a:t>
            </a:r>
            <a:endParaRPr lang="en-US" dirty="0"/>
          </a:p>
        </p:txBody>
      </p:sp>
      <p:sp>
        <p:nvSpPr>
          <p:cNvPr id="6" name="Shape 4"/>
          <p:cNvSpPr/>
          <p:nvPr/>
        </p:nvSpPr>
        <p:spPr>
          <a:xfrm>
            <a:off x="822960" y="4937760"/>
            <a:ext cx="2926080" cy="0"/>
          </a:xfrm>
          <a:prstGeom prst="line">
            <a:avLst/>
          </a:prstGeom>
          <a:noFill/>
          <a:ln w="25400">
            <a:solidFill>
              <a:srgbClr val="3E6AE1"/>
            </a:solidFill>
            <a:prstDash val="solid"/>
          </a:ln>
        </p:spPr>
      </p:sp>
      <p:sp>
        <p:nvSpPr>
          <p:cNvPr id="7" name="Text 5"/>
          <p:cNvSpPr/>
          <p:nvPr/>
        </p:nvSpPr>
        <p:spPr>
          <a:xfrm>
            <a:off x="822960" y="5120640"/>
            <a:ext cx="73152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8" name="Text 6"/>
          <p:cNvSpPr/>
          <p:nvPr/>
        </p:nvSpPr>
        <p:spPr>
          <a:xfrm>
            <a:off x="822960" y="5669280"/>
            <a:ext cx="91440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Group Project · CY378 Simulation and Modeling · Lecturer: Frank Laude Boateng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1638</Words>
  <Application>Microsoft Office PowerPoint</Application>
  <PresentationFormat>Widescreen</PresentationFormat>
  <Paragraphs>244</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Tebrebei</dc:title>
  <dc:subject>PptxGenJS Presentation</dc:subject>
  <dc:creator>Enoch Oduro</dc:creator>
  <cp:lastModifiedBy>ENOCH ODURO</cp:lastModifiedBy>
  <cp:revision>38</cp:revision>
  <dcterms:created xsi:type="dcterms:W3CDTF">2026-07-26T21:13:05Z</dcterms:created>
  <dcterms:modified xsi:type="dcterms:W3CDTF">2026-07-27T16:45:21Z</dcterms:modified>
</cp:coreProperties>
</file>