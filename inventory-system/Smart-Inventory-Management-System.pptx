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6" r:id="rId7"/>
    <p:sldId id="262" r:id="rId8"/>
    <p:sldId id="263" r:id="rId9"/>
    <p:sldId id="264" r:id="rId10"/>
    <p:sldId id="265" r:id="rId11"/>
  </p:sldIdLst>
  <p:sldSz cx="14630400" cy="8229600"/>
  <p:notesSz cx="8229600" cy="14630400"/>
  <p:embeddedFontLst>
    <p:embeddedFont>
      <p:font typeface="Arial Black" panose="020B0A04020102020204" pitchFamily="34" charset="0"/>
      <p:bold r:id="rId13"/>
    </p:embeddedFont>
    <p:embeddedFont>
      <p:font typeface="Bahnschrift Light" panose="020B0502040204020203" pitchFamily="34" charset="0"/>
      <p:regular r:id="rId14"/>
    </p:embeddedFont>
    <p:embeddedFont>
      <p:font typeface="Bahnschrift Light SemiCondensed" panose="020B0502040204020203" pitchFamily="34" charset="0"/>
      <p:regular r:id="rId15"/>
    </p:embeddedFont>
    <p:embeddedFont>
      <p:font typeface="Calibri" panose="020F0502020204030204" pitchFamily="34" charset="0"/>
      <p:regular r:id="rId16"/>
      <p:bold r:id="rId17"/>
      <p:italic r:id="rId18"/>
      <p:boldItalic r:id="rId19"/>
    </p:embeddedFont>
    <p:embeddedFont>
      <p:font typeface="Gelasio" panose="020B0604020202020204" charset="0"/>
      <p:regular r:id="rId20"/>
    </p:embeddedFont>
    <p:embeddedFont>
      <p:font typeface="Lato" panose="020F0502020204030203" pitchFamily="34" charset="0"/>
      <p:regular r:id="rId21"/>
      <p:bold r:id="rId22"/>
      <p:boldItalic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7" d="100"/>
          <a:sy n="87" d="100"/>
        </p:scale>
        <p:origin x="120"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65649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9824120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872377"/>
            <a:ext cx="7556421" cy="1240155"/>
          </a:xfrm>
          <a:prstGeom prst="rect">
            <a:avLst/>
          </a:prstGeom>
          <a:noFill/>
          <a:ln/>
        </p:spPr>
        <p:txBody>
          <a:bodyPr wrap="square" lIns="0" tIns="0" rIns="0" bIns="0" rtlCol="0" anchor="t"/>
          <a:lstStyle/>
          <a:p>
            <a:pPr marL="0" indent="0" algn="l">
              <a:lnSpc>
                <a:spcPts val="4850"/>
              </a:lnSpc>
              <a:buNone/>
            </a:pPr>
            <a:r>
              <a:rPr lang="en-US" sz="3900" dirty="0">
                <a:solidFill>
                  <a:srgbClr val="312F2B"/>
                </a:solidFill>
                <a:latin typeface="Bahnschrift Light" panose="020B0502040204020203" pitchFamily="34" charset="0"/>
                <a:ea typeface="Gelasio" pitchFamily="34" charset="-122"/>
                <a:cs typeface="Gelasio" pitchFamily="34" charset="-120"/>
              </a:rPr>
              <a:t>Smart Inventory Management System for Small Businesses</a:t>
            </a:r>
            <a:endParaRPr lang="en-US" sz="3900" dirty="0">
              <a:latin typeface="Bahnschrift Light" panose="020B0502040204020203" pitchFamily="34" charset="0"/>
            </a:endParaRPr>
          </a:p>
        </p:txBody>
      </p:sp>
      <p:sp>
        <p:nvSpPr>
          <p:cNvPr id="4" name="Text 1"/>
          <p:cNvSpPr/>
          <p:nvPr/>
        </p:nvSpPr>
        <p:spPr>
          <a:xfrm>
            <a:off x="6280190" y="3410188"/>
            <a:ext cx="75564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Bahnschrift Light" panose="020B0502040204020203" pitchFamily="34" charset="0"/>
                <a:ea typeface="Lato" pitchFamily="34" charset="-122"/>
                <a:cs typeface="Lato" pitchFamily="34" charset="-120"/>
              </a:rPr>
              <a:t>Developed by:</a:t>
            </a:r>
            <a:endParaRPr lang="en-US" sz="1550" dirty="0">
              <a:latin typeface="Bahnschrift Light" panose="020B0502040204020203" pitchFamily="34" charset="0"/>
            </a:endParaRPr>
          </a:p>
        </p:txBody>
      </p:sp>
      <p:sp>
        <p:nvSpPr>
          <p:cNvPr id="5" name="Text 2"/>
          <p:cNvSpPr/>
          <p:nvPr/>
        </p:nvSpPr>
        <p:spPr>
          <a:xfrm>
            <a:off x="6280190" y="3950970"/>
            <a:ext cx="7556421" cy="317540"/>
          </a:xfrm>
          <a:prstGeom prst="rect">
            <a:avLst/>
          </a:prstGeom>
          <a:noFill/>
          <a:ln/>
        </p:spPr>
        <p:txBody>
          <a:bodyPr wrap="none" lIns="0" tIns="0" rIns="0" bIns="0" rtlCol="0" anchor="t"/>
          <a:lstStyle/>
          <a:p>
            <a:pPr marL="342900" indent="-342900" algn="l">
              <a:lnSpc>
                <a:spcPts val="2500"/>
              </a:lnSpc>
              <a:buSzPct val="100000"/>
              <a:buChar char="•"/>
            </a:pPr>
            <a:r>
              <a:rPr lang="en-US" sz="1550" b="1" i="1" dirty="0">
                <a:solidFill>
                  <a:srgbClr val="272525"/>
                </a:solidFill>
                <a:latin typeface="Bahnschrift Light" panose="020B0502040204020203" pitchFamily="34" charset="0"/>
                <a:ea typeface="Lato" pitchFamily="34" charset="-122"/>
                <a:cs typeface="Lato" pitchFamily="34" charset="-120"/>
              </a:rPr>
              <a:t>Enoch Oduro – FCM.41.018.197.23</a:t>
            </a:r>
            <a:endParaRPr lang="en-US" sz="1550" dirty="0">
              <a:latin typeface="Bahnschrift Light" panose="020B0502040204020203" pitchFamily="34" charset="0"/>
            </a:endParaRPr>
          </a:p>
        </p:txBody>
      </p:sp>
      <p:sp>
        <p:nvSpPr>
          <p:cNvPr id="6" name="Text 3"/>
          <p:cNvSpPr/>
          <p:nvPr/>
        </p:nvSpPr>
        <p:spPr>
          <a:xfrm>
            <a:off x="6280190" y="4337923"/>
            <a:ext cx="7556421" cy="317540"/>
          </a:xfrm>
          <a:prstGeom prst="rect">
            <a:avLst/>
          </a:prstGeom>
          <a:noFill/>
          <a:ln/>
        </p:spPr>
        <p:txBody>
          <a:bodyPr wrap="none" lIns="0" tIns="0" rIns="0" bIns="0" rtlCol="0" anchor="t"/>
          <a:lstStyle/>
          <a:p>
            <a:pPr marL="342900" indent="-342900" algn="l">
              <a:lnSpc>
                <a:spcPts val="2500"/>
              </a:lnSpc>
              <a:buSzPct val="100000"/>
              <a:buChar char="•"/>
            </a:pPr>
            <a:r>
              <a:rPr lang="en-US" sz="1550" b="1" i="1" dirty="0" err="1">
                <a:solidFill>
                  <a:srgbClr val="272525"/>
                </a:solidFill>
                <a:latin typeface="Bahnschrift Light" panose="020B0502040204020203" pitchFamily="34" charset="0"/>
                <a:ea typeface="Lato" pitchFamily="34" charset="-122"/>
                <a:cs typeface="Lato" pitchFamily="34" charset="-120"/>
              </a:rPr>
              <a:t>Rockson</a:t>
            </a:r>
            <a:r>
              <a:rPr lang="en-US" sz="1550" b="1" i="1" dirty="0">
                <a:solidFill>
                  <a:srgbClr val="272525"/>
                </a:solidFill>
                <a:latin typeface="Bahnschrift Light" panose="020B0502040204020203" pitchFamily="34" charset="0"/>
                <a:ea typeface="Lato" pitchFamily="34" charset="-122"/>
                <a:cs typeface="Lato" pitchFamily="34" charset="-120"/>
              </a:rPr>
              <a:t> </a:t>
            </a:r>
            <a:r>
              <a:rPr lang="en-US" sz="1550" b="1" i="1" dirty="0" err="1">
                <a:solidFill>
                  <a:srgbClr val="272525"/>
                </a:solidFill>
                <a:latin typeface="Bahnschrift Light" panose="020B0502040204020203" pitchFamily="34" charset="0"/>
                <a:ea typeface="Lato" pitchFamily="34" charset="-122"/>
                <a:cs typeface="Lato" pitchFamily="34" charset="-120"/>
              </a:rPr>
              <a:t>Kumah</a:t>
            </a:r>
            <a:r>
              <a:rPr lang="en-US" sz="1550" b="1" i="1" dirty="0">
                <a:solidFill>
                  <a:srgbClr val="272525"/>
                </a:solidFill>
                <a:latin typeface="Bahnschrift Light" panose="020B0502040204020203" pitchFamily="34" charset="0"/>
                <a:ea typeface="Lato" pitchFamily="34" charset="-122"/>
                <a:cs typeface="Lato" pitchFamily="34" charset="-120"/>
              </a:rPr>
              <a:t> - FCM .41.018.162.23</a:t>
            </a:r>
            <a:endParaRPr lang="en-US" sz="1550" dirty="0">
              <a:latin typeface="Bahnschrift Light" panose="020B0502040204020203" pitchFamily="34" charset="0"/>
            </a:endParaRPr>
          </a:p>
        </p:txBody>
      </p:sp>
      <p:sp>
        <p:nvSpPr>
          <p:cNvPr id="7" name="Text 4"/>
          <p:cNvSpPr/>
          <p:nvPr/>
        </p:nvSpPr>
        <p:spPr>
          <a:xfrm>
            <a:off x="6280190" y="4724876"/>
            <a:ext cx="7556421" cy="317540"/>
          </a:xfrm>
          <a:prstGeom prst="rect">
            <a:avLst/>
          </a:prstGeom>
          <a:noFill/>
          <a:ln/>
        </p:spPr>
        <p:txBody>
          <a:bodyPr wrap="none" lIns="0" tIns="0" rIns="0" bIns="0" rtlCol="0" anchor="t"/>
          <a:lstStyle/>
          <a:p>
            <a:pPr marL="342900" indent="-342900" algn="l">
              <a:lnSpc>
                <a:spcPts val="2500"/>
              </a:lnSpc>
              <a:buSzPct val="100000"/>
              <a:buChar char="•"/>
            </a:pPr>
            <a:r>
              <a:rPr lang="en-US" sz="1550" b="1" i="1">
                <a:solidFill>
                  <a:srgbClr val="272525"/>
                </a:solidFill>
                <a:latin typeface="Bahnschrift Light" panose="020B0502040204020203" pitchFamily="34" charset="0"/>
                <a:ea typeface="Lato" pitchFamily="34" charset="-122"/>
                <a:cs typeface="Lato" pitchFamily="34" charset="-120"/>
              </a:rPr>
              <a:t>Samuel </a:t>
            </a:r>
            <a:r>
              <a:rPr lang="en-US" sz="1550" b="1" i="1" dirty="0" err="1">
                <a:solidFill>
                  <a:srgbClr val="272525"/>
                </a:solidFill>
                <a:latin typeface="Bahnschrift Light" panose="020B0502040204020203" pitchFamily="34" charset="0"/>
                <a:ea typeface="Lato" pitchFamily="34" charset="-122"/>
                <a:cs typeface="Lato" pitchFamily="34" charset="-120"/>
              </a:rPr>
              <a:t>Nii</a:t>
            </a:r>
            <a:r>
              <a:rPr lang="en-US" sz="1550" b="1" i="1" dirty="0">
                <a:solidFill>
                  <a:srgbClr val="272525"/>
                </a:solidFill>
                <a:latin typeface="Bahnschrift Light" panose="020B0502040204020203" pitchFamily="34" charset="0"/>
                <a:ea typeface="Lato" pitchFamily="34" charset="-122"/>
                <a:cs typeface="Lato" pitchFamily="34" charset="-120"/>
              </a:rPr>
              <a:t> </a:t>
            </a:r>
            <a:r>
              <a:rPr lang="en-US" sz="1550" b="1" i="1" dirty="0" err="1">
                <a:solidFill>
                  <a:srgbClr val="272525"/>
                </a:solidFill>
                <a:latin typeface="Bahnschrift Light" panose="020B0502040204020203" pitchFamily="34" charset="0"/>
                <a:ea typeface="Lato" pitchFamily="34" charset="-122"/>
                <a:cs typeface="Lato" pitchFamily="34" charset="-120"/>
              </a:rPr>
              <a:t>Dodoo</a:t>
            </a:r>
            <a:r>
              <a:rPr lang="en-US" sz="1550" b="1" i="1" dirty="0">
                <a:solidFill>
                  <a:srgbClr val="272525"/>
                </a:solidFill>
                <a:latin typeface="Bahnschrift Light" panose="020B0502040204020203" pitchFamily="34" charset="0"/>
                <a:ea typeface="Lato" pitchFamily="34" charset="-122"/>
                <a:cs typeface="Lato" pitchFamily="34" charset="-120"/>
              </a:rPr>
              <a:t> </a:t>
            </a:r>
            <a:r>
              <a:rPr lang="en-US" sz="1550" b="1" i="1" dirty="0" err="1">
                <a:solidFill>
                  <a:srgbClr val="272525"/>
                </a:solidFill>
                <a:latin typeface="Bahnschrift Light" panose="020B0502040204020203" pitchFamily="34" charset="0"/>
                <a:ea typeface="Lato" pitchFamily="34" charset="-122"/>
                <a:cs typeface="Lato" pitchFamily="34" charset="-120"/>
              </a:rPr>
              <a:t>Obrempong</a:t>
            </a:r>
            <a:r>
              <a:rPr lang="en-US" sz="1550" b="1" i="1" dirty="0">
                <a:solidFill>
                  <a:srgbClr val="272525"/>
                </a:solidFill>
                <a:latin typeface="Bahnschrift Light" panose="020B0502040204020203" pitchFamily="34" charset="0"/>
                <a:ea typeface="Lato" pitchFamily="34" charset="-122"/>
                <a:cs typeface="Lato" pitchFamily="34" charset="-120"/>
              </a:rPr>
              <a:t> Amo - FCM.41.018.052.23</a:t>
            </a:r>
            <a:endParaRPr lang="en-US" sz="1550" dirty="0">
              <a:latin typeface="Bahnschrift Light" panose="020B0502040204020203" pitchFamily="34" charset="0"/>
            </a:endParaRPr>
          </a:p>
        </p:txBody>
      </p:sp>
      <p:sp>
        <p:nvSpPr>
          <p:cNvPr id="8" name="Text 5"/>
          <p:cNvSpPr/>
          <p:nvPr/>
        </p:nvSpPr>
        <p:spPr>
          <a:xfrm>
            <a:off x="6280190" y="5111829"/>
            <a:ext cx="7556421" cy="317540"/>
          </a:xfrm>
          <a:prstGeom prst="rect">
            <a:avLst/>
          </a:prstGeom>
          <a:noFill/>
          <a:ln/>
        </p:spPr>
        <p:txBody>
          <a:bodyPr wrap="none" lIns="0" tIns="0" rIns="0" bIns="0" rtlCol="0" anchor="t"/>
          <a:lstStyle/>
          <a:p>
            <a:pPr marL="342900" indent="-342900" algn="l">
              <a:lnSpc>
                <a:spcPts val="2500"/>
              </a:lnSpc>
              <a:buSzPct val="100000"/>
              <a:buChar char="•"/>
            </a:pPr>
            <a:r>
              <a:rPr lang="en-US" sz="1550" b="1" i="1" dirty="0">
                <a:solidFill>
                  <a:srgbClr val="272525"/>
                </a:solidFill>
                <a:latin typeface="Bahnschrift Light" panose="020B0502040204020203" pitchFamily="34" charset="0"/>
                <a:ea typeface="Lato" pitchFamily="34" charset="-122"/>
                <a:cs typeface="Lato" pitchFamily="34" charset="-120"/>
              </a:rPr>
              <a:t>Ernest </a:t>
            </a:r>
            <a:r>
              <a:rPr lang="en-US" sz="1550" b="1" i="1" dirty="0" err="1">
                <a:solidFill>
                  <a:srgbClr val="272525"/>
                </a:solidFill>
                <a:latin typeface="Bahnschrift Light" panose="020B0502040204020203" pitchFamily="34" charset="0"/>
                <a:ea typeface="Lato" pitchFamily="34" charset="-122"/>
                <a:cs typeface="Lato" pitchFamily="34" charset="-120"/>
              </a:rPr>
              <a:t>Akugri</a:t>
            </a:r>
            <a:r>
              <a:rPr lang="en-US" sz="1550" b="1" i="1" dirty="0">
                <a:solidFill>
                  <a:srgbClr val="272525"/>
                </a:solidFill>
                <a:latin typeface="Bahnschrift Light" panose="020B0502040204020203" pitchFamily="34" charset="0"/>
                <a:ea typeface="Lato" pitchFamily="34" charset="-122"/>
                <a:cs typeface="Lato" pitchFamily="34" charset="-120"/>
              </a:rPr>
              <a:t> </a:t>
            </a:r>
            <a:r>
              <a:rPr lang="en-US" sz="1550" b="1" i="1" dirty="0" err="1">
                <a:solidFill>
                  <a:srgbClr val="272525"/>
                </a:solidFill>
                <a:latin typeface="Bahnschrift Light" panose="020B0502040204020203" pitchFamily="34" charset="0"/>
                <a:ea typeface="Lato" pitchFamily="34" charset="-122"/>
                <a:cs typeface="Lato" pitchFamily="34" charset="-120"/>
              </a:rPr>
              <a:t>Akolwini</a:t>
            </a:r>
            <a:r>
              <a:rPr lang="en-US" sz="1550" b="1" i="1" dirty="0">
                <a:solidFill>
                  <a:srgbClr val="272525"/>
                </a:solidFill>
                <a:latin typeface="Bahnschrift Light" panose="020B0502040204020203" pitchFamily="34" charset="0"/>
                <a:ea typeface="Lato" pitchFamily="34" charset="-122"/>
                <a:cs typeface="Lato" pitchFamily="34" charset="-120"/>
              </a:rPr>
              <a:t> - FCM.41.018.030.23</a:t>
            </a:r>
            <a:endParaRPr lang="en-US" sz="1550" dirty="0">
              <a:latin typeface="Bahnschrift Light" panose="020B0502040204020203" pitchFamily="34" charset="0"/>
            </a:endParaRPr>
          </a:p>
        </p:txBody>
      </p:sp>
      <p:sp>
        <p:nvSpPr>
          <p:cNvPr id="9" name="Text 6"/>
          <p:cNvSpPr/>
          <p:nvPr/>
        </p:nvSpPr>
        <p:spPr>
          <a:xfrm>
            <a:off x="6280190" y="5498783"/>
            <a:ext cx="7556421" cy="317540"/>
          </a:xfrm>
          <a:prstGeom prst="rect">
            <a:avLst/>
          </a:prstGeom>
          <a:noFill/>
          <a:ln/>
        </p:spPr>
        <p:txBody>
          <a:bodyPr wrap="none" lIns="0" tIns="0" rIns="0" bIns="0" rtlCol="0" anchor="t"/>
          <a:lstStyle/>
          <a:p>
            <a:pPr marL="342900" indent="-342900" algn="l">
              <a:lnSpc>
                <a:spcPts val="2500"/>
              </a:lnSpc>
              <a:buSzPct val="100000"/>
              <a:buChar char="•"/>
            </a:pPr>
            <a:r>
              <a:rPr lang="en-US" sz="1550" b="1" i="1" dirty="0">
                <a:solidFill>
                  <a:srgbClr val="272525"/>
                </a:solidFill>
                <a:latin typeface="Bahnschrift Light" panose="020B0502040204020203" pitchFamily="34" charset="0"/>
                <a:ea typeface="Lato" pitchFamily="34" charset="-122"/>
                <a:cs typeface="Lato" pitchFamily="34" charset="-120"/>
              </a:rPr>
              <a:t>Azumah </a:t>
            </a:r>
            <a:r>
              <a:rPr lang="en-US" sz="1550" b="1" i="1" dirty="0" err="1">
                <a:solidFill>
                  <a:srgbClr val="272525"/>
                </a:solidFill>
                <a:latin typeface="Bahnschrift Light" panose="020B0502040204020203" pitchFamily="34" charset="0"/>
                <a:ea typeface="Lato" pitchFamily="34" charset="-122"/>
                <a:cs typeface="Lato" pitchFamily="34" charset="-120"/>
              </a:rPr>
              <a:t>Elorm</a:t>
            </a:r>
            <a:r>
              <a:rPr lang="en-US" sz="1550" b="1" i="1" dirty="0">
                <a:solidFill>
                  <a:srgbClr val="272525"/>
                </a:solidFill>
                <a:latin typeface="Bahnschrift Light" panose="020B0502040204020203" pitchFamily="34" charset="0"/>
                <a:ea typeface="Lato" pitchFamily="34" charset="-122"/>
                <a:cs typeface="Lato" pitchFamily="34" charset="-120"/>
              </a:rPr>
              <a:t> </a:t>
            </a:r>
            <a:r>
              <a:rPr lang="en-US" sz="1550" b="1" i="1" dirty="0" err="1">
                <a:solidFill>
                  <a:srgbClr val="272525"/>
                </a:solidFill>
                <a:latin typeface="Bahnschrift Light" panose="020B0502040204020203" pitchFamily="34" charset="0"/>
                <a:ea typeface="Lato" pitchFamily="34" charset="-122"/>
                <a:cs typeface="Lato" pitchFamily="34" charset="-120"/>
              </a:rPr>
              <a:t>Rapheal</a:t>
            </a:r>
            <a:r>
              <a:rPr lang="en-US" sz="1550" b="1" i="1" dirty="0">
                <a:solidFill>
                  <a:srgbClr val="272525"/>
                </a:solidFill>
                <a:latin typeface="Bahnschrift Light" panose="020B0502040204020203" pitchFamily="34" charset="0"/>
                <a:ea typeface="Lato" pitchFamily="34" charset="-122"/>
                <a:cs typeface="Lato" pitchFamily="34" charset="-120"/>
              </a:rPr>
              <a:t> - FCM.41.018.089.23</a:t>
            </a:r>
            <a:endParaRPr lang="en-US" sz="1550" dirty="0">
              <a:latin typeface="Bahnschrift Light" panose="020B0502040204020203" pitchFamily="34" charset="0"/>
            </a:endParaRPr>
          </a:p>
        </p:txBody>
      </p:sp>
      <p:sp>
        <p:nvSpPr>
          <p:cNvPr id="10" name="Text 7"/>
          <p:cNvSpPr/>
          <p:nvPr/>
        </p:nvSpPr>
        <p:spPr>
          <a:xfrm>
            <a:off x="6280190" y="6039564"/>
            <a:ext cx="75564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Bahnschrift Light" panose="020B0502040204020203" pitchFamily="34" charset="0"/>
                <a:ea typeface="Lato" pitchFamily="34" charset="-122"/>
                <a:cs typeface="Lato" pitchFamily="34" charset="-120"/>
              </a:rPr>
              <a:t>Course: Software Engineering  | August 2025</a:t>
            </a:r>
            <a:endParaRPr lang="en-US" sz="1550" dirty="0">
              <a:latin typeface="Bahnschrift Light" panose="020B0502040204020203" pitchFamily="34" charset="0"/>
            </a:endParaRPr>
          </a:p>
        </p:txBody>
      </p:sp>
      <p:sp>
        <p:nvSpPr>
          <p:cNvPr id="11" name="Rectangle 10">
            <a:extLst>
              <a:ext uri="{FF2B5EF4-FFF2-40B4-BE49-F238E27FC236}">
                <a16:creationId xmlns:a16="http://schemas.microsoft.com/office/drawing/2014/main" id="{DE40EE7A-45A5-4BB5-8E8E-A65328086B33}"/>
              </a:ext>
            </a:extLst>
          </p:cNvPr>
          <p:cNvSpPr/>
          <p:nvPr/>
        </p:nvSpPr>
        <p:spPr>
          <a:xfrm>
            <a:off x="12862560" y="7802880"/>
            <a:ext cx="1625600" cy="317540"/>
          </a:xfrm>
          <a:prstGeom prst="rect">
            <a:avLst/>
          </a:prstGeom>
          <a:solidFill>
            <a:srgbClr val="FEFEFE"/>
          </a:solidFill>
          <a:ln>
            <a:solidFill>
              <a:srgbClr val="FEFE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hnschrift Light" panose="020B0502040204020203"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021086"/>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12F2B"/>
                </a:solidFill>
                <a:latin typeface="Bahnschrift Light" panose="020B0502040204020203" pitchFamily="34" charset="0"/>
                <a:ea typeface="Gelasio" pitchFamily="34" charset="-122"/>
                <a:cs typeface="Gelasio" pitchFamily="34" charset="-120"/>
              </a:rPr>
              <a:t>Bridging the Gap</a:t>
            </a:r>
            <a:endParaRPr lang="en-US" sz="1950" dirty="0">
              <a:latin typeface="Bahnschrift Light" panose="020B0502040204020203" pitchFamily="34" charset="0"/>
            </a:endParaRPr>
          </a:p>
        </p:txBody>
      </p:sp>
      <p:sp>
        <p:nvSpPr>
          <p:cNvPr id="3" name="Text 1"/>
          <p:cNvSpPr/>
          <p:nvPr/>
        </p:nvSpPr>
        <p:spPr>
          <a:xfrm>
            <a:off x="793790" y="2529602"/>
            <a:ext cx="10657999" cy="620078"/>
          </a:xfrm>
          <a:prstGeom prst="rect">
            <a:avLst/>
          </a:prstGeom>
          <a:noFill/>
          <a:ln/>
        </p:spPr>
        <p:txBody>
          <a:bodyPr wrap="none" lIns="0" tIns="0" rIns="0" bIns="0" rtlCol="0" anchor="t"/>
          <a:lstStyle/>
          <a:p>
            <a:pPr marL="0" indent="0" algn="l">
              <a:lnSpc>
                <a:spcPts val="4850"/>
              </a:lnSpc>
              <a:buNone/>
            </a:pPr>
            <a:r>
              <a:rPr lang="en-US" sz="3900" dirty="0">
                <a:solidFill>
                  <a:srgbClr val="312F2B"/>
                </a:solidFill>
                <a:latin typeface="Bahnschrift Light" panose="020B0502040204020203" pitchFamily="34" charset="0"/>
                <a:ea typeface="Gelasio" pitchFamily="34" charset="-122"/>
                <a:cs typeface="Gelasio" pitchFamily="34" charset="-120"/>
              </a:rPr>
              <a:t>Addressing Small Business Inventory Challenges</a:t>
            </a:r>
            <a:endParaRPr lang="en-US" sz="3900" dirty="0">
              <a:latin typeface="Bahnschrift Light" panose="020B0502040204020203" pitchFamily="34" charset="0"/>
            </a:endParaRPr>
          </a:p>
        </p:txBody>
      </p:sp>
      <p:pic>
        <p:nvPicPr>
          <p:cNvPr id="4" name="Image 0" descr="preencoded.png"/>
          <p:cNvPicPr>
            <a:picLocks noChangeAspect="1"/>
          </p:cNvPicPr>
          <p:nvPr/>
        </p:nvPicPr>
        <p:blipFill>
          <a:blip r:embed="rId3"/>
          <a:stretch>
            <a:fillRect/>
          </a:stretch>
        </p:blipFill>
        <p:spPr>
          <a:xfrm>
            <a:off x="793790" y="3447336"/>
            <a:ext cx="496133" cy="496133"/>
          </a:xfrm>
          <a:prstGeom prst="rect">
            <a:avLst/>
          </a:prstGeom>
        </p:spPr>
      </p:pic>
      <p:sp>
        <p:nvSpPr>
          <p:cNvPr id="5" name="Text 2"/>
          <p:cNvSpPr/>
          <p:nvPr/>
        </p:nvSpPr>
        <p:spPr>
          <a:xfrm>
            <a:off x="793790" y="4191476"/>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72525"/>
                </a:solidFill>
                <a:latin typeface="Bahnschrift Light" panose="020B0502040204020203" pitchFamily="34" charset="0"/>
                <a:ea typeface="Gelasio" pitchFamily="34" charset="-122"/>
                <a:cs typeface="Gelasio" pitchFamily="34" charset="-120"/>
              </a:rPr>
              <a:t>The Problem</a:t>
            </a:r>
            <a:endParaRPr lang="en-US" sz="1950" dirty="0">
              <a:latin typeface="Bahnschrift Light" panose="020B0502040204020203" pitchFamily="34" charset="0"/>
            </a:endParaRPr>
          </a:p>
        </p:txBody>
      </p:sp>
      <p:sp>
        <p:nvSpPr>
          <p:cNvPr id="6" name="Text 3"/>
          <p:cNvSpPr/>
          <p:nvPr/>
        </p:nvSpPr>
        <p:spPr>
          <a:xfrm>
            <a:off x="793790" y="4620697"/>
            <a:ext cx="6397347"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Bahnschrift Light" panose="020B0502040204020203" pitchFamily="34" charset="0"/>
                <a:ea typeface="Lato" pitchFamily="34" charset="-122"/>
                <a:cs typeface="Lato" pitchFamily="34" charset="-120"/>
              </a:rPr>
              <a:t>Small businesses often rely on manual inventory tracking, leading to critical inefficiencies. This antiquated approach frequently results in costly stockouts, leading to lost sales, or detrimental overstocking, tying up valuable capital. Furthermore, manual systems severely limit real-time visibility into sales performance and inventory levels.</a:t>
            </a:r>
            <a:endParaRPr lang="en-US" sz="1550" dirty="0">
              <a:latin typeface="Bahnschrift Light" panose="020B0502040204020203" pitchFamily="34" charset="0"/>
            </a:endParaRPr>
          </a:p>
        </p:txBody>
      </p:sp>
      <p:pic>
        <p:nvPicPr>
          <p:cNvPr id="7" name="Image 1" descr="preencoded.png"/>
          <p:cNvPicPr>
            <a:picLocks noChangeAspect="1"/>
          </p:cNvPicPr>
          <p:nvPr/>
        </p:nvPicPr>
        <p:blipFill>
          <a:blip r:embed="rId4"/>
          <a:stretch>
            <a:fillRect/>
          </a:stretch>
        </p:blipFill>
        <p:spPr>
          <a:xfrm>
            <a:off x="7439144" y="3447336"/>
            <a:ext cx="496133" cy="496133"/>
          </a:xfrm>
          <a:prstGeom prst="rect">
            <a:avLst/>
          </a:prstGeom>
        </p:spPr>
      </p:pic>
      <p:sp>
        <p:nvSpPr>
          <p:cNvPr id="8" name="Text 4"/>
          <p:cNvSpPr/>
          <p:nvPr/>
        </p:nvSpPr>
        <p:spPr>
          <a:xfrm>
            <a:off x="7439144" y="4191476"/>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72525"/>
                </a:solidFill>
                <a:latin typeface="Bahnschrift Light" panose="020B0502040204020203" pitchFamily="34" charset="0"/>
                <a:ea typeface="Gelasio" pitchFamily="34" charset="-122"/>
                <a:cs typeface="Gelasio" pitchFamily="34" charset="-120"/>
              </a:rPr>
              <a:t>Our Solution</a:t>
            </a:r>
            <a:endParaRPr lang="en-US" sz="1950" dirty="0">
              <a:latin typeface="Bahnschrift Light" panose="020B0502040204020203" pitchFamily="34" charset="0"/>
            </a:endParaRPr>
          </a:p>
        </p:txBody>
      </p:sp>
      <p:sp>
        <p:nvSpPr>
          <p:cNvPr id="9" name="Text 5"/>
          <p:cNvSpPr/>
          <p:nvPr/>
        </p:nvSpPr>
        <p:spPr>
          <a:xfrm>
            <a:off x="7439144" y="4620697"/>
            <a:ext cx="6397466"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Bahnschrift Light" panose="020B0502040204020203" pitchFamily="34" charset="0"/>
                <a:ea typeface="Lato" pitchFamily="34" charset="-122"/>
                <a:cs typeface="Lato" pitchFamily="34" charset="-120"/>
              </a:rPr>
              <a:t>Our Smart Inventory Management System aims to revolutionize this by automating core processes. Our primary objectives include robust stock management, real-time sales tracking, proactive low-stock alerts, and comprehensive report generation, all designed to enhance operational efficiency and profitability for small and medium-sized enterprises (SMEs).</a:t>
            </a:r>
            <a:endParaRPr lang="en-US" sz="1550" dirty="0">
              <a:latin typeface="Bahnschrift Light" panose="020B0502040204020203" pitchFamily="34" charset="0"/>
            </a:endParaRPr>
          </a:p>
        </p:txBody>
      </p:sp>
      <p:sp>
        <p:nvSpPr>
          <p:cNvPr id="10" name="Rectangle 9">
            <a:extLst>
              <a:ext uri="{FF2B5EF4-FFF2-40B4-BE49-F238E27FC236}">
                <a16:creationId xmlns:a16="http://schemas.microsoft.com/office/drawing/2014/main" id="{49AF40D4-2ED8-4C7C-A19F-5B2E2810141C}"/>
              </a:ext>
            </a:extLst>
          </p:cNvPr>
          <p:cNvSpPr/>
          <p:nvPr/>
        </p:nvSpPr>
        <p:spPr>
          <a:xfrm>
            <a:off x="12862560" y="7802880"/>
            <a:ext cx="1625600" cy="317540"/>
          </a:xfrm>
          <a:prstGeom prst="rect">
            <a:avLst/>
          </a:prstGeom>
          <a:solidFill>
            <a:srgbClr val="FEFEFE"/>
          </a:solidFill>
          <a:ln>
            <a:solidFill>
              <a:srgbClr val="FEFE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hnschrift Light" panose="020B0502040204020203"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47474" y="513874"/>
            <a:ext cx="5118616" cy="584002"/>
          </a:xfrm>
          <a:prstGeom prst="rect">
            <a:avLst/>
          </a:prstGeom>
          <a:noFill/>
          <a:ln/>
        </p:spPr>
        <p:txBody>
          <a:bodyPr wrap="none" lIns="0" tIns="0" rIns="0" bIns="0" rtlCol="0" anchor="t"/>
          <a:lstStyle/>
          <a:p>
            <a:pPr marL="0" indent="0" algn="l">
              <a:lnSpc>
                <a:spcPts val="4550"/>
              </a:lnSpc>
              <a:buNone/>
            </a:pPr>
            <a:r>
              <a:rPr lang="en-US" sz="3650" dirty="0">
                <a:solidFill>
                  <a:srgbClr val="312F2B"/>
                </a:solidFill>
                <a:latin typeface="Bahnschrift Light" panose="020B0502040204020203" pitchFamily="34" charset="0"/>
                <a:ea typeface="Gelasio" pitchFamily="34" charset="-122"/>
                <a:cs typeface="Gelasio" pitchFamily="34" charset="-120"/>
              </a:rPr>
              <a:t>Core System Capabilities</a:t>
            </a:r>
            <a:endParaRPr lang="en-US" sz="3650" dirty="0">
              <a:latin typeface="Bahnschrift Light" panose="020B0502040204020203" pitchFamily="34" charset="0"/>
            </a:endParaRPr>
          </a:p>
        </p:txBody>
      </p:sp>
      <p:sp>
        <p:nvSpPr>
          <p:cNvPr id="3" name="Shape 1"/>
          <p:cNvSpPr/>
          <p:nvPr/>
        </p:nvSpPr>
        <p:spPr>
          <a:xfrm>
            <a:off x="747474" y="1751886"/>
            <a:ext cx="6474262" cy="1679019"/>
          </a:xfrm>
          <a:prstGeom prst="roundRect">
            <a:avLst>
              <a:gd name="adj" fmla="val 6535"/>
            </a:avLst>
          </a:prstGeom>
          <a:solidFill>
            <a:srgbClr val="FFFFFF">
              <a:alpha val="95000"/>
            </a:srgbClr>
          </a:solidFill>
          <a:ln/>
        </p:spPr>
      </p:sp>
      <p:sp>
        <p:nvSpPr>
          <p:cNvPr id="4" name="Shape 2"/>
          <p:cNvSpPr/>
          <p:nvPr/>
        </p:nvSpPr>
        <p:spPr>
          <a:xfrm>
            <a:off x="747474" y="1729026"/>
            <a:ext cx="6474262" cy="91440"/>
          </a:xfrm>
          <a:prstGeom prst="roundRect">
            <a:avLst>
              <a:gd name="adj" fmla="val 85838"/>
            </a:avLst>
          </a:prstGeom>
          <a:solidFill>
            <a:srgbClr val="E5E5E0"/>
          </a:solidFill>
          <a:ln/>
        </p:spPr>
      </p:sp>
      <p:sp>
        <p:nvSpPr>
          <p:cNvPr id="5" name="Shape 3"/>
          <p:cNvSpPr/>
          <p:nvPr/>
        </p:nvSpPr>
        <p:spPr>
          <a:xfrm>
            <a:off x="3704273" y="1471612"/>
            <a:ext cx="560546" cy="560546"/>
          </a:xfrm>
          <a:prstGeom prst="roundRect">
            <a:avLst>
              <a:gd name="adj" fmla="val 163127"/>
            </a:avLst>
          </a:prstGeom>
          <a:solidFill>
            <a:srgbClr val="E5E5E0"/>
          </a:solidFill>
          <a:ln/>
        </p:spPr>
      </p:sp>
      <p:pic>
        <p:nvPicPr>
          <p:cNvPr id="6" name="Image 0" descr="preencoded.png"/>
          <p:cNvPicPr>
            <a:picLocks noChangeAspect="1"/>
          </p:cNvPicPr>
          <p:nvPr/>
        </p:nvPicPr>
        <p:blipFill>
          <a:blip r:embed="rId3"/>
          <a:stretch>
            <a:fillRect/>
          </a:stretch>
        </p:blipFill>
        <p:spPr>
          <a:xfrm>
            <a:off x="3872389" y="1611749"/>
            <a:ext cx="224195" cy="280273"/>
          </a:xfrm>
          <a:prstGeom prst="rect">
            <a:avLst/>
          </a:prstGeom>
        </p:spPr>
      </p:pic>
      <p:sp>
        <p:nvSpPr>
          <p:cNvPr id="7" name="Text 4"/>
          <p:cNvSpPr/>
          <p:nvPr/>
        </p:nvSpPr>
        <p:spPr>
          <a:xfrm>
            <a:off x="957143" y="2219087"/>
            <a:ext cx="2336006" cy="291941"/>
          </a:xfrm>
          <a:prstGeom prst="rect">
            <a:avLst/>
          </a:prstGeom>
          <a:noFill/>
          <a:ln/>
        </p:spPr>
        <p:txBody>
          <a:bodyPr wrap="none" lIns="0" tIns="0" rIns="0" bIns="0" rtlCol="0" anchor="t"/>
          <a:lstStyle/>
          <a:p>
            <a:pPr marL="0" indent="0" algn="l">
              <a:lnSpc>
                <a:spcPts val="2250"/>
              </a:lnSpc>
              <a:buNone/>
            </a:pPr>
            <a:r>
              <a:rPr lang="en-US" sz="1800" dirty="0">
                <a:solidFill>
                  <a:srgbClr val="272525"/>
                </a:solidFill>
                <a:latin typeface="Bahnschrift Light" panose="020B0502040204020203" pitchFamily="34" charset="0"/>
                <a:ea typeface="Gelasio" pitchFamily="34" charset="-122"/>
                <a:cs typeface="Gelasio" pitchFamily="34" charset="-120"/>
              </a:rPr>
              <a:t>Product Management</a:t>
            </a:r>
            <a:endParaRPr lang="en-US" sz="1800" dirty="0">
              <a:latin typeface="Bahnschrift Light" panose="020B0502040204020203" pitchFamily="34" charset="0"/>
            </a:endParaRPr>
          </a:p>
        </p:txBody>
      </p:sp>
      <p:sp>
        <p:nvSpPr>
          <p:cNvPr id="8" name="Text 5"/>
          <p:cNvSpPr/>
          <p:nvPr/>
        </p:nvSpPr>
        <p:spPr>
          <a:xfrm>
            <a:off x="957143" y="2623066"/>
            <a:ext cx="6054923" cy="598170"/>
          </a:xfrm>
          <a:prstGeom prst="rect">
            <a:avLst/>
          </a:prstGeom>
          <a:noFill/>
          <a:ln/>
        </p:spPr>
        <p:txBody>
          <a:bodyPr wrap="square" lIns="0" tIns="0" rIns="0" bIns="0" rtlCol="0" anchor="t"/>
          <a:lstStyle/>
          <a:p>
            <a:pPr marL="0" indent="0" algn="l">
              <a:lnSpc>
                <a:spcPts val="2350"/>
              </a:lnSpc>
              <a:buNone/>
            </a:pPr>
            <a:r>
              <a:rPr lang="en-US" sz="1450" dirty="0">
                <a:solidFill>
                  <a:srgbClr val="272525"/>
                </a:solidFill>
                <a:latin typeface="Bahnschrift Light" panose="020B0502040204020203" pitchFamily="34" charset="0"/>
                <a:ea typeface="Lato" pitchFamily="34" charset="-122"/>
                <a:cs typeface="Lato" pitchFamily="34" charset="-120"/>
              </a:rPr>
              <a:t>Seamlessly add, update, and remove product information, including stock levels, pricing, and descriptions.</a:t>
            </a:r>
            <a:endParaRPr lang="en-US" sz="1450" dirty="0">
              <a:latin typeface="Bahnschrift Light" panose="020B0502040204020203" pitchFamily="34" charset="0"/>
            </a:endParaRPr>
          </a:p>
        </p:txBody>
      </p:sp>
      <p:sp>
        <p:nvSpPr>
          <p:cNvPr id="9" name="Shape 6"/>
          <p:cNvSpPr/>
          <p:nvPr/>
        </p:nvSpPr>
        <p:spPr>
          <a:xfrm>
            <a:off x="7408545" y="1751886"/>
            <a:ext cx="6474381" cy="1679019"/>
          </a:xfrm>
          <a:prstGeom prst="roundRect">
            <a:avLst>
              <a:gd name="adj" fmla="val 6535"/>
            </a:avLst>
          </a:prstGeom>
          <a:solidFill>
            <a:srgbClr val="FFFFFF">
              <a:alpha val="95000"/>
            </a:srgbClr>
          </a:solidFill>
          <a:ln/>
        </p:spPr>
      </p:sp>
      <p:sp>
        <p:nvSpPr>
          <p:cNvPr id="10" name="Shape 7"/>
          <p:cNvSpPr/>
          <p:nvPr/>
        </p:nvSpPr>
        <p:spPr>
          <a:xfrm>
            <a:off x="7408545" y="1729026"/>
            <a:ext cx="6474381" cy="91440"/>
          </a:xfrm>
          <a:prstGeom prst="roundRect">
            <a:avLst>
              <a:gd name="adj" fmla="val 85838"/>
            </a:avLst>
          </a:prstGeom>
          <a:solidFill>
            <a:srgbClr val="E5E5E0"/>
          </a:solidFill>
          <a:ln/>
        </p:spPr>
      </p:sp>
      <p:sp>
        <p:nvSpPr>
          <p:cNvPr id="11" name="Shape 8"/>
          <p:cNvSpPr/>
          <p:nvPr/>
        </p:nvSpPr>
        <p:spPr>
          <a:xfrm>
            <a:off x="10365462" y="1471612"/>
            <a:ext cx="560546" cy="560546"/>
          </a:xfrm>
          <a:prstGeom prst="roundRect">
            <a:avLst>
              <a:gd name="adj" fmla="val 163127"/>
            </a:avLst>
          </a:prstGeom>
          <a:solidFill>
            <a:srgbClr val="E5E5E0"/>
          </a:solidFill>
          <a:ln/>
        </p:spPr>
      </p:sp>
      <p:pic>
        <p:nvPicPr>
          <p:cNvPr id="12" name="Image 1" descr="preencoded.png"/>
          <p:cNvPicPr>
            <a:picLocks noChangeAspect="1"/>
          </p:cNvPicPr>
          <p:nvPr/>
        </p:nvPicPr>
        <p:blipFill>
          <a:blip r:embed="rId4"/>
          <a:stretch>
            <a:fillRect/>
          </a:stretch>
        </p:blipFill>
        <p:spPr>
          <a:xfrm>
            <a:off x="10533578" y="1611749"/>
            <a:ext cx="224195" cy="280273"/>
          </a:xfrm>
          <a:prstGeom prst="rect">
            <a:avLst/>
          </a:prstGeom>
        </p:spPr>
      </p:pic>
      <p:sp>
        <p:nvSpPr>
          <p:cNvPr id="13" name="Text 9"/>
          <p:cNvSpPr/>
          <p:nvPr/>
        </p:nvSpPr>
        <p:spPr>
          <a:xfrm>
            <a:off x="7618214" y="2219087"/>
            <a:ext cx="3493294" cy="291941"/>
          </a:xfrm>
          <a:prstGeom prst="rect">
            <a:avLst/>
          </a:prstGeom>
          <a:noFill/>
          <a:ln/>
        </p:spPr>
        <p:txBody>
          <a:bodyPr wrap="none" lIns="0" tIns="0" rIns="0" bIns="0" rtlCol="0" anchor="t"/>
          <a:lstStyle/>
          <a:p>
            <a:pPr marL="0" indent="0" algn="l">
              <a:lnSpc>
                <a:spcPts val="2250"/>
              </a:lnSpc>
              <a:buNone/>
            </a:pPr>
            <a:r>
              <a:rPr lang="en-US" sz="1800" dirty="0">
                <a:solidFill>
                  <a:srgbClr val="272525"/>
                </a:solidFill>
                <a:latin typeface="Bahnschrift Light" panose="020B0502040204020203" pitchFamily="34" charset="0"/>
                <a:ea typeface="Gelasio" pitchFamily="34" charset="-122"/>
                <a:cs typeface="Gelasio" pitchFamily="34" charset="-120"/>
              </a:rPr>
              <a:t>Automated Sales &amp; Stock Updates</a:t>
            </a:r>
            <a:endParaRPr lang="en-US" sz="1800" dirty="0">
              <a:latin typeface="Bahnschrift Light" panose="020B0502040204020203" pitchFamily="34" charset="0"/>
            </a:endParaRPr>
          </a:p>
        </p:txBody>
      </p:sp>
      <p:sp>
        <p:nvSpPr>
          <p:cNvPr id="14" name="Text 10"/>
          <p:cNvSpPr/>
          <p:nvPr/>
        </p:nvSpPr>
        <p:spPr>
          <a:xfrm>
            <a:off x="7618214" y="2623066"/>
            <a:ext cx="6055043" cy="598170"/>
          </a:xfrm>
          <a:prstGeom prst="rect">
            <a:avLst/>
          </a:prstGeom>
          <a:noFill/>
          <a:ln/>
        </p:spPr>
        <p:txBody>
          <a:bodyPr wrap="square" lIns="0" tIns="0" rIns="0" bIns="0" rtlCol="0" anchor="t"/>
          <a:lstStyle/>
          <a:p>
            <a:pPr marL="0" indent="0" algn="l">
              <a:lnSpc>
                <a:spcPts val="2350"/>
              </a:lnSpc>
              <a:buNone/>
            </a:pPr>
            <a:r>
              <a:rPr lang="en-US" sz="1450" dirty="0">
                <a:solidFill>
                  <a:srgbClr val="272525"/>
                </a:solidFill>
                <a:latin typeface="Bahnschrift Light" panose="020B0502040204020203" pitchFamily="34" charset="0"/>
                <a:ea typeface="Lato" pitchFamily="34" charset="-122"/>
                <a:cs typeface="Lato" pitchFamily="34" charset="-120"/>
              </a:rPr>
              <a:t>Effortlessly record sales transactions, with the system automatically deducting sold items from inventory in real-time.</a:t>
            </a:r>
            <a:endParaRPr lang="en-US" sz="1450" dirty="0">
              <a:latin typeface="Bahnschrift Light" panose="020B0502040204020203" pitchFamily="34" charset="0"/>
            </a:endParaRPr>
          </a:p>
        </p:txBody>
      </p:sp>
      <p:sp>
        <p:nvSpPr>
          <p:cNvPr id="15" name="Shape 11"/>
          <p:cNvSpPr/>
          <p:nvPr/>
        </p:nvSpPr>
        <p:spPr>
          <a:xfrm>
            <a:off x="747474" y="3897987"/>
            <a:ext cx="6474262" cy="1679019"/>
          </a:xfrm>
          <a:prstGeom prst="roundRect">
            <a:avLst>
              <a:gd name="adj" fmla="val 6535"/>
            </a:avLst>
          </a:prstGeom>
          <a:solidFill>
            <a:srgbClr val="FFFFFF">
              <a:alpha val="95000"/>
            </a:srgbClr>
          </a:solidFill>
          <a:ln/>
        </p:spPr>
      </p:sp>
      <p:sp>
        <p:nvSpPr>
          <p:cNvPr id="16" name="Shape 12"/>
          <p:cNvSpPr/>
          <p:nvPr/>
        </p:nvSpPr>
        <p:spPr>
          <a:xfrm>
            <a:off x="747474" y="3875127"/>
            <a:ext cx="6474262" cy="91440"/>
          </a:xfrm>
          <a:prstGeom prst="roundRect">
            <a:avLst>
              <a:gd name="adj" fmla="val 85838"/>
            </a:avLst>
          </a:prstGeom>
          <a:solidFill>
            <a:srgbClr val="E5E5E0"/>
          </a:solidFill>
          <a:ln/>
        </p:spPr>
      </p:sp>
      <p:sp>
        <p:nvSpPr>
          <p:cNvPr id="17" name="Shape 13"/>
          <p:cNvSpPr/>
          <p:nvPr/>
        </p:nvSpPr>
        <p:spPr>
          <a:xfrm>
            <a:off x="3704273" y="3617714"/>
            <a:ext cx="560546" cy="560546"/>
          </a:xfrm>
          <a:prstGeom prst="roundRect">
            <a:avLst>
              <a:gd name="adj" fmla="val 163127"/>
            </a:avLst>
          </a:prstGeom>
          <a:solidFill>
            <a:srgbClr val="E5E5E0"/>
          </a:solidFill>
          <a:ln/>
        </p:spPr>
      </p:sp>
      <p:pic>
        <p:nvPicPr>
          <p:cNvPr id="18" name="Image 2" descr="preencoded.png"/>
          <p:cNvPicPr>
            <a:picLocks noChangeAspect="1"/>
          </p:cNvPicPr>
          <p:nvPr/>
        </p:nvPicPr>
        <p:blipFill>
          <a:blip r:embed="rId5"/>
          <a:stretch>
            <a:fillRect/>
          </a:stretch>
        </p:blipFill>
        <p:spPr>
          <a:xfrm>
            <a:off x="3872389" y="3757851"/>
            <a:ext cx="224195" cy="280273"/>
          </a:xfrm>
          <a:prstGeom prst="rect">
            <a:avLst/>
          </a:prstGeom>
        </p:spPr>
      </p:pic>
      <p:sp>
        <p:nvSpPr>
          <p:cNvPr id="19" name="Text 14"/>
          <p:cNvSpPr/>
          <p:nvPr/>
        </p:nvSpPr>
        <p:spPr>
          <a:xfrm>
            <a:off x="957143" y="4365188"/>
            <a:ext cx="2466023" cy="291941"/>
          </a:xfrm>
          <a:prstGeom prst="rect">
            <a:avLst/>
          </a:prstGeom>
          <a:noFill/>
          <a:ln/>
        </p:spPr>
        <p:txBody>
          <a:bodyPr wrap="none" lIns="0" tIns="0" rIns="0" bIns="0" rtlCol="0" anchor="t"/>
          <a:lstStyle/>
          <a:p>
            <a:pPr marL="0" indent="0" algn="l">
              <a:lnSpc>
                <a:spcPts val="2250"/>
              </a:lnSpc>
              <a:buNone/>
            </a:pPr>
            <a:r>
              <a:rPr lang="en-US" sz="1800" dirty="0">
                <a:solidFill>
                  <a:srgbClr val="272525"/>
                </a:solidFill>
                <a:latin typeface="Bahnschrift Light" panose="020B0502040204020203" pitchFamily="34" charset="0"/>
                <a:ea typeface="Gelasio" pitchFamily="34" charset="-122"/>
                <a:cs typeface="Gelasio" pitchFamily="34" charset="-120"/>
              </a:rPr>
              <a:t>Low-Stock Alert System</a:t>
            </a:r>
            <a:endParaRPr lang="en-US" sz="1800" dirty="0">
              <a:latin typeface="Bahnschrift Light" panose="020B0502040204020203" pitchFamily="34" charset="0"/>
            </a:endParaRPr>
          </a:p>
        </p:txBody>
      </p:sp>
      <p:sp>
        <p:nvSpPr>
          <p:cNvPr id="20" name="Text 15"/>
          <p:cNvSpPr/>
          <p:nvPr/>
        </p:nvSpPr>
        <p:spPr>
          <a:xfrm>
            <a:off x="957143" y="4769168"/>
            <a:ext cx="6054923" cy="598170"/>
          </a:xfrm>
          <a:prstGeom prst="rect">
            <a:avLst/>
          </a:prstGeom>
          <a:noFill/>
          <a:ln/>
        </p:spPr>
        <p:txBody>
          <a:bodyPr wrap="square" lIns="0" tIns="0" rIns="0" bIns="0" rtlCol="0" anchor="t"/>
          <a:lstStyle/>
          <a:p>
            <a:pPr marL="0" indent="0" algn="l">
              <a:lnSpc>
                <a:spcPts val="2350"/>
              </a:lnSpc>
              <a:buNone/>
            </a:pPr>
            <a:r>
              <a:rPr lang="en-US" sz="1450" dirty="0">
                <a:solidFill>
                  <a:srgbClr val="272525"/>
                </a:solidFill>
                <a:latin typeface="Bahnschrift Light" panose="020B0502040204020203" pitchFamily="34" charset="0"/>
                <a:ea typeface="Lato" pitchFamily="34" charset="-122"/>
                <a:cs typeface="Lato" pitchFamily="34" charset="-120"/>
              </a:rPr>
              <a:t>Receive immediate notifications when product quantities fall below a predefined reorder threshold, preventing stockouts.</a:t>
            </a:r>
            <a:endParaRPr lang="en-US" sz="1450" dirty="0">
              <a:latin typeface="Bahnschrift Light" panose="020B0502040204020203" pitchFamily="34" charset="0"/>
            </a:endParaRPr>
          </a:p>
        </p:txBody>
      </p:sp>
      <p:sp>
        <p:nvSpPr>
          <p:cNvPr id="21" name="Shape 16"/>
          <p:cNvSpPr/>
          <p:nvPr/>
        </p:nvSpPr>
        <p:spPr>
          <a:xfrm>
            <a:off x="7408545" y="3897987"/>
            <a:ext cx="6474381" cy="1679019"/>
          </a:xfrm>
          <a:prstGeom prst="roundRect">
            <a:avLst>
              <a:gd name="adj" fmla="val 6535"/>
            </a:avLst>
          </a:prstGeom>
          <a:solidFill>
            <a:srgbClr val="FFFFFF">
              <a:alpha val="95000"/>
            </a:srgbClr>
          </a:solidFill>
          <a:ln/>
        </p:spPr>
      </p:sp>
      <p:sp>
        <p:nvSpPr>
          <p:cNvPr id="22" name="Shape 17"/>
          <p:cNvSpPr/>
          <p:nvPr/>
        </p:nvSpPr>
        <p:spPr>
          <a:xfrm>
            <a:off x="7408545" y="3875127"/>
            <a:ext cx="6474381" cy="91440"/>
          </a:xfrm>
          <a:prstGeom prst="roundRect">
            <a:avLst>
              <a:gd name="adj" fmla="val 85838"/>
            </a:avLst>
          </a:prstGeom>
          <a:solidFill>
            <a:srgbClr val="E5E5E0"/>
          </a:solidFill>
          <a:ln/>
        </p:spPr>
      </p:sp>
      <p:sp>
        <p:nvSpPr>
          <p:cNvPr id="23" name="Shape 18"/>
          <p:cNvSpPr/>
          <p:nvPr/>
        </p:nvSpPr>
        <p:spPr>
          <a:xfrm>
            <a:off x="10365462" y="3617714"/>
            <a:ext cx="560546" cy="560546"/>
          </a:xfrm>
          <a:prstGeom prst="roundRect">
            <a:avLst>
              <a:gd name="adj" fmla="val 163127"/>
            </a:avLst>
          </a:prstGeom>
          <a:solidFill>
            <a:srgbClr val="E5E5E0"/>
          </a:solidFill>
          <a:ln/>
        </p:spPr>
      </p:sp>
      <p:pic>
        <p:nvPicPr>
          <p:cNvPr id="24" name="Image 3" descr="preencoded.png"/>
          <p:cNvPicPr>
            <a:picLocks noChangeAspect="1"/>
          </p:cNvPicPr>
          <p:nvPr/>
        </p:nvPicPr>
        <p:blipFill>
          <a:blip r:embed="rId6"/>
          <a:stretch>
            <a:fillRect/>
          </a:stretch>
        </p:blipFill>
        <p:spPr>
          <a:xfrm>
            <a:off x="10533578" y="3757851"/>
            <a:ext cx="224195" cy="280273"/>
          </a:xfrm>
          <a:prstGeom prst="rect">
            <a:avLst/>
          </a:prstGeom>
        </p:spPr>
      </p:pic>
      <p:sp>
        <p:nvSpPr>
          <p:cNvPr id="25" name="Text 19"/>
          <p:cNvSpPr/>
          <p:nvPr/>
        </p:nvSpPr>
        <p:spPr>
          <a:xfrm>
            <a:off x="7618214" y="4365188"/>
            <a:ext cx="2702004" cy="291941"/>
          </a:xfrm>
          <a:prstGeom prst="rect">
            <a:avLst/>
          </a:prstGeom>
          <a:noFill/>
          <a:ln/>
        </p:spPr>
        <p:txBody>
          <a:bodyPr wrap="none" lIns="0" tIns="0" rIns="0" bIns="0" rtlCol="0" anchor="t"/>
          <a:lstStyle/>
          <a:p>
            <a:pPr marL="0" indent="0" algn="l">
              <a:lnSpc>
                <a:spcPts val="2250"/>
              </a:lnSpc>
              <a:buNone/>
            </a:pPr>
            <a:r>
              <a:rPr lang="en-US" sz="1800" dirty="0">
                <a:solidFill>
                  <a:srgbClr val="272525"/>
                </a:solidFill>
                <a:latin typeface="Bahnschrift Light" panose="020B0502040204020203" pitchFamily="34" charset="0"/>
                <a:ea typeface="Gelasio" pitchFamily="34" charset="-122"/>
                <a:cs typeface="Gelasio" pitchFamily="34" charset="-120"/>
              </a:rPr>
              <a:t>Comprehensive Reporting</a:t>
            </a:r>
            <a:endParaRPr lang="en-US" sz="1800" dirty="0">
              <a:latin typeface="Bahnschrift Light" panose="020B0502040204020203" pitchFamily="34" charset="0"/>
            </a:endParaRPr>
          </a:p>
        </p:txBody>
      </p:sp>
      <p:sp>
        <p:nvSpPr>
          <p:cNvPr id="26" name="Text 20"/>
          <p:cNvSpPr/>
          <p:nvPr/>
        </p:nvSpPr>
        <p:spPr>
          <a:xfrm>
            <a:off x="7618214" y="4769168"/>
            <a:ext cx="6055043" cy="598170"/>
          </a:xfrm>
          <a:prstGeom prst="rect">
            <a:avLst/>
          </a:prstGeom>
          <a:noFill/>
          <a:ln/>
        </p:spPr>
        <p:txBody>
          <a:bodyPr wrap="square" lIns="0" tIns="0" rIns="0" bIns="0" rtlCol="0" anchor="t"/>
          <a:lstStyle/>
          <a:p>
            <a:pPr marL="0" indent="0" algn="l">
              <a:lnSpc>
                <a:spcPts val="2350"/>
              </a:lnSpc>
              <a:buNone/>
            </a:pPr>
            <a:r>
              <a:rPr lang="en-US" sz="1450" dirty="0">
                <a:solidFill>
                  <a:srgbClr val="272525"/>
                </a:solidFill>
                <a:latin typeface="Bahnschrift Light" panose="020B0502040204020203" pitchFamily="34" charset="0"/>
                <a:ea typeface="Lato" pitchFamily="34" charset="-122"/>
                <a:cs typeface="Lato" pitchFamily="34" charset="-120"/>
              </a:rPr>
              <a:t>Generate and export detailed inventory reports, sales summaries, and stock movement analytics for informed decision-making.</a:t>
            </a:r>
            <a:endParaRPr lang="en-US" sz="1450" dirty="0">
              <a:latin typeface="Bahnschrift Light" panose="020B0502040204020203" pitchFamily="34" charset="0"/>
            </a:endParaRPr>
          </a:p>
        </p:txBody>
      </p:sp>
      <p:sp>
        <p:nvSpPr>
          <p:cNvPr id="27" name="Shape 21"/>
          <p:cNvSpPr/>
          <p:nvPr/>
        </p:nvSpPr>
        <p:spPr>
          <a:xfrm>
            <a:off x="747474" y="6044089"/>
            <a:ext cx="6474262" cy="1679019"/>
          </a:xfrm>
          <a:prstGeom prst="roundRect">
            <a:avLst>
              <a:gd name="adj" fmla="val 6535"/>
            </a:avLst>
          </a:prstGeom>
          <a:solidFill>
            <a:srgbClr val="FFFFFF">
              <a:alpha val="95000"/>
            </a:srgbClr>
          </a:solidFill>
          <a:ln/>
        </p:spPr>
      </p:sp>
      <p:sp>
        <p:nvSpPr>
          <p:cNvPr id="28" name="Shape 22"/>
          <p:cNvSpPr/>
          <p:nvPr/>
        </p:nvSpPr>
        <p:spPr>
          <a:xfrm>
            <a:off x="747474" y="6021229"/>
            <a:ext cx="6474262" cy="91440"/>
          </a:xfrm>
          <a:prstGeom prst="roundRect">
            <a:avLst>
              <a:gd name="adj" fmla="val 85838"/>
            </a:avLst>
          </a:prstGeom>
          <a:solidFill>
            <a:srgbClr val="E5E5E0"/>
          </a:solidFill>
          <a:ln/>
        </p:spPr>
      </p:sp>
      <p:sp>
        <p:nvSpPr>
          <p:cNvPr id="29" name="Shape 23"/>
          <p:cNvSpPr/>
          <p:nvPr/>
        </p:nvSpPr>
        <p:spPr>
          <a:xfrm>
            <a:off x="3704273" y="5763816"/>
            <a:ext cx="560546" cy="560546"/>
          </a:xfrm>
          <a:prstGeom prst="roundRect">
            <a:avLst>
              <a:gd name="adj" fmla="val 163127"/>
            </a:avLst>
          </a:prstGeom>
          <a:solidFill>
            <a:srgbClr val="E5E5E0"/>
          </a:solidFill>
          <a:ln/>
        </p:spPr>
      </p:sp>
      <p:pic>
        <p:nvPicPr>
          <p:cNvPr id="30" name="Image 4" descr="preencoded.png"/>
          <p:cNvPicPr>
            <a:picLocks noChangeAspect="1"/>
          </p:cNvPicPr>
          <p:nvPr/>
        </p:nvPicPr>
        <p:blipFill>
          <a:blip r:embed="rId7"/>
          <a:stretch>
            <a:fillRect/>
          </a:stretch>
        </p:blipFill>
        <p:spPr>
          <a:xfrm>
            <a:off x="3872389" y="5903952"/>
            <a:ext cx="224195" cy="280273"/>
          </a:xfrm>
          <a:prstGeom prst="rect">
            <a:avLst/>
          </a:prstGeom>
        </p:spPr>
      </p:pic>
      <p:sp>
        <p:nvSpPr>
          <p:cNvPr id="31" name="Text 24"/>
          <p:cNvSpPr/>
          <p:nvPr/>
        </p:nvSpPr>
        <p:spPr>
          <a:xfrm>
            <a:off x="957143" y="6511290"/>
            <a:ext cx="2336006" cy="291941"/>
          </a:xfrm>
          <a:prstGeom prst="rect">
            <a:avLst/>
          </a:prstGeom>
          <a:noFill/>
          <a:ln/>
        </p:spPr>
        <p:txBody>
          <a:bodyPr wrap="none" lIns="0" tIns="0" rIns="0" bIns="0" rtlCol="0" anchor="t"/>
          <a:lstStyle/>
          <a:p>
            <a:pPr marL="0" indent="0" algn="l">
              <a:lnSpc>
                <a:spcPts val="2250"/>
              </a:lnSpc>
              <a:buNone/>
            </a:pPr>
            <a:r>
              <a:rPr lang="en-US" sz="1800" dirty="0">
                <a:solidFill>
                  <a:srgbClr val="272525"/>
                </a:solidFill>
                <a:latin typeface="Bahnschrift Light" panose="020B0502040204020203" pitchFamily="34" charset="0"/>
                <a:ea typeface="Gelasio" pitchFamily="34" charset="-122"/>
                <a:cs typeface="Gelasio" pitchFamily="34" charset="-120"/>
              </a:rPr>
              <a:t>Supplier Management</a:t>
            </a:r>
            <a:endParaRPr lang="en-US" sz="1800" dirty="0">
              <a:latin typeface="Bahnschrift Light" panose="020B0502040204020203" pitchFamily="34" charset="0"/>
            </a:endParaRPr>
          </a:p>
        </p:txBody>
      </p:sp>
      <p:sp>
        <p:nvSpPr>
          <p:cNvPr id="32" name="Text 25"/>
          <p:cNvSpPr/>
          <p:nvPr/>
        </p:nvSpPr>
        <p:spPr>
          <a:xfrm>
            <a:off x="957143" y="6915269"/>
            <a:ext cx="6054923" cy="598170"/>
          </a:xfrm>
          <a:prstGeom prst="rect">
            <a:avLst/>
          </a:prstGeom>
          <a:noFill/>
          <a:ln/>
        </p:spPr>
        <p:txBody>
          <a:bodyPr wrap="square" lIns="0" tIns="0" rIns="0" bIns="0" rtlCol="0" anchor="t"/>
          <a:lstStyle/>
          <a:p>
            <a:pPr marL="0" indent="0" algn="l">
              <a:lnSpc>
                <a:spcPts val="2350"/>
              </a:lnSpc>
              <a:buNone/>
            </a:pPr>
            <a:r>
              <a:rPr lang="en-US" sz="1450" dirty="0">
                <a:solidFill>
                  <a:srgbClr val="272525"/>
                </a:solidFill>
                <a:latin typeface="Bahnschrift Light" panose="020B0502040204020203" pitchFamily="34" charset="0"/>
                <a:ea typeface="Lato" pitchFamily="34" charset="-122"/>
                <a:cs typeface="Lato" pitchFamily="34" charset="-120"/>
              </a:rPr>
              <a:t>Maintain a database of suppliers, linking products to their respective vendors for streamlined procurement.</a:t>
            </a:r>
            <a:endParaRPr lang="en-US" sz="1450" dirty="0">
              <a:latin typeface="Bahnschrift Light" panose="020B0502040204020203" pitchFamily="34" charset="0"/>
            </a:endParaRPr>
          </a:p>
        </p:txBody>
      </p:sp>
      <p:sp>
        <p:nvSpPr>
          <p:cNvPr id="33" name="Shape 26"/>
          <p:cNvSpPr/>
          <p:nvPr/>
        </p:nvSpPr>
        <p:spPr>
          <a:xfrm>
            <a:off x="7408545" y="6044089"/>
            <a:ext cx="6474381" cy="1679019"/>
          </a:xfrm>
          <a:prstGeom prst="roundRect">
            <a:avLst>
              <a:gd name="adj" fmla="val 6535"/>
            </a:avLst>
          </a:prstGeom>
          <a:solidFill>
            <a:srgbClr val="FFFFFF">
              <a:alpha val="95000"/>
            </a:srgbClr>
          </a:solidFill>
          <a:ln/>
        </p:spPr>
      </p:sp>
      <p:sp>
        <p:nvSpPr>
          <p:cNvPr id="34" name="Shape 27"/>
          <p:cNvSpPr/>
          <p:nvPr/>
        </p:nvSpPr>
        <p:spPr>
          <a:xfrm>
            <a:off x="7408545" y="6021229"/>
            <a:ext cx="6474381" cy="91440"/>
          </a:xfrm>
          <a:prstGeom prst="roundRect">
            <a:avLst>
              <a:gd name="adj" fmla="val 85838"/>
            </a:avLst>
          </a:prstGeom>
          <a:solidFill>
            <a:srgbClr val="E5E5E0"/>
          </a:solidFill>
          <a:ln/>
        </p:spPr>
      </p:sp>
      <p:sp>
        <p:nvSpPr>
          <p:cNvPr id="35" name="Shape 28"/>
          <p:cNvSpPr/>
          <p:nvPr/>
        </p:nvSpPr>
        <p:spPr>
          <a:xfrm>
            <a:off x="10365462" y="5763816"/>
            <a:ext cx="560546" cy="560546"/>
          </a:xfrm>
          <a:prstGeom prst="roundRect">
            <a:avLst>
              <a:gd name="adj" fmla="val 163127"/>
            </a:avLst>
          </a:prstGeom>
          <a:solidFill>
            <a:srgbClr val="E5E5E0"/>
          </a:solidFill>
          <a:ln/>
        </p:spPr>
      </p:sp>
      <p:pic>
        <p:nvPicPr>
          <p:cNvPr id="36" name="Image 5" descr="preencoded.png"/>
          <p:cNvPicPr>
            <a:picLocks noChangeAspect="1"/>
          </p:cNvPicPr>
          <p:nvPr/>
        </p:nvPicPr>
        <p:blipFill>
          <a:blip r:embed="rId8"/>
          <a:stretch>
            <a:fillRect/>
          </a:stretch>
        </p:blipFill>
        <p:spPr>
          <a:xfrm>
            <a:off x="10533578" y="5903952"/>
            <a:ext cx="224195" cy="280273"/>
          </a:xfrm>
          <a:prstGeom prst="rect">
            <a:avLst/>
          </a:prstGeom>
        </p:spPr>
      </p:pic>
      <p:sp>
        <p:nvSpPr>
          <p:cNvPr id="37" name="Text 29"/>
          <p:cNvSpPr/>
          <p:nvPr/>
        </p:nvSpPr>
        <p:spPr>
          <a:xfrm>
            <a:off x="7618214" y="6511290"/>
            <a:ext cx="2753558" cy="291941"/>
          </a:xfrm>
          <a:prstGeom prst="rect">
            <a:avLst/>
          </a:prstGeom>
          <a:noFill/>
          <a:ln/>
        </p:spPr>
        <p:txBody>
          <a:bodyPr wrap="none" lIns="0" tIns="0" rIns="0" bIns="0" rtlCol="0" anchor="t"/>
          <a:lstStyle/>
          <a:p>
            <a:pPr marL="0" indent="0" algn="l">
              <a:lnSpc>
                <a:spcPts val="2250"/>
              </a:lnSpc>
              <a:buNone/>
            </a:pPr>
            <a:r>
              <a:rPr lang="en-US" sz="1800" dirty="0">
                <a:solidFill>
                  <a:srgbClr val="272525"/>
                </a:solidFill>
                <a:latin typeface="Bahnschrift Light" panose="020B0502040204020203" pitchFamily="34" charset="0"/>
                <a:ea typeface="Gelasio" pitchFamily="34" charset="-122"/>
                <a:cs typeface="Gelasio" pitchFamily="34" charset="-120"/>
              </a:rPr>
              <a:t>Role-Based Access Control</a:t>
            </a:r>
            <a:endParaRPr lang="en-US" sz="1800" dirty="0">
              <a:latin typeface="Bahnschrift Light" panose="020B0502040204020203" pitchFamily="34" charset="0"/>
            </a:endParaRPr>
          </a:p>
        </p:txBody>
      </p:sp>
      <p:sp>
        <p:nvSpPr>
          <p:cNvPr id="38" name="Text 30"/>
          <p:cNvSpPr/>
          <p:nvPr/>
        </p:nvSpPr>
        <p:spPr>
          <a:xfrm>
            <a:off x="7618214" y="6915269"/>
            <a:ext cx="6055043" cy="598170"/>
          </a:xfrm>
          <a:prstGeom prst="rect">
            <a:avLst/>
          </a:prstGeom>
          <a:noFill/>
          <a:ln/>
        </p:spPr>
        <p:txBody>
          <a:bodyPr wrap="square" lIns="0" tIns="0" rIns="0" bIns="0" rtlCol="0" anchor="t"/>
          <a:lstStyle/>
          <a:p>
            <a:pPr marL="0" indent="0" algn="l">
              <a:lnSpc>
                <a:spcPts val="2350"/>
              </a:lnSpc>
              <a:buNone/>
            </a:pPr>
            <a:r>
              <a:rPr lang="en-US" sz="1450" dirty="0">
                <a:solidFill>
                  <a:srgbClr val="272525"/>
                </a:solidFill>
                <a:latin typeface="Bahnschrift Light" panose="020B0502040204020203" pitchFamily="34" charset="0"/>
                <a:ea typeface="Lato" pitchFamily="34" charset="-122"/>
                <a:cs typeface="Lato" pitchFamily="34" charset="-120"/>
              </a:rPr>
              <a:t>Ensure data security and operational integrity with distinct login roles for Administrators and Sales Clerks.</a:t>
            </a:r>
            <a:endParaRPr lang="en-US" sz="1450" dirty="0">
              <a:latin typeface="Bahnschrift Light" panose="020B0502040204020203" pitchFamily="34" charset="0"/>
            </a:endParaRPr>
          </a:p>
        </p:txBody>
      </p:sp>
      <p:sp>
        <p:nvSpPr>
          <p:cNvPr id="39" name="Rectangle 38">
            <a:extLst>
              <a:ext uri="{FF2B5EF4-FFF2-40B4-BE49-F238E27FC236}">
                <a16:creationId xmlns:a16="http://schemas.microsoft.com/office/drawing/2014/main" id="{7215FB06-2827-4093-BB86-40C8574E1E26}"/>
              </a:ext>
            </a:extLst>
          </p:cNvPr>
          <p:cNvSpPr/>
          <p:nvPr/>
        </p:nvSpPr>
        <p:spPr>
          <a:xfrm>
            <a:off x="12862560" y="7802880"/>
            <a:ext cx="1625600" cy="317540"/>
          </a:xfrm>
          <a:prstGeom prst="rect">
            <a:avLst/>
          </a:prstGeom>
          <a:solidFill>
            <a:srgbClr val="FEFEFE"/>
          </a:solidFill>
          <a:ln>
            <a:solidFill>
              <a:srgbClr val="FEFE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hnschrift Light" panose="020B0502040204020203"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897850"/>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12F2B"/>
                </a:solidFill>
                <a:latin typeface="Bahnschrift Light" panose="020B0502040204020203" pitchFamily="34" charset="0"/>
                <a:ea typeface="Gelasio" pitchFamily="34" charset="-122"/>
                <a:cs typeface="Gelasio" pitchFamily="34" charset="-120"/>
              </a:rPr>
              <a:t>Our Agile Approach</a:t>
            </a:r>
            <a:endParaRPr lang="en-US" sz="1950" dirty="0">
              <a:latin typeface="Bahnschrift Light" panose="020B0502040204020203" pitchFamily="34" charset="0"/>
            </a:endParaRPr>
          </a:p>
        </p:txBody>
      </p:sp>
      <p:sp>
        <p:nvSpPr>
          <p:cNvPr id="3" name="Text 1"/>
          <p:cNvSpPr/>
          <p:nvPr/>
        </p:nvSpPr>
        <p:spPr>
          <a:xfrm>
            <a:off x="793790" y="1406366"/>
            <a:ext cx="8637865" cy="620078"/>
          </a:xfrm>
          <a:prstGeom prst="rect">
            <a:avLst/>
          </a:prstGeom>
          <a:noFill/>
          <a:ln/>
        </p:spPr>
        <p:txBody>
          <a:bodyPr wrap="none" lIns="0" tIns="0" rIns="0" bIns="0" rtlCol="0" anchor="t"/>
          <a:lstStyle/>
          <a:p>
            <a:pPr marL="0" indent="0" algn="l">
              <a:lnSpc>
                <a:spcPts val="4850"/>
              </a:lnSpc>
              <a:buNone/>
            </a:pPr>
            <a:r>
              <a:rPr lang="en-US" sz="3900" dirty="0">
                <a:solidFill>
                  <a:srgbClr val="312F2B"/>
                </a:solidFill>
                <a:latin typeface="Bahnschrift Light" panose="020B0502040204020203" pitchFamily="34" charset="0"/>
                <a:ea typeface="Gelasio" pitchFamily="34" charset="-122"/>
                <a:cs typeface="Gelasio" pitchFamily="34" charset="-120"/>
              </a:rPr>
              <a:t>Software Development: Iterative Model</a:t>
            </a:r>
            <a:endParaRPr lang="en-US" sz="3900" dirty="0">
              <a:latin typeface="Bahnschrift Light" panose="020B0502040204020203" pitchFamily="34" charset="0"/>
            </a:endParaRPr>
          </a:p>
        </p:txBody>
      </p:sp>
      <p:sp>
        <p:nvSpPr>
          <p:cNvPr id="4" name="Shape 2"/>
          <p:cNvSpPr/>
          <p:nvPr/>
        </p:nvSpPr>
        <p:spPr>
          <a:xfrm>
            <a:off x="793790" y="2547342"/>
            <a:ext cx="3716774" cy="2181344"/>
          </a:xfrm>
          <a:prstGeom prst="roundRect">
            <a:avLst>
              <a:gd name="adj" fmla="val 3821"/>
            </a:avLst>
          </a:prstGeom>
          <a:solidFill>
            <a:srgbClr val="FFFFFF">
              <a:alpha val="95000"/>
            </a:srgbClr>
          </a:solidFill>
          <a:ln w="22860">
            <a:solidFill>
              <a:srgbClr val="CECEC9"/>
            </a:solidFill>
            <a:prstDash val="solid"/>
          </a:ln>
        </p:spPr>
      </p:sp>
      <p:sp>
        <p:nvSpPr>
          <p:cNvPr id="5" name="Shape 3"/>
          <p:cNvSpPr/>
          <p:nvPr/>
        </p:nvSpPr>
        <p:spPr>
          <a:xfrm>
            <a:off x="816650" y="2570202"/>
            <a:ext cx="3671054" cy="595313"/>
          </a:xfrm>
          <a:prstGeom prst="roundRect">
            <a:avLst>
              <a:gd name="adj" fmla="val 9395"/>
            </a:avLst>
          </a:prstGeom>
          <a:solidFill>
            <a:srgbClr val="E8E8E3"/>
          </a:solidFill>
          <a:ln/>
        </p:spPr>
      </p:sp>
      <p:pic>
        <p:nvPicPr>
          <p:cNvPr id="6" name="Image 0" descr="preencoded.png"/>
          <p:cNvPicPr>
            <a:picLocks noChangeAspect="1"/>
          </p:cNvPicPr>
          <p:nvPr/>
        </p:nvPicPr>
        <p:blipFill>
          <a:blip r:embed="rId3"/>
          <a:stretch>
            <a:fillRect/>
          </a:stretch>
        </p:blipFill>
        <p:spPr>
          <a:xfrm>
            <a:off x="2503289" y="2677954"/>
            <a:ext cx="297656" cy="372070"/>
          </a:xfrm>
          <a:prstGeom prst="rect">
            <a:avLst/>
          </a:prstGeom>
        </p:spPr>
      </p:pic>
      <p:sp>
        <p:nvSpPr>
          <p:cNvPr id="7" name="Text 4"/>
          <p:cNvSpPr/>
          <p:nvPr/>
        </p:nvSpPr>
        <p:spPr>
          <a:xfrm>
            <a:off x="1015008" y="336387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72525"/>
                </a:solidFill>
                <a:latin typeface="Bahnschrift Light" panose="020B0502040204020203" pitchFamily="34" charset="0"/>
                <a:ea typeface="Gelasio" pitchFamily="34" charset="-122"/>
                <a:cs typeface="Gelasio" pitchFamily="34" charset="-120"/>
              </a:rPr>
              <a:t>Planning</a:t>
            </a:r>
            <a:endParaRPr lang="en-US" sz="1950" dirty="0">
              <a:latin typeface="Bahnschrift Light" panose="020B0502040204020203" pitchFamily="34" charset="0"/>
            </a:endParaRPr>
          </a:p>
        </p:txBody>
      </p:sp>
      <p:sp>
        <p:nvSpPr>
          <p:cNvPr id="8" name="Text 5"/>
          <p:cNvSpPr/>
          <p:nvPr/>
        </p:nvSpPr>
        <p:spPr>
          <a:xfrm>
            <a:off x="1015008" y="3872389"/>
            <a:ext cx="3274338"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Bahnschrift Light" panose="020B0502040204020203" pitchFamily="34" charset="0"/>
                <a:ea typeface="Lato" pitchFamily="34" charset="-122"/>
                <a:cs typeface="Lato" pitchFamily="34" charset="-120"/>
              </a:rPr>
              <a:t>Define scope and initial requirements for the iteration.</a:t>
            </a:r>
            <a:endParaRPr lang="en-US" sz="1550" dirty="0">
              <a:latin typeface="Bahnschrift Light" panose="020B0502040204020203" pitchFamily="34" charset="0"/>
            </a:endParaRPr>
          </a:p>
        </p:txBody>
      </p:sp>
      <p:sp>
        <p:nvSpPr>
          <p:cNvPr id="9" name="Shape 6"/>
          <p:cNvSpPr/>
          <p:nvPr/>
        </p:nvSpPr>
        <p:spPr>
          <a:xfrm>
            <a:off x="4708922" y="2547342"/>
            <a:ext cx="3716893" cy="2181344"/>
          </a:xfrm>
          <a:prstGeom prst="roundRect">
            <a:avLst>
              <a:gd name="adj" fmla="val 3821"/>
            </a:avLst>
          </a:prstGeom>
          <a:solidFill>
            <a:srgbClr val="FFFFFF">
              <a:alpha val="95000"/>
            </a:srgbClr>
          </a:solidFill>
          <a:ln w="22860">
            <a:solidFill>
              <a:srgbClr val="CECEC9"/>
            </a:solidFill>
            <a:prstDash val="solid"/>
          </a:ln>
        </p:spPr>
      </p:sp>
      <p:sp>
        <p:nvSpPr>
          <p:cNvPr id="10" name="Shape 7"/>
          <p:cNvSpPr/>
          <p:nvPr/>
        </p:nvSpPr>
        <p:spPr>
          <a:xfrm>
            <a:off x="4731782" y="2570202"/>
            <a:ext cx="3671173" cy="595313"/>
          </a:xfrm>
          <a:prstGeom prst="roundRect">
            <a:avLst>
              <a:gd name="adj" fmla="val 9395"/>
            </a:avLst>
          </a:prstGeom>
          <a:solidFill>
            <a:srgbClr val="E8E8E3"/>
          </a:solidFill>
          <a:ln/>
        </p:spPr>
      </p:sp>
      <p:pic>
        <p:nvPicPr>
          <p:cNvPr id="11" name="Image 1" descr="preencoded.png"/>
          <p:cNvPicPr>
            <a:picLocks noChangeAspect="1"/>
          </p:cNvPicPr>
          <p:nvPr/>
        </p:nvPicPr>
        <p:blipFill>
          <a:blip r:embed="rId4"/>
          <a:stretch>
            <a:fillRect/>
          </a:stretch>
        </p:blipFill>
        <p:spPr>
          <a:xfrm>
            <a:off x="6418540" y="2677954"/>
            <a:ext cx="297656" cy="372070"/>
          </a:xfrm>
          <a:prstGeom prst="rect">
            <a:avLst/>
          </a:prstGeom>
        </p:spPr>
      </p:pic>
      <p:sp>
        <p:nvSpPr>
          <p:cNvPr id="12" name="Text 8"/>
          <p:cNvSpPr/>
          <p:nvPr/>
        </p:nvSpPr>
        <p:spPr>
          <a:xfrm>
            <a:off x="4930140" y="336387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72525"/>
                </a:solidFill>
                <a:latin typeface="Bahnschrift Light" panose="020B0502040204020203" pitchFamily="34" charset="0"/>
                <a:ea typeface="Gelasio" pitchFamily="34" charset="-122"/>
                <a:cs typeface="Gelasio" pitchFamily="34" charset="-120"/>
              </a:rPr>
              <a:t>Development</a:t>
            </a:r>
            <a:endParaRPr lang="en-US" sz="1950" dirty="0">
              <a:latin typeface="Bahnschrift Light" panose="020B0502040204020203" pitchFamily="34" charset="0"/>
            </a:endParaRPr>
          </a:p>
        </p:txBody>
      </p:sp>
      <p:sp>
        <p:nvSpPr>
          <p:cNvPr id="13" name="Text 9"/>
          <p:cNvSpPr/>
          <p:nvPr/>
        </p:nvSpPr>
        <p:spPr>
          <a:xfrm>
            <a:off x="4930140" y="3872389"/>
            <a:ext cx="3274457"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Bahnschrift Light" panose="020B0502040204020203" pitchFamily="34" charset="0"/>
                <a:ea typeface="Lato" pitchFamily="34" charset="-122"/>
                <a:cs typeface="Lato" pitchFamily="34" charset="-120"/>
              </a:rPr>
              <a:t>Implement features based on the planned increment.</a:t>
            </a:r>
            <a:endParaRPr lang="en-US" sz="1550" dirty="0">
              <a:latin typeface="Bahnschrift Light" panose="020B0502040204020203" pitchFamily="34" charset="0"/>
            </a:endParaRPr>
          </a:p>
        </p:txBody>
      </p:sp>
      <p:sp>
        <p:nvSpPr>
          <p:cNvPr id="14" name="Shape 10"/>
          <p:cNvSpPr/>
          <p:nvPr/>
        </p:nvSpPr>
        <p:spPr>
          <a:xfrm>
            <a:off x="793790" y="4927044"/>
            <a:ext cx="3716774" cy="2181344"/>
          </a:xfrm>
          <a:prstGeom prst="roundRect">
            <a:avLst>
              <a:gd name="adj" fmla="val 3821"/>
            </a:avLst>
          </a:prstGeom>
          <a:solidFill>
            <a:srgbClr val="FFFFFF">
              <a:alpha val="95000"/>
            </a:srgbClr>
          </a:solidFill>
          <a:ln w="22860">
            <a:solidFill>
              <a:srgbClr val="CECEC9"/>
            </a:solidFill>
            <a:prstDash val="solid"/>
          </a:ln>
        </p:spPr>
      </p:sp>
      <p:sp>
        <p:nvSpPr>
          <p:cNvPr id="15" name="Shape 11"/>
          <p:cNvSpPr/>
          <p:nvPr/>
        </p:nvSpPr>
        <p:spPr>
          <a:xfrm>
            <a:off x="816650" y="4949904"/>
            <a:ext cx="3671054" cy="595313"/>
          </a:xfrm>
          <a:prstGeom prst="roundRect">
            <a:avLst>
              <a:gd name="adj" fmla="val 9395"/>
            </a:avLst>
          </a:prstGeom>
          <a:solidFill>
            <a:srgbClr val="E8E8E3"/>
          </a:solidFill>
          <a:ln/>
        </p:spPr>
      </p:sp>
      <p:pic>
        <p:nvPicPr>
          <p:cNvPr id="16" name="Image 2" descr="preencoded.png"/>
          <p:cNvPicPr>
            <a:picLocks noChangeAspect="1"/>
          </p:cNvPicPr>
          <p:nvPr/>
        </p:nvPicPr>
        <p:blipFill>
          <a:blip r:embed="rId5"/>
          <a:stretch>
            <a:fillRect/>
          </a:stretch>
        </p:blipFill>
        <p:spPr>
          <a:xfrm>
            <a:off x="2503289" y="5057656"/>
            <a:ext cx="297656" cy="372070"/>
          </a:xfrm>
          <a:prstGeom prst="rect">
            <a:avLst/>
          </a:prstGeom>
        </p:spPr>
      </p:pic>
      <p:sp>
        <p:nvSpPr>
          <p:cNvPr id="17" name="Text 12"/>
          <p:cNvSpPr/>
          <p:nvPr/>
        </p:nvSpPr>
        <p:spPr>
          <a:xfrm>
            <a:off x="1015008" y="5743575"/>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72525"/>
                </a:solidFill>
                <a:latin typeface="Bahnschrift Light" panose="020B0502040204020203" pitchFamily="34" charset="0"/>
                <a:ea typeface="Gelasio" pitchFamily="34" charset="-122"/>
                <a:cs typeface="Gelasio" pitchFamily="34" charset="-120"/>
              </a:rPr>
              <a:t>Testing</a:t>
            </a:r>
            <a:endParaRPr lang="en-US" sz="1950" dirty="0">
              <a:latin typeface="Bahnschrift Light" panose="020B0502040204020203" pitchFamily="34" charset="0"/>
            </a:endParaRPr>
          </a:p>
        </p:txBody>
      </p:sp>
      <p:sp>
        <p:nvSpPr>
          <p:cNvPr id="18" name="Text 13"/>
          <p:cNvSpPr/>
          <p:nvPr/>
        </p:nvSpPr>
        <p:spPr>
          <a:xfrm>
            <a:off x="1015008" y="6252091"/>
            <a:ext cx="3274338"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Bahnschrift Light" panose="020B0502040204020203" pitchFamily="34" charset="0"/>
                <a:ea typeface="Lato" pitchFamily="34" charset="-122"/>
                <a:cs typeface="Lato" pitchFamily="34" charset="-120"/>
              </a:rPr>
              <a:t>Rigorously test developed features for functionality and bugs.</a:t>
            </a:r>
            <a:endParaRPr lang="en-US" sz="1550" dirty="0">
              <a:latin typeface="Bahnschrift Light" panose="020B0502040204020203" pitchFamily="34" charset="0"/>
            </a:endParaRPr>
          </a:p>
        </p:txBody>
      </p:sp>
      <p:sp>
        <p:nvSpPr>
          <p:cNvPr id="19" name="Shape 14"/>
          <p:cNvSpPr/>
          <p:nvPr/>
        </p:nvSpPr>
        <p:spPr>
          <a:xfrm>
            <a:off x="4708922" y="4927044"/>
            <a:ext cx="3716893" cy="2181344"/>
          </a:xfrm>
          <a:prstGeom prst="roundRect">
            <a:avLst>
              <a:gd name="adj" fmla="val 3821"/>
            </a:avLst>
          </a:prstGeom>
          <a:solidFill>
            <a:srgbClr val="FFFFFF">
              <a:alpha val="95000"/>
            </a:srgbClr>
          </a:solidFill>
          <a:ln w="22860">
            <a:solidFill>
              <a:srgbClr val="CECEC9"/>
            </a:solidFill>
            <a:prstDash val="solid"/>
          </a:ln>
        </p:spPr>
      </p:sp>
      <p:sp>
        <p:nvSpPr>
          <p:cNvPr id="20" name="Shape 15"/>
          <p:cNvSpPr/>
          <p:nvPr/>
        </p:nvSpPr>
        <p:spPr>
          <a:xfrm>
            <a:off x="4731782" y="4949904"/>
            <a:ext cx="3671173" cy="595313"/>
          </a:xfrm>
          <a:prstGeom prst="roundRect">
            <a:avLst>
              <a:gd name="adj" fmla="val 9395"/>
            </a:avLst>
          </a:prstGeom>
          <a:solidFill>
            <a:srgbClr val="E8E8E3"/>
          </a:solidFill>
          <a:ln/>
        </p:spPr>
      </p:sp>
      <p:pic>
        <p:nvPicPr>
          <p:cNvPr id="21" name="Image 3" descr="preencoded.png"/>
          <p:cNvPicPr>
            <a:picLocks noChangeAspect="1"/>
          </p:cNvPicPr>
          <p:nvPr/>
        </p:nvPicPr>
        <p:blipFill>
          <a:blip r:embed="rId6"/>
          <a:stretch>
            <a:fillRect/>
          </a:stretch>
        </p:blipFill>
        <p:spPr>
          <a:xfrm>
            <a:off x="6418540" y="5057656"/>
            <a:ext cx="297656" cy="372070"/>
          </a:xfrm>
          <a:prstGeom prst="rect">
            <a:avLst/>
          </a:prstGeom>
        </p:spPr>
      </p:pic>
      <p:sp>
        <p:nvSpPr>
          <p:cNvPr id="22" name="Text 16"/>
          <p:cNvSpPr/>
          <p:nvPr/>
        </p:nvSpPr>
        <p:spPr>
          <a:xfrm>
            <a:off x="4930140" y="5743575"/>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72525"/>
                </a:solidFill>
                <a:latin typeface="Bahnschrift Light" panose="020B0502040204020203" pitchFamily="34" charset="0"/>
                <a:ea typeface="Gelasio" pitchFamily="34" charset="-122"/>
                <a:cs typeface="Gelasio" pitchFamily="34" charset="-120"/>
              </a:rPr>
              <a:t>Feedback</a:t>
            </a:r>
            <a:endParaRPr lang="en-US" sz="1950" dirty="0">
              <a:latin typeface="Bahnschrift Light" panose="020B0502040204020203" pitchFamily="34" charset="0"/>
            </a:endParaRPr>
          </a:p>
        </p:txBody>
      </p:sp>
      <p:sp>
        <p:nvSpPr>
          <p:cNvPr id="23" name="Text 17"/>
          <p:cNvSpPr/>
          <p:nvPr/>
        </p:nvSpPr>
        <p:spPr>
          <a:xfrm>
            <a:off x="4930140" y="6252091"/>
            <a:ext cx="3274457"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Bahnschrift Light" panose="020B0502040204020203" pitchFamily="34" charset="0"/>
                <a:ea typeface="Lato" pitchFamily="34" charset="-122"/>
                <a:cs typeface="Lato" pitchFamily="34" charset="-120"/>
              </a:rPr>
              <a:t>Gather user feedback to refine requirements for next iteration.</a:t>
            </a:r>
            <a:endParaRPr lang="en-US" sz="1550" dirty="0">
              <a:latin typeface="Bahnschrift Light" panose="020B0502040204020203" pitchFamily="34" charset="0"/>
            </a:endParaRPr>
          </a:p>
        </p:txBody>
      </p:sp>
      <p:sp>
        <p:nvSpPr>
          <p:cNvPr id="24" name="Text 18"/>
          <p:cNvSpPr/>
          <p:nvPr/>
        </p:nvSpPr>
        <p:spPr>
          <a:xfrm>
            <a:off x="8917543" y="2502694"/>
            <a:ext cx="4926568" cy="190523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Bahnschrift Light" panose="020B0502040204020203" pitchFamily="34" charset="0"/>
                <a:ea typeface="Lato" pitchFamily="34" charset="-122"/>
                <a:cs typeface="Lato" pitchFamily="34" charset="-120"/>
              </a:rPr>
              <a:t>We adopted the </a:t>
            </a:r>
            <a:r>
              <a:rPr lang="en-US" sz="1550" b="1" dirty="0">
                <a:solidFill>
                  <a:srgbClr val="5E98F1"/>
                </a:solidFill>
                <a:latin typeface="Bahnschrift Light" panose="020B0502040204020203" pitchFamily="34" charset="0"/>
                <a:ea typeface="Lato" pitchFamily="34" charset="-122"/>
                <a:cs typeface="Lato" pitchFamily="34" charset="-120"/>
              </a:rPr>
              <a:t>Iterative Model</a:t>
            </a:r>
            <a:r>
              <a:rPr lang="en-US" sz="1550" dirty="0">
                <a:solidFill>
                  <a:srgbClr val="272525"/>
                </a:solidFill>
                <a:latin typeface="Bahnschrift Light" panose="020B0502040204020203" pitchFamily="34" charset="0"/>
                <a:ea typeface="Lato" pitchFamily="34" charset="-122"/>
                <a:cs typeface="Lato" pitchFamily="34" charset="-120"/>
              </a:rPr>
              <a:t> for its inherent flexibility and emphasis on continuous improvement. This approach allowed us to develop the system in cycles, integrating frequent testing and feedback at each stage. This significantly reduced the risk of project failure and ensured the final product met evolving user needs.</a:t>
            </a:r>
            <a:endParaRPr lang="en-US" sz="1550" dirty="0">
              <a:latin typeface="Bahnschrift Light" panose="020B0502040204020203" pitchFamily="34" charset="0"/>
            </a:endParaRPr>
          </a:p>
        </p:txBody>
      </p:sp>
      <p:sp>
        <p:nvSpPr>
          <p:cNvPr id="25" name="Text 19"/>
          <p:cNvSpPr/>
          <p:nvPr/>
        </p:nvSpPr>
        <p:spPr>
          <a:xfrm>
            <a:off x="8917543" y="5057656"/>
            <a:ext cx="4926568" cy="127015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Bahnschrift Light" panose="020B0502040204020203" pitchFamily="34" charset="0"/>
                <a:ea typeface="Lato" pitchFamily="34" charset="-122"/>
                <a:cs typeface="Lato" pitchFamily="34" charset="-120"/>
              </a:rPr>
              <a:t>Our development roadmap included five key iterations, progressively building out functionality: User Login, Product Management, Sales Tracking, Automated Alerts, and final System Polish.</a:t>
            </a:r>
            <a:endParaRPr lang="en-US" sz="1550" dirty="0">
              <a:latin typeface="Bahnschrift Light" panose="020B0502040204020203" pitchFamily="34" charset="0"/>
            </a:endParaRPr>
          </a:p>
        </p:txBody>
      </p:sp>
      <p:sp>
        <p:nvSpPr>
          <p:cNvPr id="26" name="Text 20"/>
          <p:cNvSpPr/>
          <p:nvPr/>
        </p:nvSpPr>
        <p:spPr>
          <a:xfrm>
            <a:off x="8917543" y="6035278"/>
            <a:ext cx="4926568" cy="317540"/>
          </a:xfrm>
          <a:prstGeom prst="rect">
            <a:avLst/>
          </a:prstGeom>
          <a:noFill/>
          <a:ln/>
        </p:spPr>
        <p:txBody>
          <a:bodyPr wrap="none" lIns="0" tIns="0" rIns="0" bIns="0" rtlCol="0" anchor="t"/>
          <a:lstStyle/>
          <a:p>
            <a:pPr marL="0" indent="0" algn="l">
              <a:lnSpc>
                <a:spcPts val="2500"/>
              </a:lnSpc>
              <a:buNone/>
            </a:pPr>
            <a:endParaRPr lang="en-US" sz="1550" dirty="0">
              <a:latin typeface="Bahnschrift Light" panose="020B0502040204020203" pitchFamily="34" charset="0"/>
            </a:endParaRPr>
          </a:p>
        </p:txBody>
      </p:sp>
      <p:sp>
        <p:nvSpPr>
          <p:cNvPr id="27" name="Rectangle 26">
            <a:extLst>
              <a:ext uri="{FF2B5EF4-FFF2-40B4-BE49-F238E27FC236}">
                <a16:creationId xmlns:a16="http://schemas.microsoft.com/office/drawing/2014/main" id="{A8641B4F-CAF7-4791-9E54-CEC092FCE71E}"/>
              </a:ext>
            </a:extLst>
          </p:cNvPr>
          <p:cNvSpPr/>
          <p:nvPr/>
        </p:nvSpPr>
        <p:spPr>
          <a:xfrm>
            <a:off x="12862560" y="7802880"/>
            <a:ext cx="1625600" cy="317540"/>
          </a:xfrm>
          <a:prstGeom prst="rect">
            <a:avLst/>
          </a:prstGeom>
          <a:solidFill>
            <a:srgbClr val="FEFEFE"/>
          </a:solidFill>
          <a:ln>
            <a:solidFill>
              <a:srgbClr val="FEFE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hnschrift Light" panose="020B0502040204020203"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B733460-6B4E-4054-A5F3-DF6FE8F8B181}"/>
              </a:ext>
            </a:extLst>
          </p:cNvPr>
          <p:cNvSpPr/>
          <p:nvPr/>
        </p:nvSpPr>
        <p:spPr>
          <a:xfrm>
            <a:off x="12862560" y="7802880"/>
            <a:ext cx="1625600" cy="317540"/>
          </a:xfrm>
          <a:prstGeom prst="rect">
            <a:avLst/>
          </a:prstGeom>
          <a:solidFill>
            <a:srgbClr val="FEFEFE"/>
          </a:solidFill>
          <a:ln>
            <a:solidFill>
              <a:srgbClr val="FEFE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hnschrift Light" panose="020B0502040204020203" pitchFamily="34" charset="0"/>
            </a:endParaRPr>
          </a:p>
        </p:txBody>
      </p:sp>
      <p:pic>
        <p:nvPicPr>
          <p:cNvPr id="2" name="Image 0"/>
          <p:cNvPicPr>
            <a:picLocks noChangeAspect="1"/>
          </p:cNvPicPr>
          <p:nvPr/>
        </p:nvPicPr>
        <p:blipFill>
          <a:blip r:embed="rId3"/>
          <a:srcRect/>
          <a:stretch/>
        </p:blipFill>
        <p:spPr>
          <a:xfrm>
            <a:off x="8350211" y="538480"/>
            <a:ext cx="6280189" cy="6858000"/>
          </a:xfrm>
          <a:prstGeom prst="rect">
            <a:avLst/>
          </a:prstGeom>
        </p:spPr>
      </p:pic>
      <p:sp>
        <p:nvSpPr>
          <p:cNvPr id="3" name="Text 0"/>
          <p:cNvSpPr/>
          <p:nvPr/>
        </p:nvSpPr>
        <p:spPr>
          <a:xfrm>
            <a:off x="793790" y="2281595"/>
            <a:ext cx="7556421" cy="1240155"/>
          </a:xfrm>
          <a:prstGeom prst="rect">
            <a:avLst/>
          </a:prstGeom>
          <a:noFill/>
          <a:ln/>
        </p:spPr>
        <p:txBody>
          <a:bodyPr wrap="square" lIns="0" tIns="0" rIns="0" bIns="0" rtlCol="0" anchor="t"/>
          <a:lstStyle/>
          <a:p>
            <a:pPr marL="0" indent="0" algn="l">
              <a:lnSpc>
                <a:spcPts val="4850"/>
              </a:lnSpc>
              <a:buNone/>
            </a:pPr>
            <a:r>
              <a:rPr lang="en-US" sz="3900" dirty="0">
                <a:solidFill>
                  <a:srgbClr val="312F2B"/>
                </a:solidFill>
                <a:latin typeface="Bahnschrift Light" panose="020B0502040204020203" pitchFamily="34" charset="0"/>
                <a:ea typeface="Gelasio" pitchFamily="34" charset="-122"/>
                <a:cs typeface="Gelasio" pitchFamily="34" charset="-120"/>
              </a:rPr>
              <a:t>System Overview: Context Diagram</a:t>
            </a:r>
            <a:endParaRPr lang="en-US" sz="3900" dirty="0">
              <a:latin typeface="Bahnschrift Light" panose="020B0502040204020203" pitchFamily="34" charset="0"/>
            </a:endParaRPr>
          </a:p>
        </p:txBody>
      </p:sp>
      <p:sp>
        <p:nvSpPr>
          <p:cNvPr id="4" name="Text 1"/>
          <p:cNvSpPr/>
          <p:nvPr/>
        </p:nvSpPr>
        <p:spPr>
          <a:xfrm>
            <a:off x="793790" y="3819406"/>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Bahnschrift Light" panose="020B0502040204020203" pitchFamily="34" charset="0"/>
                <a:ea typeface="Lato" pitchFamily="34" charset="-122"/>
                <a:cs typeface="Lato" pitchFamily="34" charset="-120"/>
              </a:rPr>
              <a:t>This diagram illustrates the Smart Inventory Management System as a central entity, showing its interactions with external entities and the flow of information between them.</a:t>
            </a:r>
            <a:endParaRPr lang="en-US" sz="1550" dirty="0">
              <a:latin typeface="Bahnschrift Light" panose="020B0502040204020203" pitchFamily="34" charset="0"/>
            </a:endParaRPr>
          </a:p>
        </p:txBody>
      </p:sp>
      <p:sp>
        <p:nvSpPr>
          <p:cNvPr id="5" name="Text 2"/>
          <p:cNvSpPr/>
          <p:nvPr/>
        </p:nvSpPr>
        <p:spPr>
          <a:xfrm>
            <a:off x="793790" y="4995267"/>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Bahnschrift Light" panose="020B0502040204020203" pitchFamily="34" charset="0"/>
                <a:ea typeface="Lato" pitchFamily="34" charset="-122"/>
                <a:cs typeface="Lato" pitchFamily="34" charset="-120"/>
              </a:rPr>
              <a:t>The system processes inputs such as product data and sales records, and generates outputs like detailed reports and proactive alerts, serving both internal users and external suppliers.</a:t>
            </a:r>
            <a:endParaRPr lang="en-US" sz="1550" dirty="0">
              <a:latin typeface="Bahnschrift Light" panose="020B0502040204020203"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120" y="156507"/>
            <a:ext cx="8447842" cy="1118354"/>
          </a:xfrm>
          <a:prstGeom prst="rect">
            <a:avLst/>
          </a:prstGeom>
          <a:noFill/>
          <a:ln/>
        </p:spPr>
        <p:txBody>
          <a:bodyPr wrap="none" lIns="0" tIns="0" rIns="0" bIns="0" rtlCol="0" anchor="t"/>
          <a:lstStyle/>
          <a:p>
            <a:pPr marL="0" indent="0" algn="l">
              <a:lnSpc>
                <a:spcPts val="4500"/>
              </a:lnSpc>
              <a:buNone/>
            </a:pPr>
            <a:r>
              <a:rPr lang="en-US" sz="3600" dirty="0">
                <a:solidFill>
                  <a:srgbClr val="312F2B"/>
                </a:solidFill>
                <a:latin typeface="Bahnschrift Light" panose="020B0502040204020203" pitchFamily="34" charset="0"/>
                <a:ea typeface="Gelasio" pitchFamily="34" charset="-122"/>
                <a:cs typeface="Gelasio" pitchFamily="34" charset="-120"/>
              </a:rPr>
              <a:t>Operational Flow: </a:t>
            </a:r>
          </a:p>
          <a:p>
            <a:pPr marL="0" indent="0" algn="l">
              <a:lnSpc>
                <a:spcPts val="4500"/>
              </a:lnSpc>
              <a:buNone/>
            </a:pPr>
            <a:r>
              <a:rPr lang="en-US" sz="3600" dirty="0">
                <a:solidFill>
                  <a:srgbClr val="312F2B"/>
                </a:solidFill>
                <a:latin typeface="Bahnschrift Light" panose="020B0502040204020203" pitchFamily="34" charset="0"/>
                <a:ea typeface="Gelasio" pitchFamily="34" charset="-122"/>
                <a:cs typeface="Gelasio" pitchFamily="34" charset="-120"/>
              </a:rPr>
              <a:t>A Step-by-Step Process</a:t>
            </a:r>
            <a:endParaRPr lang="en-US" sz="3600" dirty="0">
              <a:latin typeface="Bahnschrift Light" panose="020B0502040204020203" pitchFamily="34" charset="0"/>
            </a:endParaRPr>
          </a:p>
        </p:txBody>
      </p:sp>
      <p:pic>
        <p:nvPicPr>
          <p:cNvPr id="3" name="Image 0" descr="preencoded.png"/>
          <p:cNvPicPr>
            <a:picLocks noChangeAspect="1"/>
          </p:cNvPicPr>
          <p:nvPr/>
        </p:nvPicPr>
        <p:blipFill>
          <a:blip r:embed="rId3"/>
          <a:stretch>
            <a:fillRect/>
          </a:stretch>
        </p:blipFill>
        <p:spPr>
          <a:xfrm>
            <a:off x="238857" y="1630918"/>
            <a:ext cx="986516" cy="609708"/>
          </a:xfrm>
          <a:prstGeom prst="rect">
            <a:avLst/>
          </a:prstGeom>
        </p:spPr>
      </p:pic>
      <p:sp>
        <p:nvSpPr>
          <p:cNvPr id="4" name="Text 1"/>
          <p:cNvSpPr/>
          <p:nvPr/>
        </p:nvSpPr>
        <p:spPr>
          <a:xfrm>
            <a:off x="253603" y="2395879"/>
            <a:ext cx="2288024" cy="285988"/>
          </a:xfrm>
          <a:prstGeom prst="rect">
            <a:avLst/>
          </a:prstGeom>
          <a:noFill/>
          <a:ln/>
        </p:spPr>
        <p:txBody>
          <a:bodyPr wrap="none" lIns="0" tIns="0" rIns="0" bIns="0" rtlCol="0" anchor="t"/>
          <a:lstStyle/>
          <a:p>
            <a:pPr marL="0" indent="0" algn="l">
              <a:lnSpc>
                <a:spcPts val="2250"/>
              </a:lnSpc>
              <a:buNone/>
            </a:pPr>
            <a:r>
              <a:rPr lang="en-US" sz="1800" dirty="0">
                <a:solidFill>
                  <a:srgbClr val="272525"/>
                </a:solidFill>
                <a:latin typeface="Bahnschrift Light" panose="020B0502040204020203" pitchFamily="34" charset="0"/>
                <a:ea typeface="Gelasio" pitchFamily="34" charset="-122"/>
                <a:cs typeface="Gelasio" pitchFamily="34" charset="-120"/>
              </a:rPr>
              <a:t>User Login</a:t>
            </a:r>
            <a:endParaRPr lang="en-US" sz="1800" dirty="0">
              <a:latin typeface="Bahnschrift Light" panose="020B0502040204020203" pitchFamily="34" charset="0"/>
            </a:endParaRPr>
          </a:p>
        </p:txBody>
      </p:sp>
      <p:sp>
        <p:nvSpPr>
          <p:cNvPr id="5" name="Text 2"/>
          <p:cNvSpPr/>
          <p:nvPr/>
        </p:nvSpPr>
        <p:spPr>
          <a:xfrm>
            <a:off x="253603" y="2791643"/>
            <a:ext cx="2749215" cy="585549"/>
          </a:xfrm>
          <a:prstGeom prst="rect">
            <a:avLst/>
          </a:prstGeom>
          <a:noFill/>
          <a:ln/>
        </p:spPr>
        <p:txBody>
          <a:bodyPr wrap="square" lIns="0" tIns="0" rIns="0" bIns="0" rtlCol="0" anchor="t"/>
          <a:lstStyle/>
          <a:p>
            <a:pPr marL="0" indent="0" algn="l">
              <a:lnSpc>
                <a:spcPts val="2300"/>
              </a:lnSpc>
              <a:buNone/>
            </a:pPr>
            <a:r>
              <a:rPr lang="en-US" sz="1400" dirty="0">
                <a:solidFill>
                  <a:srgbClr val="272525"/>
                </a:solidFill>
                <a:latin typeface="Bahnschrift Light" panose="020B0502040204020203" pitchFamily="34" charset="0"/>
                <a:ea typeface="Lato" pitchFamily="34" charset="-122"/>
                <a:cs typeface="Lato" pitchFamily="34" charset="-120"/>
              </a:rPr>
              <a:t>Users initiate by logging into the system securely.</a:t>
            </a:r>
            <a:endParaRPr lang="en-US" sz="1400" dirty="0">
              <a:latin typeface="Bahnschrift Light" panose="020B0502040204020203" pitchFamily="34" charset="0"/>
            </a:endParaRPr>
          </a:p>
        </p:txBody>
      </p:sp>
      <p:pic>
        <p:nvPicPr>
          <p:cNvPr id="6" name="Image 1" descr="preencoded.png"/>
          <p:cNvPicPr>
            <a:picLocks noChangeAspect="1"/>
          </p:cNvPicPr>
          <p:nvPr/>
        </p:nvPicPr>
        <p:blipFill>
          <a:blip r:embed="rId4"/>
          <a:stretch>
            <a:fillRect/>
          </a:stretch>
        </p:blipFill>
        <p:spPr>
          <a:xfrm>
            <a:off x="3247173" y="1562523"/>
            <a:ext cx="1097180" cy="678103"/>
          </a:xfrm>
          <a:prstGeom prst="rect">
            <a:avLst/>
          </a:prstGeom>
        </p:spPr>
      </p:pic>
      <p:sp>
        <p:nvSpPr>
          <p:cNvPr id="7" name="Text 3"/>
          <p:cNvSpPr/>
          <p:nvPr/>
        </p:nvSpPr>
        <p:spPr>
          <a:xfrm>
            <a:off x="3247173" y="2395879"/>
            <a:ext cx="2288024" cy="285988"/>
          </a:xfrm>
          <a:prstGeom prst="rect">
            <a:avLst/>
          </a:prstGeom>
          <a:noFill/>
          <a:ln/>
        </p:spPr>
        <p:txBody>
          <a:bodyPr wrap="none" lIns="0" tIns="0" rIns="0" bIns="0" rtlCol="0" anchor="t"/>
          <a:lstStyle/>
          <a:p>
            <a:pPr marL="0" indent="0" algn="l">
              <a:lnSpc>
                <a:spcPts val="2250"/>
              </a:lnSpc>
              <a:buNone/>
            </a:pPr>
            <a:r>
              <a:rPr lang="en-US" sz="1800" dirty="0">
                <a:solidFill>
                  <a:srgbClr val="272525"/>
                </a:solidFill>
                <a:latin typeface="Bahnschrift Light" panose="020B0502040204020203" pitchFamily="34" charset="0"/>
                <a:ea typeface="Gelasio" pitchFamily="34" charset="-122"/>
                <a:cs typeface="Gelasio" pitchFamily="34" charset="-120"/>
              </a:rPr>
              <a:t>Role Verification</a:t>
            </a:r>
            <a:endParaRPr lang="en-US" sz="1800" dirty="0">
              <a:latin typeface="Bahnschrift Light" panose="020B0502040204020203" pitchFamily="34" charset="0"/>
            </a:endParaRPr>
          </a:p>
        </p:txBody>
      </p:sp>
      <p:sp>
        <p:nvSpPr>
          <p:cNvPr id="8" name="Text 4"/>
          <p:cNvSpPr/>
          <p:nvPr/>
        </p:nvSpPr>
        <p:spPr>
          <a:xfrm>
            <a:off x="3247173" y="2791643"/>
            <a:ext cx="3120033" cy="585549"/>
          </a:xfrm>
          <a:prstGeom prst="rect">
            <a:avLst/>
          </a:prstGeom>
          <a:noFill/>
          <a:ln/>
        </p:spPr>
        <p:txBody>
          <a:bodyPr wrap="square" lIns="0" tIns="0" rIns="0" bIns="0" rtlCol="0" anchor="t"/>
          <a:lstStyle/>
          <a:p>
            <a:pPr marL="0" indent="0" algn="l">
              <a:lnSpc>
                <a:spcPts val="2300"/>
              </a:lnSpc>
              <a:buNone/>
            </a:pPr>
            <a:r>
              <a:rPr lang="en-US" sz="1400" dirty="0">
                <a:solidFill>
                  <a:srgbClr val="272525"/>
                </a:solidFill>
                <a:latin typeface="Bahnschrift Light" panose="020B0502040204020203" pitchFamily="34" charset="0"/>
                <a:ea typeface="Lato" pitchFamily="34" charset="-122"/>
                <a:cs typeface="Lato" pitchFamily="34" charset="-120"/>
              </a:rPr>
              <a:t>The system verifies user credentials and assigned role (Admin/Sales).</a:t>
            </a:r>
            <a:endParaRPr lang="en-US" sz="1400" dirty="0">
              <a:latin typeface="Bahnschrift Light" panose="020B0502040204020203" pitchFamily="34" charset="0"/>
            </a:endParaRPr>
          </a:p>
        </p:txBody>
      </p:sp>
      <p:pic>
        <p:nvPicPr>
          <p:cNvPr id="15" name="Image 4" descr="preencoded.png"/>
          <p:cNvPicPr>
            <a:picLocks noChangeAspect="1"/>
          </p:cNvPicPr>
          <p:nvPr/>
        </p:nvPicPr>
        <p:blipFill>
          <a:blip r:embed="rId5"/>
          <a:stretch>
            <a:fillRect/>
          </a:stretch>
        </p:blipFill>
        <p:spPr>
          <a:xfrm>
            <a:off x="238857" y="3555623"/>
            <a:ext cx="1040425" cy="643026"/>
          </a:xfrm>
          <a:prstGeom prst="rect">
            <a:avLst/>
          </a:prstGeom>
        </p:spPr>
      </p:pic>
      <p:sp>
        <p:nvSpPr>
          <p:cNvPr id="16" name="Text 9"/>
          <p:cNvSpPr/>
          <p:nvPr/>
        </p:nvSpPr>
        <p:spPr>
          <a:xfrm>
            <a:off x="253603" y="4399135"/>
            <a:ext cx="2288024" cy="285988"/>
          </a:xfrm>
          <a:prstGeom prst="rect">
            <a:avLst/>
          </a:prstGeom>
          <a:noFill/>
          <a:ln/>
        </p:spPr>
        <p:txBody>
          <a:bodyPr wrap="none" lIns="0" tIns="0" rIns="0" bIns="0" rtlCol="0" anchor="t"/>
          <a:lstStyle/>
          <a:p>
            <a:pPr marL="0" indent="0" algn="l">
              <a:lnSpc>
                <a:spcPts val="2250"/>
              </a:lnSpc>
              <a:buNone/>
            </a:pPr>
            <a:r>
              <a:rPr lang="en-US" sz="1800" dirty="0">
                <a:solidFill>
                  <a:srgbClr val="272525"/>
                </a:solidFill>
                <a:latin typeface="Bahnschrift Light" panose="020B0502040204020203" pitchFamily="34" charset="0"/>
                <a:ea typeface="Gelasio" pitchFamily="34" charset="-122"/>
                <a:cs typeface="Gelasio" pitchFamily="34" charset="-120"/>
              </a:rPr>
              <a:t>Stock Adjustment</a:t>
            </a:r>
            <a:endParaRPr lang="en-US" sz="1800" dirty="0">
              <a:latin typeface="Bahnschrift Light" panose="020B0502040204020203" pitchFamily="34" charset="0"/>
            </a:endParaRPr>
          </a:p>
        </p:txBody>
      </p:sp>
      <p:sp>
        <p:nvSpPr>
          <p:cNvPr id="17" name="Text 10"/>
          <p:cNvSpPr/>
          <p:nvPr/>
        </p:nvSpPr>
        <p:spPr>
          <a:xfrm>
            <a:off x="253603" y="4794898"/>
            <a:ext cx="2900038" cy="806190"/>
          </a:xfrm>
          <a:prstGeom prst="rect">
            <a:avLst/>
          </a:prstGeom>
          <a:noFill/>
          <a:ln/>
        </p:spPr>
        <p:txBody>
          <a:bodyPr wrap="square" lIns="0" tIns="0" rIns="0" bIns="0" rtlCol="0" anchor="t"/>
          <a:lstStyle/>
          <a:p>
            <a:pPr marL="0" indent="0" algn="l">
              <a:lnSpc>
                <a:spcPts val="2300"/>
              </a:lnSpc>
              <a:buNone/>
            </a:pPr>
            <a:r>
              <a:rPr lang="en-US" sz="1200" dirty="0">
                <a:solidFill>
                  <a:srgbClr val="272525"/>
                </a:solidFill>
                <a:latin typeface="Bahnschrift Light" panose="020B0502040204020203" pitchFamily="34" charset="0"/>
                <a:ea typeface="Lato" pitchFamily="34" charset="-122"/>
                <a:cs typeface="Lato" pitchFamily="34" charset="-120"/>
              </a:rPr>
              <a:t>Inventory levels are automatically </a:t>
            </a:r>
          </a:p>
          <a:p>
            <a:pPr marL="0" indent="0" algn="l">
              <a:lnSpc>
                <a:spcPts val="2300"/>
              </a:lnSpc>
              <a:buNone/>
            </a:pPr>
            <a:r>
              <a:rPr lang="en-US" sz="1200" dirty="0">
                <a:solidFill>
                  <a:srgbClr val="272525"/>
                </a:solidFill>
                <a:latin typeface="Bahnschrift Light" panose="020B0502040204020203" pitchFamily="34" charset="0"/>
                <a:ea typeface="Lato" pitchFamily="34" charset="-122"/>
                <a:cs typeface="Lato" pitchFamily="34" charset="-120"/>
              </a:rPr>
              <a:t>updated post-sale, reflecting real-time stock.</a:t>
            </a:r>
            <a:endParaRPr lang="en-US" sz="1200" dirty="0">
              <a:latin typeface="Bahnschrift Light" panose="020B0502040204020203" pitchFamily="34" charset="0"/>
            </a:endParaRPr>
          </a:p>
        </p:txBody>
      </p:sp>
      <p:pic>
        <p:nvPicPr>
          <p:cNvPr id="18" name="Image 5" descr="preencoded.png"/>
          <p:cNvPicPr>
            <a:picLocks noChangeAspect="1"/>
          </p:cNvPicPr>
          <p:nvPr/>
        </p:nvPicPr>
        <p:blipFill>
          <a:blip r:embed="rId6"/>
          <a:stretch>
            <a:fillRect/>
          </a:stretch>
        </p:blipFill>
        <p:spPr>
          <a:xfrm>
            <a:off x="3329111" y="3621114"/>
            <a:ext cx="1040425" cy="643026"/>
          </a:xfrm>
          <a:prstGeom prst="rect">
            <a:avLst/>
          </a:prstGeom>
        </p:spPr>
      </p:pic>
      <p:sp>
        <p:nvSpPr>
          <p:cNvPr id="19" name="Text 11"/>
          <p:cNvSpPr/>
          <p:nvPr/>
        </p:nvSpPr>
        <p:spPr>
          <a:xfrm>
            <a:off x="3153641" y="4383868"/>
            <a:ext cx="2288024" cy="285988"/>
          </a:xfrm>
          <a:prstGeom prst="rect">
            <a:avLst/>
          </a:prstGeom>
          <a:noFill/>
          <a:ln/>
        </p:spPr>
        <p:txBody>
          <a:bodyPr wrap="none" lIns="0" tIns="0" rIns="0" bIns="0" rtlCol="0" anchor="t"/>
          <a:lstStyle/>
          <a:p>
            <a:pPr marL="0" indent="0" algn="l">
              <a:lnSpc>
                <a:spcPts val="2250"/>
              </a:lnSpc>
              <a:buNone/>
            </a:pPr>
            <a:r>
              <a:rPr lang="en-US" sz="1800" dirty="0">
                <a:solidFill>
                  <a:srgbClr val="272525"/>
                </a:solidFill>
                <a:latin typeface="Bahnschrift Light" panose="020B0502040204020203" pitchFamily="34" charset="0"/>
                <a:ea typeface="Gelasio" pitchFamily="34" charset="-122"/>
                <a:cs typeface="Gelasio" pitchFamily="34" charset="-120"/>
              </a:rPr>
              <a:t>Alert Trigger</a:t>
            </a:r>
            <a:endParaRPr lang="en-US" sz="1800" dirty="0">
              <a:latin typeface="Bahnschrift Light" panose="020B0502040204020203" pitchFamily="34" charset="0"/>
            </a:endParaRPr>
          </a:p>
        </p:txBody>
      </p:sp>
      <p:sp>
        <p:nvSpPr>
          <p:cNvPr id="20" name="Text 12"/>
          <p:cNvSpPr/>
          <p:nvPr/>
        </p:nvSpPr>
        <p:spPr>
          <a:xfrm>
            <a:off x="3153641" y="4779631"/>
            <a:ext cx="3120033" cy="878324"/>
          </a:xfrm>
          <a:prstGeom prst="rect">
            <a:avLst/>
          </a:prstGeom>
          <a:noFill/>
          <a:ln/>
        </p:spPr>
        <p:txBody>
          <a:bodyPr wrap="square" lIns="0" tIns="0" rIns="0" bIns="0" rtlCol="0" anchor="t"/>
          <a:lstStyle/>
          <a:p>
            <a:pPr marL="0" indent="0" algn="l">
              <a:lnSpc>
                <a:spcPts val="2300"/>
              </a:lnSpc>
              <a:buNone/>
            </a:pPr>
            <a:r>
              <a:rPr lang="en-US" sz="1400" dirty="0">
                <a:solidFill>
                  <a:srgbClr val="272525"/>
                </a:solidFill>
                <a:latin typeface="Bahnschrift Light" panose="020B0502040204020203" pitchFamily="34" charset="0"/>
                <a:ea typeface="Lato" pitchFamily="34" charset="-122"/>
                <a:cs typeface="Lato" pitchFamily="34" charset="-120"/>
              </a:rPr>
              <a:t>Low-stock alerts are automatically generated if product quantities fall below predefined thresholds.</a:t>
            </a:r>
            <a:endParaRPr lang="en-US" sz="1400" dirty="0">
              <a:latin typeface="Bahnschrift Light" panose="020B0502040204020203" pitchFamily="34" charset="0"/>
            </a:endParaRPr>
          </a:p>
        </p:txBody>
      </p:sp>
      <p:sp>
        <p:nvSpPr>
          <p:cNvPr id="22" name="Rectangle 21">
            <a:extLst>
              <a:ext uri="{FF2B5EF4-FFF2-40B4-BE49-F238E27FC236}">
                <a16:creationId xmlns:a16="http://schemas.microsoft.com/office/drawing/2014/main" id="{40D18022-2262-4F69-9421-AFFDA59D8266}"/>
              </a:ext>
            </a:extLst>
          </p:cNvPr>
          <p:cNvSpPr/>
          <p:nvPr/>
        </p:nvSpPr>
        <p:spPr>
          <a:xfrm>
            <a:off x="12862560" y="7802880"/>
            <a:ext cx="1625600" cy="317540"/>
          </a:xfrm>
          <a:prstGeom prst="rect">
            <a:avLst/>
          </a:prstGeom>
          <a:solidFill>
            <a:srgbClr val="FEFEFE"/>
          </a:solidFill>
          <a:ln>
            <a:solidFill>
              <a:srgbClr val="FEFE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hnschrift Light" panose="020B0502040204020203" pitchFamily="34" charset="0"/>
            </a:endParaRPr>
          </a:p>
        </p:txBody>
      </p:sp>
      <p:pic>
        <p:nvPicPr>
          <p:cNvPr id="24" name="Picture 23">
            <a:extLst>
              <a:ext uri="{FF2B5EF4-FFF2-40B4-BE49-F238E27FC236}">
                <a16:creationId xmlns:a16="http://schemas.microsoft.com/office/drawing/2014/main" id="{6B7B33CA-7953-4600-AE6F-5FEAEFB703A0}"/>
              </a:ext>
            </a:extLst>
          </p:cNvPr>
          <p:cNvPicPr>
            <a:picLocks noChangeAspect="1"/>
          </p:cNvPicPr>
          <p:nvPr/>
        </p:nvPicPr>
        <p:blipFill>
          <a:blip r:embed="rId7"/>
          <a:stretch>
            <a:fillRect/>
          </a:stretch>
        </p:blipFill>
        <p:spPr>
          <a:xfrm>
            <a:off x="7335321" y="0"/>
            <a:ext cx="7295079" cy="8229600"/>
          </a:xfrm>
          <a:prstGeom prst="rect">
            <a:avLst/>
          </a:prstGeom>
        </p:spPr>
      </p:pic>
      <p:pic>
        <p:nvPicPr>
          <p:cNvPr id="25" name="Image 2" descr="preencoded.png">
            <a:extLst>
              <a:ext uri="{FF2B5EF4-FFF2-40B4-BE49-F238E27FC236}">
                <a16:creationId xmlns:a16="http://schemas.microsoft.com/office/drawing/2014/main" id="{C643F5F2-19D7-4B76-8238-CB2D75BD2376}"/>
              </a:ext>
            </a:extLst>
          </p:cNvPr>
          <p:cNvPicPr>
            <a:picLocks noChangeAspect="1"/>
          </p:cNvPicPr>
          <p:nvPr/>
        </p:nvPicPr>
        <p:blipFill>
          <a:blip r:embed="rId8"/>
          <a:stretch>
            <a:fillRect/>
          </a:stretch>
        </p:blipFill>
        <p:spPr>
          <a:xfrm>
            <a:off x="253603" y="5856403"/>
            <a:ext cx="1211640" cy="748844"/>
          </a:xfrm>
          <a:prstGeom prst="rect">
            <a:avLst/>
          </a:prstGeom>
        </p:spPr>
      </p:pic>
      <p:sp>
        <p:nvSpPr>
          <p:cNvPr id="26" name="Text 5">
            <a:extLst>
              <a:ext uri="{FF2B5EF4-FFF2-40B4-BE49-F238E27FC236}">
                <a16:creationId xmlns:a16="http://schemas.microsoft.com/office/drawing/2014/main" id="{578B5CE1-FAC9-4FC7-BDB1-1A2A478E4CC5}"/>
              </a:ext>
            </a:extLst>
          </p:cNvPr>
          <p:cNvSpPr/>
          <p:nvPr/>
        </p:nvSpPr>
        <p:spPr>
          <a:xfrm>
            <a:off x="238857" y="7018794"/>
            <a:ext cx="2288024" cy="285988"/>
          </a:xfrm>
          <a:prstGeom prst="rect">
            <a:avLst/>
          </a:prstGeom>
          <a:noFill/>
          <a:ln/>
        </p:spPr>
        <p:txBody>
          <a:bodyPr wrap="none" lIns="0" tIns="0" rIns="0" bIns="0" rtlCol="0" anchor="t"/>
          <a:lstStyle/>
          <a:p>
            <a:pPr marL="0" indent="0" algn="l">
              <a:lnSpc>
                <a:spcPts val="2250"/>
              </a:lnSpc>
              <a:buNone/>
            </a:pPr>
            <a:r>
              <a:rPr lang="en-US" sz="1800" dirty="0">
                <a:solidFill>
                  <a:srgbClr val="272525"/>
                </a:solidFill>
                <a:latin typeface="Bahnschrift Light" panose="020B0502040204020203" pitchFamily="34" charset="0"/>
                <a:ea typeface="Gelasio" pitchFamily="34" charset="-122"/>
                <a:cs typeface="Gelasio" pitchFamily="34" charset="-120"/>
              </a:rPr>
              <a:t>Product Management</a:t>
            </a:r>
            <a:endParaRPr lang="en-US" sz="1800" dirty="0">
              <a:latin typeface="Bahnschrift Light" panose="020B0502040204020203" pitchFamily="34" charset="0"/>
            </a:endParaRPr>
          </a:p>
        </p:txBody>
      </p:sp>
      <p:sp>
        <p:nvSpPr>
          <p:cNvPr id="27" name="Text 6">
            <a:extLst>
              <a:ext uri="{FF2B5EF4-FFF2-40B4-BE49-F238E27FC236}">
                <a16:creationId xmlns:a16="http://schemas.microsoft.com/office/drawing/2014/main" id="{1267B51F-DCBC-4449-9212-6CEBD5B3C68A}"/>
              </a:ext>
            </a:extLst>
          </p:cNvPr>
          <p:cNvSpPr/>
          <p:nvPr/>
        </p:nvSpPr>
        <p:spPr>
          <a:xfrm>
            <a:off x="238858" y="7414558"/>
            <a:ext cx="2614512" cy="585549"/>
          </a:xfrm>
          <a:prstGeom prst="rect">
            <a:avLst/>
          </a:prstGeom>
          <a:noFill/>
          <a:ln/>
        </p:spPr>
        <p:txBody>
          <a:bodyPr wrap="square" lIns="0" tIns="0" rIns="0" bIns="0" rtlCol="0" anchor="t"/>
          <a:lstStyle/>
          <a:p>
            <a:pPr marL="0" indent="0" algn="l">
              <a:lnSpc>
                <a:spcPts val="2300"/>
              </a:lnSpc>
              <a:buNone/>
            </a:pPr>
            <a:r>
              <a:rPr lang="en-US" sz="1200" dirty="0">
                <a:solidFill>
                  <a:srgbClr val="272525"/>
                </a:solidFill>
                <a:latin typeface="Bahnschrift Light" panose="020B0502040204020203" pitchFamily="34" charset="0"/>
                <a:ea typeface="Lato" pitchFamily="34" charset="-122"/>
                <a:cs typeface="Lato" pitchFamily="34" charset="-120"/>
              </a:rPr>
              <a:t>Administrators manage inventory by adding, updating, or deleting products.</a:t>
            </a:r>
            <a:endParaRPr lang="en-US" sz="1200" dirty="0">
              <a:latin typeface="Bahnschrift Light" panose="020B0502040204020203" pitchFamily="34" charset="0"/>
            </a:endParaRPr>
          </a:p>
        </p:txBody>
      </p:sp>
      <p:pic>
        <p:nvPicPr>
          <p:cNvPr id="28" name="Image 3" descr="preencoded.png">
            <a:extLst>
              <a:ext uri="{FF2B5EF4-FFF2-40B4-BE49-F238E27FC236}">
                <a16:creationId xmlns:a16="http://schemas.microsoft.com/office/drawing/2014/main" id="{643CE881-357B-4B8F-AE86-5DFD5A1A3051}"/>
              </a:ext>
            </a:extLst>
          </p:cNvPr>
          <p:cNvPicPr>
            <a:picLocks noChangeAspect="1"/>
          </p:cNvPicPr>
          <p:nvPr/>
        </p:nvPicPr>
        <p:blipFill>
          <a:blip r:embed="rId9"/>
          <a:stretch>
            <a:fillRect/>
          </a:stretch>
        </p:blipFill>
        <p:spPr>
          <a:xfrm>
            <a:off x="3358899" y="5872958"/>
            <a:ext cx="1211640" cy="748844"/>
          </a:xfrm>
          <a:prstGeom prst="rect">
            <a:avLst/>
          </a:prstGeom>
        </p:spPr>
      </p:pic>
      <p:sp>
        <p:nvSpPr>
          <p:cNvPr id="29" name="Text 7">
            <a:extLst>
              <a:ext uri="{FF2B5EF4-FFF2-40B4-BE49-F238E27FC236}">
                <a16:creationId xmlns:a16="http://schemas.microsoft.com/office/drawing/2014/main" id="{EB759821-CCEF-4D37-9CD9-2860C51230FE}"/>
              </a:ext>
            </a:extLst>
          </p:cNvPr>
          <p:cNvSpPr/>
          <p:nvPr/>
        </p:nvSpPr>
        <p:spPr>
          <a:xfrm>
            <a:off x="3389252" y="6793461"/>
            <a:ext cx="1342024" cy="206161"/>
          </a:xfrm>
          <a:prstGeom prst="rect">
            <a:avLst/>
          </a:prstGeom>
          <a:noFill/>
          <a:ln/>
        </p:spPr>
        <p:txBody>
          <a:bodyPr wrap="none" lIns="0" tIns="0" rIns="0" bIns="0" rtlCol="0" anchor="t"/>
          <a:lstStyle/>
          <a:p>
            <a:pPr marL="0" indent="0" algn="l">
              <a:lnSpc>
                <a:spcPts val="2250"/>
              </a:lnSpc>
              <a:buNone/>
            </a:pPr>
            <a:r>
              <a:rPr lang="en-US" sz="1800" dirty="0">
                <a:solidFill>
                  <a:srgbClr val="272525"/>
                </a:solidFill>
                <a:latin typeface="Bahnschrift Light" panose="020B0502040204020203" pitchFamily="34" charset="0"/>
                <a:ea typeface="Gelasio" pitchFamily="34" charset="-122"/>
                <a:cs typeface="Gelasio" pitchFamily="34" charset="-120"/>
              </a:rPr>
              <a:t>Sales Recording</a:t>
            </a:r>
            <a:endParaRPr lang="en-US" sz="1800" dirty="0">
              <a:latin typeface="Bahnschrift Light" panose="020B0502040204020203" pitchFamily="34" charset="0"/>
            </a:endParaRPr>
          </a:p>
        </p:txBody>
      </p:sp>
      <p:sp>
        <p:nvSpPr>
          <p:cNvPr id="30" name="Text 8">
            <a:extLst>
              <a:ext uri="{FF2B5EF4-FFF2-40B4-BE49-F238E27FC236}">
                <a16:creationId xmlns:a16="http://schemas.microsoft.com/office/drawing/2014/main" id="{B448DCF7-B51C-4880-86AD-C0B16750B3C6}"/>
              </a:ext>
            </a:extLst>
          </p:cNvPr>
          <p:cNvSpPr/>
          <p:nvPr/>
        </p:nvSpPr>
        <p:spPr>
          <a:xfrm>
            <a:off x="3389253" y="7189225"/>
            <a:ext cx="2145944" cy="810881"/>
          </a:xfrm>
          <a:prstGeom prst="rect">
            <a:avLst/>
          </a:prstGeom>
          <a:noFill/>
          <a:ln/>
        </p:spPr>
        <p:txBody>
          <a:bodyPr wrap="square" lIns="0" tIns="0" rIns="0" bIns="0" rtlCol="0" anchor="t"/>
          <a:lstStyle/>
          <a:p>
            <a:pPr marL="0" indent="0" algn="l">
              <a:lnSpc>
                <a:spcPts val="2300"/>
              </a:lnSpc>
              <a:buNone/>
            </a:pPr>
            <a:r>
              <a:rPr lang="en-US" sz="1200" dirty="0">
                <a:solidFill>
                  <a:srgbClr val="272525"/>
                </a:solidFill>
                <a:latin typeface="Bahnschrift Light" panose="020B0502040204020203" pitchFamily="34" charset="0"/>
                <a:ea typeface="Lato" pitchFamily="34" charset="-122"/>
                <a:cs typeface="Lato" pitchFamily="34" charset="-120"/>
              </a:rPr>
              <a:t>Sales Clerks record customer transactions within the system.</a:t>
            </a:r>
            <a:endParaRPr lang="en-US" sz="1200" dirty="0">
              <a:latin typeface="Bahnschrift Light" panose="020B0502040204020203" pitchFamily="34" charset="0"/>
            </a:endParaRPr>
          </a:p>
        </p:txBody>
      </p:sp>
    </p:spTree>
    <p:extLst>
      <p:ext uri="{BB962C8B-B14F-4D97-AF65-F5344CB8AC3E}">
        <p14:creationId xmlns:p14="http://schemas.microsoft.com/office/powerpoint/2010/main" val="637741476"/>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2D698A5-1339-4DF7-B123-F2D797409E41}"/>
              </a:ext>
            </a:extLst>
          </p:cNvPr>
          <p:cNvSpPr/>
          <p:nvPr/>
        </p:nvSpPr>
        <p:spPr>
          <a:xfrm>
            <a:off x="12862560" y="7802880"/>
            <a:ext cx="1625600" cy="317540"/>
          </a:xfrm>
          <a:prstGeom prst="rect">
            <a:avLst/>
          </a:prstGeom>
          <a:solidFill>
            <a:srgbClr val="FEFEFE"/>
          </a:solidFill>
          <a:ln>
            <a:solidFill>
              <a:srgbClr val="FEFE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hnschrift Light" panose="020B0502040204020203" pitchFamily="34" charset="0"/>
            </a:endParaRPr>
          </a:p>
        </p:txBody>
      </p:sp>
      <p:sp>
        <p:nvSpPr>
          <p:cNvPr id="3" name="Text 0"/>
          <p:cNvSpPr/>
          <p:nvPr/>
        </p:nvSpPr>
        <p:spPr>
          <a:xfrm>
            <a:off x="154812" y="181628"/>
            <a:ext cx="7556421" cy="1240155"/>
          </a:xfrm>
          <a:prstGeom prst="rect">
            <a:avLst/>
          </a:prstGeom>
          <a:noFill/>
          <a:ln/>
        </p:spPr>
        <p:txBody>
          <a:bodyPr wrap="square" lIns="0" tIns="0" rIns="0" bIns="0" rtlCol="0" anchor="t"/>
          <a:lstStyle/>
          <a:p>
            <a:pPr marL="0" indent="0" algn="l">
              <a:lnSpc>
                <a:spcPts val="4850"/>
              </a:lnSpc>
              <a:buNone/>
            </a:pPr>
            <a:r>
              <a:rPr lang="en-US" sz="3900" dirty="0">
                <a:solidFill>
                  <a:srgbClr val="312F2B"/>
                </a:solidFill>
                <a:latin typeface="Bahnschrift Light" panose="020B0502040204020203" pitchFamily="34" charset="0"/>
                <a:ea typeface="Gelasio" pitchFamily="34" charset="-122"/>
                <a:cs typeface="Gelasio" pitchFamily="34" charset="-120"/>
              </a:rPr>
              <a:t>User Interactions: Use Case Diagram</a:t>
            </a:r>
            <a:endParaRPr lang="en-US" sz="3900" dirty="0">
              <a:latin typeface="Bahnschrift Light" panose="020B0502040204020203" pitchFamily="34" charset="0"/>
            </a:endParaRPr>
          </a:p>
        </p:txBody>
      </p:sp>
      <p:sp>
        <p:nvSpPr>
          <p:cNvPr id="4" name="Text 1"/>
          <p:cNvSpPr/>
          <p:nvPr/>
        </p:nvSpPr>
        <p:spPr>
          <a:xfrm>
            <a:off x="154812" y="1719439"/>
            <a:ext cx="7556421"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Bahnschrift Light" panose="020B0502040204020203" pitchFamily="34" charset="0"/>
                <a:ea typeface="Lato" pitchFamily="34" charset="-122"/>
                <a:cs typeface="Lato" pitchFamily="34" charset="-120"/>
              </a:rPr>
              <a:t>The Use Case Diagram visually represents the system's functionality from the perspective of its users.</a:t>
            </a:r>
            <a:endParaRPr lang="en-US" sz="1550" dirty="0">
              <a:latin typeface="Bahnschrift Light" panose="020B0502040204020203" pitchFamily="34" charset="0"/>
            </a:endParaRPr>
          </a:p>
        </p:txBody>
      </p:sp>
      <p:sp>
        <p:nvSpPr>
          <p:cNvPr id="5" name="Text 2"/>
          <p:cNvSpPr/>
          <p:nvPr/>
        </p:nvSpPr>
        <p:spPr>
          <a:xfrm>
            <a:off x="154812" y="5736191"/>
            <a:ext cx="7556421"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Bahnschrift Light" panose="020B0502040204020203" pitchFamily="34" charset="0"/>
                <a:ea typeface="Lato" pitchFamily="34" charset="-122"/>
                <a:cs typeface="Lato" pitchFamily="34" charset="-120"/>
              </a:rPr>
              <a:t>It highlights the various interactions users have with the Smart Inventory Management System, detailing key actions and responsibilities for each role:</a:t>
            </a:r>
            <a:endParaRPr lang="en-US" sz="1550" dirty="0">
              <a:latin typeface="Bahnschrift Light" panose="020B0502040204020203" pitchFamily="34" charset="0"/>
            </a:endParaRPr>
          </a:p>
        </p:txBody>
      </p:sp>
      <p:sp>
        <p:nvSpPr>
          <p:cNvPr id="6" name="Text 3"/>
          <p:cNvSpPr/>
          <p:nvPr/>
        </p:nvSpPr>
        <p:spPr>
          <a:xfrm>
            <a:off x="154812" y="6594512"/>
            <a:ext cx="7556421"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272525"/>
                </a:solidFill>
                <a:latin typeface="Bahnschrift Light" panose="020B0502040204020203" pitchFamily="34" charset="0"/>
                <a:ea typeface="Lato" pitchFamily="34" charset="-122"/>
                <a:cs typeface="Lato" pitchFamily="34" charset="-120"/>
              </a:rPr>
              <a:t>Login:</a:t>
            </a:r>
            <a:r>
              <a:rPr lang="en-US" sz="1550" dirty="0">
                <a:solidFill>
                  <a:srgbClr val="272525"/>
                </a:solidFill>
                <a:latin typeface="Bahnschrift Light" panose="020B0502040204020203" pitchFamily="34" charset="0"/>
                <a:ea typeface="Lato" pitchFamily="34" charset="-122"/>
                <a:cs typeface="Lato" pitchFamily="34" charset="-120"/>
              </a:rPr>
              <a:t> Both Administrators and Sales Clerks securely access the system.</a:t>
            </a:r>
            <a:endParaRPr lang="en-US" sz="1550" dirty="0">
              <a:latin typeface="Bahnschrift Light" panose="020B0502040204020203" pitchFamily="34" charset="0"/>
            </a:endParaRPr>
          </a:p>
        </p:txBody>
      </p:sp>
      <p:sp>
        <p:nvSpPr>
          <p:cNvPr id="7" name="Text 4"/>
          <p:cNvSpPr/>
          <p:nvPr/>
        </p:nvSpPr>
        <p:spPr>
          <a:xfrm>
            <a:off x="154812" y="6981465"/>
            <a:ext cx="7556421"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Bahnschrift Light" panose="020B0502040204020203" pitchFamily="34" charset="0"/>
                <a:ea typeface="Lato" pitchFamily="34" charset="-122"/>
                <a:cs typeface="Lato" pitchFamily="34" charset="-120"/>
              </a:rPr>
              <a:t>Add Product:</a:t>
            </a:r>
            <a:r>
              <a:rPr lang="en-US" sz="1550" dirty="0">
                <a:solidFill>
                  <a:srgbClr val="272525"/>
                </a:solidFill>
                <a:latin typeface="Bahnschrift Light" panose="020B0502040204020203" pitchFamily="34" charset="0"/>
                <a:ea typeface="Lato" pitchFamily="34" charset="-122"/>
                <a:cs typeface="Lato" pitchFamily="34" charset="-120"/>
              </a:rPr>
              <a:t> Administrators manage the inventory by adding new </a:t>
            </a:r>
          </a:p>
          <a:p>
            <a:pPr marL="342900" indent="-342900" algn="l">
              <a:lnSpc>
                <a:spcPts val="2500"/>
              </a:lnSpc>
              <a:buSzPct val="100000"/>
              <a:buChar char="•"/>
            </a:pPr>
            <a:r>
              <a:rPr lang="en-US" sz="1550" dirty="0">
                <a:solidFill>
                  <a:srgbClr val="272525"/>
                </a:solidFill>
                <a:latin typeface="Bahnschrift Light" panose="020B0502040204020203" pitchFamily="34" charset="0"/>
                <a:ea typeface="Lato" pitchFamily="34" charset="-122"/>
                <a:cs typeface="Lato" pitchFamily="34" charset="-120"/>
              </a:rPr>
              <a:t>products, updating details, or removing obsolete items.</a:t>
            </a:r>
            <a:endParaRPr lang="en-US" sz="1550" dirty="0">
              <a:latin typeface="Bahnschrift Light" panose="020B0502040204020203" pitchFamily="34" charset="0"/>
            </a:endParaRPr>
          </a:p>
        </p:txBody>
      </p:sp>
      <p:sp>
        <p:nvSpPr>
          <p:cNvPr id="8" name="Text 5"/>
          <p:cNvSpPr/>
          <p:nvPr/>
        </p:nvSpPr>
        <p:spPr>
          <a:xfrm>
            <a:off x="7183573" y="5736377"/>
            <a:ext cx="7556421"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Bahnschrift Light" panose="020B0502040204020203" pitchFamily="34" charset="0"/>
                <a:ea typeface="Lato" pitchFamily="34" charset="-122"/>
                <a:cs typeface="Lato" pitchFamily="34" charset="-120"/>
              </a:rPr>
              <a:t>Record Sale:</a:t>
            </a:r>
            <a:r>
              <a:rPr lang="en-US" sz="1550" dirty="0">
                <a:solidFill>
                  <a:srgbClr val="272525"/>
                </a:solidFill>
                <a:latin typeface="Bahnschrift Light" panose="020B0502040204020203" pitchFamily="34" charset="0"/>
                <a:ea typeface="Lato" pitchFamily="34" charset="-122"/>
                <a:cs typeface="Lato" pitchFamily="34" charset="-120"/>
              </a:rPr>
              <a:t> Sales Clerks efficiently process customer transactions, leading to automatic inventory adjustments.</a:t>
            </a:r>
            <a:endParaRPr lang="en-US" sz="1550" dirty="0">
              <a:latin typeface="Bahnschrift Light" panose="020B0502040204020203" pitchFamily="34" charset="0"/>
            </a:endParaRPr>
          </a:p>
        </p:txBody>
      </p:sp>
      <p:sp>
        <p:nvSpPr>
          <p:cNvPr id="9" name="Text 6"/>
          <p:cNvSpPr/>
          <p:nvPr/>
        </p:nvSpPr>
        <p:spPr>
          <a:xfrm>
            <a:off x="7183573" y="6440870"/>
            <a:ext cx="7556421"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Bahnschrift Light" panose="020B0502040204020203" pitchFamily="34" charset="0"/>
                <a:ea typeface="Lato" pitchFamily="34" charset="-122"/>
                <a:cs typeface="Lato" pitchFamily="34" charset="-120"/>
              </a:rPr>
              <a:t>View Reports:</a:t>
            </a:r>
            <a:r>
              <a:rPr lang="en-US" sz="1550" dirty="0">
                <a:solidFill>
                  <a:srgbClr val="272525"/>
                </a:solidFill>
                <a:latin typeface="Bahnschrift Light" panose="020B0502040204020203" pitchFamily="34" charset="0"/>
                <a:ea typeface="Lato" pitchFamily="34" charset="-122"/>
                <a:cs typeface="Lato" pitchFamily="34" charset="-120"/>
              </a:rPr>
              <a:t> Users can generate and view comprehensive reports on sales, stock levels, and other operational data, tailored to their access level.</a:t>
            </a:r>
            <a:endParaRPr lang="en-US" sz="1550" dirty="0">
              <a:latin typeface="Bahnschrift Light" panose="020B0502040204020203" pitchFamily="34" charset="0"/>
            </a:endParaRPr>
          </a:p>
        </p:txBody>
      </p:sp>
      <p:sp>
        <p:nvSpPr>
          <p:cNvPr id="10" name="Text 7"/>
          <p:cNvSpPr/>
          <p:nvPr/>
        </p:nvSpPr>
        <p:spPr>
          <a:xfrm>
            <a:off x="7183573" y="7145363"/>
            <a:ext cx="7556421"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Bahnschrift Light" panose="020B0502040204020203" pitchFamily="34" charset="0"/>
                <a:ea typeface="Lato" pitchFamily="34" charset="-122"/>
                <a:cs typeface="Lato" pitchFamily="34" charset="-120"/>
              </a:rPr>
              <a:t>Receive Alerts:</a:t>
            </a:r>
            <a:r>
              <a:rPr lang="en-US" sz="1550" dirty="0">
                <a:solidFill>
                  <a:srgbClr val="272525"/>
                </a:solidFill>
                <a:latin typeface="Bahnschrift Light" panose="020B0502040204020203" pitchFamily="34" charset="0"/>
                <a:ea typeface="Lato" pitchFamily="34" charset="-122"/>
                <a:cs typeface="Lato" pitchFamily="34" charset="-120"/>
              </a:rPr>
              <a:t> The system provides real-time notifications for critical events, such as low stock levels, ensuring timely action.</a:t>
            </a:r>
            <a:endParaRPr lang="en-US" sz="1550" dirty="0">
              <a:latin typeface="Bahnschrift Light" panose="020B0502040204020203" pitchFamily="34" charset="0"/>
            </a:endParaRPr>
          </a:p>
        </p:txBody>
      </p:sp>
      <p:pic>
        <p:nvPicPr>
          <p:cNvPr id="13" name="Picture 12">
            <a:extLst>
              <a:ext uri="{FF2B5EF4-FFF2-40B4-BE49-F238E27FC236}">
                <a16:creationId xmlns:a16="http://schemas.microsoft.com/office/drawing/2014/main" id="{5BDFD860-3213-421E-8177-9E328162196F}"/>
              </a:ext>
            </a:extLst>
          </p:cNvPr>
          <p:cNvPicPr>
            <a:picLocks noChangeAspect="1"/>
          </p:cNvPicPr>
          <p:nvPr/>
        </p:nvPicPr>
        <p:blipFill>
          <a:blip r:embed="rId3"/>
          <a:stretch>
            <a:fillRect/>
          </a:stretch>
        </p:blipFill>
        <p:spPr>
          <a:xfrm>
            <a:off x="154811" y="2423931"/>
            <a:ext cx="14001863" cy="284213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9E5F0C9-9378-498B-9D57-FDAD77911439}"/>
              </a:ext>
            </a:extLst>
          </p:cNvPr>
          <p:cNvSpPr/>
          <p:nvPr/>
        </p:nvSpPr>
        <p:spPr>
          <a:xfrm>
            <a:off x="12862560" y="7802880"/>
            <a:ext cx="1625600" cy="317540"/>
          </a:xfrm>
          <a:prstGeom prst="rect">
            <a:avLst/>
          </a:prstGeom>
          <a:solidFill>
            <a:srgbClr val="FEFEFE"/>
          </a:solidFill>
          <a:ln>
            <a:solidFill>
              <a:srgbClr val="FEFE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hnschrift Light" panose="020B0502040204020203" pitchFamily="34" charset="0"/>
            </a:endParaRPr>
          </a:p>
        </p:txBody>
      </p:sp>
      <p:pic>
        <p:nvPicPr>
          <p:cNvPr id="2" name="Image 0"/>
          <p:cNvPicPr>
            <a:picLocks noChangeAspect="1"/>
          </p:cNvPicPr>
          <p:nvPr/>
        </p:nvPicPr>
        <p:blipFill>
          <a:blip r:embed="rId3"/>
          <a:srcRect/>
          <a:stretch/>
        </p:blipFill>
        <p:spPr>
          <a:xfrm>
            <a:off x="1" y="-1"/>
            <a:ext cx="14630400" cy="6883615"/>
          </a:xfrm>
          <a:prstGeom prst="rect">
            <a:avLst/>
          </a:prstGeom>
        </p:spPr>
      </p:pic>
      <p:sp>
        <p:nvSpPr>
          <p:cNvPr id="3" name="Text 0"/>
          <p:cNvSpPr/>
          <p:nvPr/>
        </p:nvSpPr>
        <p:spPr>
          <a:xfrm>
            <a:off x="241393" y="7070432"/>
            <a:ext cx="3779764" cy="635080"/>
          </a:xfrm>
          <a:prstGeom prst="rect">
            <a:avLst/>
          </a:prstGeom>
          <a:noFill/>
          <a:ln/>
        </p:spPr>
        <p:txBody>
          <a:bodyPr wrap="square" lIns="0" tIns="0" rIns="0" bIns="0" rtlCol="0" anchor="t"/>
          <a:lstStyle/>
          <a:p>
            <a:pPr marL="0" indent="0" algn="l">
              <a:lnSpc>
                <a:spcPts val="4850"/>
              </a:lnSpc>
              <a:buNone/>
            </a:pPr>
            <a:r>
              <a:rPr lang="en-US" sz="1200" b="1" dirty="0">
                <a:solidFill>
                  <a:srgbClr val="312F2B"/>
                </a:solidFill>
                <a:latin typeface="Arial Black" panose="020B0A04020102020204" pitchFamily="34" charset="0"/>
                <a:ea typeface="Gelasio" pitchFamily="34" charset="-122"/>
                <a:cs typeface="Gelasio" pitchFamily="34" charset="-120"/>
              </a:rPr>
              <a:t>Data Structure: Entity-Relationship Diagram</a:t>
            </a:r>
            <a:endParaRPr lang="en-US" sz="1200" b="1" dirty="0">
              <a:latin typeface="Arial Black" panose="020B0A04020102020204" pitchFamily="34" charset="0"/>
            </a:endParaRPr>
          </a:p>
        </p:txBody>
      </p:sp>
      <p:sp>
        <p:nvSpPr>
          <p:cNvPr id="4" name="Text 1"/>
          <p:cNvSpPr/>
          <p:nvPr/>
        </p:nvSpPr>
        <p:spPr>
          <a:xfrm>
            <a:off x="4594035" y="7042386"/>
            <a:ext cx="4451794" cy="635079"/>
          </a:xfrm>
          <a:prstGeom prst="rect">
            <a:avLst/>
          </a:prstGeom>
          <a:noFill/>
          <a:ln/>
        </p:spPr>
        <p:txBody>
          <a:bodyPr wrap="square" lIns="0" tIns="0" rIns="0" bIns="0" rtlCol="0" anchor="t"/>
          <a:lstStyle/>
          <a:p>
            <a:pPr marL="0" indent="0" algn="l">
              <a:lnSpc>
                <a:spcPts val="2500"/>
              </a:lnSpc>
              <a:buNone/>
            </a:pPr>
            <a:r>
              <a:rPr lang="en-US" sz="1200" dirty="0">
                <a:solidFill>
                  <a:srgbClr val="272525"/>
                </a:solidFill>
                <a:latin typeface="Bahnschrift Light" panose="020B0502040204020203" pitchFamily="34" charset="0"/>
                <a:ea typeface="Lato" pitchFamily="34" charset="-122"/>
                <a:cs typeface="Lato" pitchFamily="34" charset="-120"/>
              </a:rPr>
              <a:t>The ER Diagram outlines the relationships between the critical</a:t>
            </a:r>
          </a:p>
          <a:p>
            <a:pPr marL="0" indent="0" algn="l">
              <a:lnSpc>
                <a:spcPts val="2500"/>
              </a:lnSpc>
              <a:buNone/>
            </a:pPr>
            <a:r>
              <a:rPr lang="en-US" sz="1200" dirty="0">
                <a:solidFill>
                  <a:srgbClr val="272525"/>
                </a:solidFill>
                <a:latin typeface="Bahnschrift Light" panose="020B0502040204020203" pitchFamily="34" charset="0"/>
                <a:ea typeface="Lato" pitchFamily="34" charset="-122"/>
                <a:cs typeface="Lato" pitchFamily="34" charset="-120"/>
              </a:rPr>
              <a:t> data entities within our Smart Inventory Management System.</a:t>
            </a:r>
            <a:endParaRPr lang="en-US" sz="1200" dirty="0">
              <a:latin typeface="Bahnschrift Light" panose="020B0502040204020203" pitchFamily="34" charset="0"/>
            </a:endParaRPr>
          </a:p>
        </p:txBody>
      </p:sp>
      <p:sp>
        <p:nvSpPr>
          <p:cNvPr id="5" name="Text 2"/>
          <p:cNvSpPr/>
          <p:nvPr/>
        </p:nvSpPr>
        <p:spPr>
          <a:xfrm>
            <a:off x="9397388" y="7042386"/>
            <a:ext cx="5090772" cy="952619"/>
          </a:xfrm>
          <a:prstGeom prst="rect">
            <a:avLst/>
          </a:prstGeom>
          <a:noFill/>
          <a:ln/>
        </p:spPr>
        <p:txBody>
          <a:bodyPr wrap="square" lIns="0" tIns="0" rIns="0" bIns="0" rtlCol="0" anchor="t"/>
          <a:lstStyle/>
          <a:p>
            <a:pPr marL="0" indent="0" algn="l">
              <a:lnSpc>
                <a:spcPts val="2500"/>
              </a:lnSpc>
              <a:buNone/>
            </a:pPr>
            <a:r>
              <a:rPr lang="en-US" sz="1200" dirty="0">
                <a:solidFill>
                  <a:srgbClr val="272525"/>
                </a:solidFill>
                <a:latin typeface="Bahnschrift Light" panose="020B0502040204020203" pitchFamily="34" charset="0"/>
                <a:ea typeface="Lato" pitchFamily="34" charset="-122"/>
                <a:cs typeface="Lato" pitchFamily="34" charset="-120"/>
              </a:rPr>
              <a:t>Key tables include Users, Products, Sales, and Suppliers, demonstrating</a:t>
            </a:r>
          </a:p>
          <a:p>
            <a:pPr marL="0" indent="0" algn="l">
              <a:lnSpc>
                <a:spcPts val="2500"/>
              </a:lnSpc>
              <a:buNone/>
            </a:pPr>
            <a:r>
              <a:rPr lang="en-US" sz="1200" dirty="0">
                <a:solidFill>
                  <a:srgbClr val="272525"/>
                </a:solidFill>
                <a:latin typeface="Bahnschrift Light" panose="020B0502040204020203" pitchFamily="34" charset="0"/>
                <a:ea typeface="Lato" pitchFamily="34" charset="-122"/>
                <a:cs typeface="Lato" pitchFamily="34" charset="-120"/>
              </a:rPr>
              <a:t> how products are linked to suppliers and how sales records are tied to </a:t>
            </a:r>
          </a:p>
          <a:p>
            <a:pPr marL="0" indent="0" algn="l">
              <a:lnSpc>
                <a:spcPts val="2500"/>
              </a:lnSpc>
              <a:buNone/>
            </a:pPr>
            <a:r>
              <a:rPr lang="en-US" sz="1200" dirty="0">
                <a:solidFill>
                  <a:srgbClr val="272525"/>
                </a:solidFill>
                <a:latin typeface="Bahnschrift Light" panose="020B0502040204020203" pitchFamily="34" charset="0"/>
                <a:ea typeface="Lato" pitchFamily="34" charset="-122"/>
                <a:cs typeface="Lato" pitchFamily="34" charset="-120"/>
              </a:rPr>
              <a:t>both products and the users who processed them.</a:t>
            </a:r>
            <a:endParaRPr lang="en-US" sz="1200" dirty="0">
              <a:latin typeface="Bahnschrift Light" panose="020B0502040204020203"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765697"/>
            <a:ext cx="9512379" cy="620078"/>
          </a:xfrm>
          <a:prstGeom prst="rect">
            <a:avLst/>
          </a:prstGeom>
          <a:noFill/>
          <a:ln/>
        </p:spPr>
        <p:txBody>
          <a:bodyPr wrap="none" lIns="0" tIns="0" rIns="0" bIns="0" rtlCol="0" anchor="t"/>
          <a:lstStyle/>
          <a:p>
            <a:pPr marL="0" indent="0" algn="l">
              <a:lnSpc>
                <a:spcPts val="4850"/>
              </a:lnSpc>
              <a:buNone/>
            </a:pPr>
            <a:r>
              <a:rPr lang="en-US" sz="3900" dirty="0">
                <a:solidFill>
                  <a:srgbClr val="312F2B"/>
                </a:solidFill>
                <a:latin typeface="Gelasio" pitchFamily="34" charset="0"/>
                <a:ea typeface="Gelasio" pitchFamily="34" charset="-122"/>
                <a:cs typeface="Gelasio" pitchFamily="34" charset="-120"/>
              </a:rPr>
              <a:t>Ensuring Reliability: Our Testing Approach</a:t>
            </a:r>
            <a:endParaRPr lang="en-US" sz="3900" dirty="0"/>
          </a:p>
        </p:txBody>
      </p:sp>
      <p:sp>
        <p:nvSpPr>
          <p:cNvPr id="3" name="Shape 1"/>
          <p:cNvSpPr/>
          <p:nvPr/>
        </p:nvSpPr>
        <p:spPr>
          <a:xfrm>
            <a:off x="793790" y="2906673"/>
            <a:ext cx="6279356" cy="2621875"/>
          </a:xfrm>
          <a:prstGeom prst="roundRect">
            <a:avLst>
              <a:gd name="adj" fmla="val 3179"/>
            </a:avLst>
          </a:prstGeom>
          <a:solidFill>
            <a:srgbClr val="B6D6FC"/>
          </a:solidFill>
          <a:ln/>
        </p:spPr>
      </p:sp>
      <p:pic>
        <p:nvPicPr>
          <p:cNvPr id="4" name="Image 0" descr="preencoded.png"/>
          <p:cNvPicPr>
            <a:picLocks noChangeAspect="1"/>
          </p:cNvPicPr>
          <p:nvPr/>
        </p:nvPicPr>
        <p:blipFill>
          <a:blip r:embed="rId3"/>
          <a:stretch>
            <a:fillRect/>
          </a:stretch>
        </p:blipFill>
        <p:spPr>
          <a:xfrm>
            <a:off x="992148" y="3158490"/>
            <a:ext cx="310039" cy="248007"/>
          </a:xfrm>
          <a:prstGeom prst="rect">
            <a:avLst/>
          </a:prstGeom>
        </p:spPr>
      </p:pic>
      <p:sp>
        <p:nvSpPr>
          <p:cNvPr id="5" name="Text 2"/>
          <p:cNvSpPr/>
          <p:nvPr/>
        </p:nvSpPr>
        <p:spPr>
          <a:xfrm>
            <a:off x="1500545" y="315456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Gelasio" pitchFamily="34" charset="0"/>
                <a:ea typeface="Gelasio" pitchFamily="34" charset="-122"/>
                <a:cs typeface="Gelasio" pitchFamily="34" charset="-120"/>
              </a:rPr>
              <a:t>Black-box Testing</a:t>
            </a:r>
            <a:endParaRPr lang="en-US" sz="1950" dirty="0"/>
          </a:p>
        </p:txBody>
      </p:sp>
      <p:sp>
        <p:nvSpPr>
          <p:cNvPr id="6" name="Text 3"/>
          <p:cNvSpPr/>
          <p:nvPr/>
        </p:nvSpPr>
        <p:spPr>
          <a:xfrm>
            <a:off x="1500545" y="3663077"/>
            <a:ext cx="5374243" cy="1587698"/>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Lato" pitchFamily="34" charset="0"/>
                <a:ea typeface="Lato" pitchFamily="34" charset="-122"/>
                <a:cs typeface="Lato" pitchFamily="34" charset="-120"/>
              </a:rPr>
              <a:t>We exclusively utilized </a:t>
            </a:r>
            <a:r>
              <a:rPr lang="en-US" sz="1550" b="1" dirty="0">
                <a:solidFill>
                  <a:srgbClr val="000000"/>
                </a:solidFill>
                <a:latin typeface="Lato" pitchFamily="34" charset="0"/>
                <a:ea typeface="Lato" pitchFamily="34" charset="-122"/>
                <a:cs typeface="Lato" pitchFamily="34" charset="-120"/>
              </a:rPr>
              <a:t>Black-box Testing</a:t>
            </a:r>
            <a:r>
              <a:rPr lang="en-US" sz="1550" dirty="0">
                <a:solidFill>
                  <a:srgbClr val="000000"/>
                </a:solidFill>
                <a:latin typeface="Lato" pitchFamily="34" charset="0"/>
                <a:ea typeface="Lato" pitchFamily="34" charset="-122"/>
                <a:cs typeface="Lato" pitchFamily="34" charset="-120"/>
              </a:rPr>
              <a:t>, focusing on the system's external behavior without delving into its internal code structure. This method allowed us to validate functionalities from an end-user perspective, ensuring a seamless user experience.</a:t>
            </a:r>
            <a:endParaRPr lang="en-US" sz="1550" dirty="0"/>
          </a:p>
        </p:txBody>
      </p:sp>
      <p:sp>
        <p:nvSpPr>
          <p:cNvPr id="7" name="Text 4"/>
          <p:cNvSpPr/>
          <p:nvPr/>
        </p:nvSpPr>
        <p:spPr>
          <a:xfrm>
            <a:off x="7564874" y="2862024"/>
            <a:ext cx="6279356"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Lato" pitchFamily="34" charset="0"/>
                <a:ea typeface="Lato" pitchFamily="34" charset="-122"/>
                <a:cs typeface="Lato" pitchFamily="34" charset="-120"/>
              </a:rPr>
              <a:t>Our testing strategy involved a </a:t>
            </a:r>
            <a:r>
              <a:rPr lang="en-US" sz="1550" b="1" dirty="0">
                <a:solidFill>
                  <a:srgbClr val="272525"/>
                </a:solidFill>
                <a:latin typeface="Lato" pitchFamily="34" charset="0"/>
                <a:ea typeface="Lato" pitchFamily="34" charset="-122"/>
                <a:cs typeface="Lato" pitchFamily="34" charset="-120"/>
              </a:rPr>
              <a:t>rigorous examination</a:t>
            </a:r>
            <a:r>
              <a:rPr lang="en-US" sz="1550" dirty="0">
                <a:solidFill>
                  <a:srgbClr val="272525"/>
                </a:solidFill>
                <a:latin typeface="Lato" pitchFamily="34" charset="0"/>
                <a:ea typeface="Lato" pitchFamily="34" charset="-122"/>
                <a:cs typeface="Lato" pitchFamily="34" charset="-120"/>
              </a:rPr>
              <a:t> of UI inputs and their corresponding expected outputs. We meticulously tested core functionalities:</a:t>
            </a:r>
            <a:endParaRPr lang="en-US" sz="1550" dirty="0"/>
          </a:p>
        </p:txBody>
      </p:sp>
      <p:sp>
        <p:nvSpPr>
          <p:cNvPr id="8" name="Text 5"/>
          <p:cNvSpPr/>
          <p:nvPr/>
        </p:nvSpPr>
        <p:spPr>
          <a:xfrm>
            <a:off x="7564874" y="3993237"/>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272525"/>
                </a:solidFill>
                <a:latin typeface="Lato" pitchFamily="34" charset="0"/>
                <a:ea typeface="Lato" pitchFamily="34" charset="-122"/>
                <a:cs typeface="Lato" pitchFamily="34" charset="-120"/>
              </a:rPr>
              <a:t>Secure user login</a:t>
            </a:r>
            <a:r>
              <a:rPr lang="en-US" sz="1550" dirty="0">
                <a:solidFill>
                  <a:srgbClr val="272525"/>
                </a:solidFill>
                <a:latin typeface="Lato" pitchFamily="34" charset="0"/>
                <a:ea typeface="Lato" pitchFamily="34" charset="-122"/>
                <a:cs typeface="Lato" pitchFamily="34" charset="-120"/>
              </a:rPr>
              <a:t> and </a:t>
            </a:r>
            <a:r>
              <a:rPr lang="en-US" sz="1550" b="1" dirty="0">
                <a:solidFill>
                  <a:srgbClr val="272525"/>
                </a:solidFill>
                <a:latin typeface="Lato" pitchFamily="34" charset="0"/>
                <a:ea typeface="Lato" pitchFamily="34" charset="-122"/>
                <a:cs typeface="Lato" pitchFamily="34" charset="-120"/>
              </a:rPr>
              <a:t>role-based access</a:t>
            </a:r>
            <a:r>
              <a:rPr lang="en-US" sz="1550" dirty="0">
                <a:solidFill>
                  <a:srgbClr val="272525"/>
                </a:solidFill>
                <a:latin typeface="Lato" pitchFamily="34" charset="0"/>
                <a:ea typeface="Lato" pitchFamily="34" charset="-122"/>
                <a:cs typeface="Lato" pitchFamily="34" charset="-120"/>
              </a:rPr>
              <a:t>.</a:t>
            </a:r>
            <a:endParaRPr lang="en-US" sz="1550" dirty="0"/>
          </a:p>
        </p:txBody>
      </p:sp>
      <p:sp>
        <p:nvSpPr>
          <p:cNvPr id="9" name="Text 6"/>
          <p:cNvSpPr/>
          <p:nvPr/>
        </p:nvSpPr>
        <p:spPr>
          <a:xfrm>
            <a:off x="7564874" y="4380190"/>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272525"/>
                </a:solidFill>
                <a:latin typeface="Lato" pitchFamily="34" charset="0"/>
                <a:ea typeface="Lato" pitchFamily="34" charset="-122"/>
                <a:cs typeface="Lato" pitchFamily="34" charset="-120"/>
              </a:rPr>
              <a:t>Accurate product entry</a:t>
            </a:r>
            <a:r>
              <a:rPr lang="en-US" sz="1550" dirty="0">
                <a:solidFill>
                  <a:srgbClr val="272525"/>
                </a:solidFill>
                <a:latin typeface="Lato" pitchFamily="34" charset="0"/>
                <a:ea typeface="Lato" pitchFamily="34" charset="-122"/>
                <a:cs typeface="Lato" pitchFamily="34" charset="-120"/>
              </a:rPr>
              <a:t> and </a:t>
            </a:r>
            <a:r>
              <a:rPr lang="en-US" sz="1550" b="1" dirty="0">
                <a:solidFill>
                  <a:srgbClr val="272525"/>
                </a:solidFill>
                <a:latin typeface="Lato" pitchFamily="34" charset="0"/>
                <a:ea typeface="Lato" pitchFamily="34" charset="-122"/>
                <a:cs typeface="Lato" pitchFamily="34" charset="-120"/>
              </a:rPr>
              <a:t>modification</a:t>
            </a:r>
            <a:r>
              <a:rPr lang="en-US" sz="1550" dirty="0">
                <a:solidFill>
                  <a:srgbClr val="272525"/>
                </a:solidFill>
                <a:latin typeface="Lato" pitchFamily="34" charset="0"/>
                <a:ea typeface="Lato" pitchFamily="34" charset="-122"/>
                <a:cs typeface="Lato" pitchFamily="34" charset="-120"/>
              </a:rPr>
              <a:t>.</a:t>
            </a:r>
            <a:endParaRPr lang="en-US" sz="1550" dirty="0"/>
          </a:p>
        </p:txBody>
      </p:sp>
      <p:sp>
        <p:nvSpPr>
          <p:cNvPr id="10" name="Text 7"/>
          <p:cNvSpPr/>
          <p:nvPr/>
        </p:nvSpPr>
        <p:spPr>
          <a:xfrm>
            <a:off x="7564874" y="4767143"/>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272525"/>
                </a:solidFill>
                <a:latin typeface="Lato" pitchFamily="34" charset="0"/>
                <a:ea typeface="Lato" pitchFamily="34" charset="-122"/>
                <a:cs typeface="Lato" pitchFamily="34" charset="-120"/>
              </a:rPr>
              <a:t>Flawless sales transaction recording</a:t>
            </a:r>
            <a:r>
              <a:rPr lang="en-US" sz="1550" dirty="0">
                <a:solidFill>
                  <a:srgbClr val="272525"/>
                </a:solidFill>
                <a:latin typeface="Lato" pitchFamily="34" charset="0"/>
                <a:ea typeface="Lato" pitchFamily="34" charset="-122"/>
                <a:cs typeface="Lato" pitchFamily="34" charset="-120"/>
              </a:rPr>
              <a:t>.</a:t>
            </a:r>
            <a:endParaRPr lang="en-US" sz="1550" dirty="0"/>
          </a:p>
        </p:txBody>
      </p:sp>
      <p:sp>
        <p:nvSpPr>
          <p:cNvPr id="11" name="Text 8"/>
          <p:cNvSpPr/>
          <p:nvPr/>
        </p:nvSpPr>
        <p:spPr>
          <a:xfrm>
            <a:off x="7564874" y="5154097"/>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272525"/>
                </a:solidFill>
                <a:latin typeface="Lato" pitchFamily="34" charset="0"/>
                <a:ea typeface="Lato" pitchFamily="34" charset="-122"/>
                <a:cs typeface="Lato" pitchFamily="34" charset="-120"/>
              </a:rPr>
              <a:t>Timely and accurate low-stock alert generation</a:t>
            </a:r>
            <a:r>
              <a:rPr lang="en-US" sz="1550" dirty="0">
                <a:solidFill>
                  <a:srgbClr val="272525"/>
                </a:solidFill>
                <a:latin typeface="Lato" pitchFamily="34" charset="0"/>
                <a:ea typeface="Lato" pitchFamily="34" charset="-122"/>
                <a:cs typeface="Lato" pitchFamily="34" charset="-120"/>
              </a:rPr>
              <a:t>.</a:t>
            </a:r>
            <a:endParaRPr lang="en-US" sz="1550" dirty="0"/>
          </a:p>
        </p:txBody>
      </p:sp>
      <p:sp>
        <p:nvSpPr>
          <p:cNvPr id="12" name="Text 9"/>
          <p:cNvSpPr/>
          <p:nvPr/>
        </p:nvSpPr>
        <p:spPr>
          <a:xfrm>
            <a:off x="7564874" y="5650230"/>
            <a:ext cx="6279356"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Lato" pitchFamily="34" charset="0"/>
                <a:ea typeface="Lato" pitchFamily="34" charset="-122"/>
                <a:cs typeface="Lato" pitchFamily="34" charset="-120"/>
              </a:rPr>
              <a:t>This comprehensive approach ensured the system performs reliably and meets all specified user requirements with high fidelity.</a:t>
            </a:r>
            <a:endParaRPr lang="en-US" sz="1550" dirty="0"/>
          </a:p>
        </p:txBody>
      </p:sp>
      <p:sp>
        <p:nvSpPr>
          <p:cNvPr id="13" name="Rectangle 12">
            <a:extLst>
              <a:ext uri="{FF2B5EF4-FFF2-40B4-BE49-F238E27FC236}">
                <a16:creationId xmlns:a16="http://schemas.microsoft.com/office/drawing/2014/main" id="{3E016F92-8F92-4863-9308-6C117F1724F0}"/>
              </a:ext>
            </a:extLst>
          </p:cNvPr>
          <p:cNvSpPr/>
          <p:nvPr/>
        </p:nvSpPr>
        <p:spPr>
          <a:xfrm>
            <a:off x="12862560" y="7802880"/>
            <a:ext cx="1625600" cy="317540"/>
          </a:xfrm>
          <a:prstGeom prst="rect">
            <a:avLst/>
          </a:prstGeom>
          <a:solidFill>
            <a:srgbClr val="FEFEFE"/>
          </a:solidFill>
          <a:ln>
            <a:solidFill>
              <a:srgbClr val="FEFE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748070" y="1040011"/>
            <a:ext cx="7459980" cy="584359"/>
          </a:xfrm>
          <a:prstGeom prst="rect">
            <a:avLst/>
          </a:prstGeom>
          <a:noFill/>
          <a:ln/>
        </p:spPr>
        <p:txBody>
          <a:bodyPr wrap="none" lIns="0" tIns="0" rIns="0" bIns="0" rtlCol="0" anchor="t"/>
          <a:lstStyle/>
          <a:p>
            <a:pPr marL="0" indent="0" algn="l">
              <a:lnSpc>
                <a:spcPts val="4600"/>
              </a:lnSpc>
              <a:buNone/>
            </a:pPr>
            <a:r>
              <a:rPr lang="en-US" sz="3650" dirty="0">
                <a:solidFill>
                  <a:srgbClr val="312F2B"/>
                </a:solidFill>
                <a:latin typeface="Bahnschrift Light SemiCondensed" panose="020B0502040204020203" pitchFamily="34" charset="0"/>
                <a:ea typeface="Gelasio" pitchFamily="34" charset="-122"/>
                <a:cs typeface="Gelasio" pitchFamily="34" charset="-120"/>
              </a:rPr>
              <a:t>Conclusion &amp; Future Enhancements</a:t>
            </a:r>
            <a:endParaRPr lang="en-US" sz="3650" dirty="0">
              <a:latin typeface="Bahnschrift Light SemiCondensed" panose="020B0502040204020203" pitchFamily="34" charset="0"/>
            </a:endParaRPr>
          </a:p>
        </p:txBody>
      </p:sp>
      <p:sp>
        <p:nvSpPr>
          <p:cNvPr id="4" name="Text 1"/>
          <p:cNvSpPr/>
          <p:nvPr/>
        </p:nvSpPr>
        <p:spPr>
          <a:xfrm>
            <a:off x="748070" y="2091809"/>
            <a:ext cx="2634258" cy="292298"/>
          </a:xfrm>
          <a:prstGeom prst="rect">
            <a:avLst/>
          </a:prstGeom>
          <a:noFill/>
          <a:ln/>
        </p:spPr>
        <p:txBody>
          <a:bodyPr wrap="none" lIns="0" tIns="0" rIns="0" bIns="0" rtlCol="0" anchor="t"/>
          <a:lstStyle/>
          <a:p>
            <a:pPr marL="0" indent="0" algn="l">
              <a:lnSpc>
                <a:spcPts val="2300"/>
              </a:lnSpc>
              <a:buNone/>
            </a:pPr>
            <a:r>
              <a:rPr lang="en-US" sz="1800" dirty="0">
                <a:solidFill>
                  <a:srgbClr val="312F2B"/>
                </a:solidFill>
                <a:latin typeface="Bahnschrift Light SemiCondensed" panose="020B0502040204020203" pitchFamily="34" charset="0"/>
                <a:ea typeface="Gelasio" pitchFamily="34" charset="-122"/>
                <a:cs typeface="Gelasio" pitchFamily="34" charset="-120"/>
              </a:rPr>
              <a:t>Project Accomplishments</a:t>
            </a:r>
            <a:endParaRPr lang="en-US" sz="1800" dirty="0">
              <a:latin typeface="Bahnschrift Light SemiCondensed" panose="020B0502040204020203" pitchFamily="34" charset="0"/>
            </a:endParaRPr>
          </a:p>
        </p:txBody>
      </p:sp>
      <p:sp>
        <p:nvSpPr>
          <p:cNvPr id="5" name="Text 2"/>
          <p:cNvSpPr/>
          <p:nvPr/>
        </p:nvSpPr>
        <p:spPr>
          <a:xfrm>
            <a:off x="748070" y="2571036"/>
            <a:ext cx="3595807" cy="2094428"/>
          </a:xfrm>
          <a:prstGeom prst="rect">
            <a:avLst/>
          </a:prstGeom>
          <a:noFill/>
          <a:ln/>
        </p:spPr>
        <p:txBody>
          <a:bodyPr wrap="square" lIns="0" tIns="0" rIns="0" bIns="0" rtlCol="0" anchor="t"/>
          <a:lstStyle/>
          <a:p>
            <a:pPr marL="0" indent="0" algn="l">
              <a:lnSpc>
                <a:spcPts val="2350"/>
              </a:lnSpc>
              <a:buNone/>
            </a:pPr>
            <a:r>
              <a:rPr lang="en-US" sz="1450" dirty="0">
                <a:solidFill>
                  <a:srgbClr val="272525"/>
                </a:solidFill>
                <a:latin typeface="Bahnschrift Light SemiCondensed" panose="020B0502040204020203" pitchFamily="34" charset="0"/>
                <a:ea typeface="Lato" pitchFamily="34" charset="-122"/>
                <a:cs typeface="Lato" pitchFamily="34" charset="-120"/>
              </a:rPr>
              <a:t>Our Smart Inventory Management System successfully achieves its primary objective: providing small businesses with an automated, secure, and user-friendly solution for inventory control. The system is robust, functional, and designed to significantly enhance operational efficiency.</a:t>
            </a:r>
            <a:endParaRPr lang="en-US" sz="1450" dirty="0">
              <a:latin typeface="Bahnschrift Light SemiCondensed" panose="020B0502040204020203" pitchFamily="34" charset="0"/>
            </a:endParaRPr>
          </a:p>
        </p:txBody>
      </p:sp>
      <p:sp>
        <p:nvSpPr>
          <p:cNvPr id="6" name="Text 3"/>
          <p:cNvSpPr/>
          <p:nvPr/>
        </p:nvSpPr>
        <p:spPr>
          <a:xfrm>
            <a:off x="748070" y="4833699"/>
            <a:ext cx="3595807" cy="299204"/>
          </a:xfrm>
          <a:prstGeom prst="rect">
            <a:avLst/>
          </a:prstGeom>
          <a:noFill/>
          <a:ln/>
        </p:spPr>
        <p:txBody>
          <a:bodyPr wrap="none" lIns="0" tIns="0" rIns="0" bIns="0" rtlCol="0" anchor="t"/>
          <a:lstStyle/>
          <a:p>
            <a:pPr marL="0" indent="0" algn="l">
              <a:lnSpc>
                <a:spcPts val="2350"/>
              </a:lnSpc>
              <a:buNone/>
            </a:pPr>
            <a:r>
              <a:rPr lang="en-US" sz="1450" dirty="0">
                <a:solidFill>
                  <a:srgbClr val="272525"/>
                </a:solidFill>
                <a:latin typeface="Bahnschrift Light SemiCondensed" panose="020B0502040204020203" pitchFamily="34" charset="0"/>
                <a:ea typeface="Lato" pitchFamily="34" charset="-122"/>
                <a:cs typeface="Lato" pitchFamily="34" charset="-120"/>
              </a:rPr>
              <a:t>Key successes include:</a:t>
            </a:r>
            <a:endParaRPr lang="en-US" sz="1450" dirty="0">
              <a:latin typeface="Bahnschrift Light SemiCondensed" panose="020B0502040204020203" pitchFamily="34" charset="0"/>
            </a:endParaRPr>
          </a:p>
        </p:txBody>
      </p:sp>
      <p:sp>
        <p:nvSpPr>
          <p:cNvPr id="7" name="Text 4"/>
          <p:cNvSpPr/>
          <p:nvPr/>
        </p:nvSpPr>
        <p:spPr>
          <a:xfrm>
            <a:off x="748070" y="5301139"/>
            <a:ext cx="3595807" cy="29920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72525"/>
                </a:solidFill>
                <a:latin typeface="Bahnschrift Light SemiCondensed" panose="020B0502040204020203" pitchFamily="34" charset="0"/>
                <a:ea typeface="Lato" pitchFamily="34" charset="-122"/>
                <a:cs typeface="Lato" pitchFamily="34" charset="-120"/>
              </a:rPr>
              <a:t>Robust automated stock management.</a:t>
            </a:r>
            <a:endParaRPr lang="en-US" sz="1450" dirty="0">
              <a:latin typeface="Bahnschrift Light SemiCondensed" panose="020B0502040204020203" pitchFamily="34" charset="0"/>
            </a:endParaRPr>
          </a:p>
        </p:txBody>
      </p:sp>
      <p:sp>
        <p:nvSpPr>
          <p:cNvPr id="8" name="Text 5"/>
          <p:cNvSpPr/>
          <p:nvPr/>
        </p:nvSpPr>
        <p:spPr>
          <a:xfrm>
            <a:off x="748070" y="5665708"/>
            <a:ext cx="3595807" cy="29920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72525"/>
                </a:solidFill>
                <a:latin typeface="Bahnschrift Light SemiCondensed" panose="020B0502040204020203" pitchFamily="34" charset="0"/>
                <a:ea typeface="Lato" pitchFamily="34" charset="-122"/>
                <a:cs typeface="Lato" pitchFamily="34" charset="-120"/>
              </a:rPr>
              <a:t>Intuitive sales tracking interface.</a:t>
            </a:r>
            <a:endParaRPr lang="en-US" sz="1450" dirty="0">
              <a:latin typeface="Bahnschrift Light SemiCondensed" panose="020B0502040204020203" pitchFamily="34" charset="0"/>
            </a:endParaRPr>
          </a:p>
        </p:txBody>
      </p:sp>
      <p:sp>
        <p:nvSpPr>
          <p:cNvPr id="9" name="Text 6"/>
          <p:cNvSpPr/>
          <p:nvPr/>
        </p:nvSpPr>
        <p:spPr>
          <a:xfrm>
            <a:off x="748070" y="6030278"/>
            <a:ext cx="3595807" cy="425606"/>
          </a:xfrm>
          <a:prstGeom prst="rect">
            <a:avLst/>
          </a:prstGeom>
          <a:noFill/>
          <a:ln/>
        </p:spPr>
        <p:txBody>
          <a:bodyPr wrap="square" lIns="0" tIns="0" rIns="0" bIns="0" rtlCol="0" anchor="t"/>
          <a:lstStyle/>
          <a:p>
            <a:pPr marL="342900" indent="-342900" algn="l">
              <a:lnSpc>
                <a:spcPts val="2350"/>
              </a:lnSpc>
              <a:buSzPct val="100000"/>
              <a:buChar char="•"/>
            </a:pPr>
            <a:r>
              <a:rPr lang="en-US" sz="1450" dirty="0">
                <a:solidFill>
                  <a:srgbClr val="272525"/>
                </a:solidFill>
                <a:latin typeface="Bahnschrift Light SemiCondensed" panose="020B0502040204020203" pitchFamily="34" charset="0"/>
                <a:ea typeface="Lato" pitchFamily="34" charset="-122"/>
                <a:cs typeface="Lato" pitchFamily="34" charset="-120"/>
              </a:rPr>
              <a:t>Reliable alert and reporting mechanisms.</a:t>
            </a:r>
            <a:endParaRPr lang="en-US" sz="1450" dirty="0">
              <a:latin typeface="Bahnschrift Light SemiCondensed" panose="020B0502040204020203" pitchFamily="34" charset="0"/>
            </a:endParaRPr>
          </a:p>
        </p:txBody>
      </p:sp>
      <p:sp>
        <p:nvSpPr>
          <p:cNvPr id="10" name="Text 7"/>
          <p:cNvSpPr/>
          <p:nvPr/>
        </p:nvSpPr>
        <p:spPr>
          <a:xfrm>
            <a:off x="748070" y="6394847"/>
            <a:ext cx="3595807" cy="299204"/>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272525"/>
                </a:solidFill>
                <a:latin typeface="Bahnschrift Light SemiCondensed" panose="020B0502040204020203" pitchFamily="34" charset="0"/>
                <a:ea typeface="Lato" pitchFamily="34" charset="-122"/>
                <a:cs typeface="Lato" pitchFamily="34" charset="-120"/>
              </a:rPr>
              <a:t>Secure role-based access.</a:t>
            </a:r>
            <a:endParaRPr lang="en-US" sz="1450" dirty="0">
              <a:latin typeface="Bahnschrift Light SemiCondensed" panose="020B0502040204020203" pitchFamily="34" charset="0"/>
            </a:endParaRPr>
          </a:p>
        </p:txBody>
      </p:sp>
      <p:sp>
        <p:nvSpPr>
          <p:cNvPr id="11" name="Text 8"/>
          <p:cNvSpPr/>
          <p:nvPr/>
        </p:nvSpPr>
        <p:spPr>
          <a:xfrm>
            <a:off x="4807744" y="2091809"/>
            <a:ext cx="2338030" cy="292298"/>
          </a:xfrm>
          <a:prstGeom prst="rect">
            <a:avLst/>
          </a:prstGeom>
          <a:noFill/>
          <a:ln/>
        </p:spPr>
        <p:txBody>
          <a:bodyPr wrap="none" lIns="0" tIns="0" rIns="0" bIns="0" rtlCol="0" anchor="t"/>
          <a:lstStyle/>
          <a:p>
            <a:pPr marL="0" indent="0" algn="l">
              <a:lnSpc>
                <a:spcPts val="2300"/>
              </a:lnSpc>
              <a:buNone/>
            </a:pPr>
            <a:r>
              <a:rPr lang="en-US" sz="1800" dirty="0">
                <a:solidFill>
                  <a:srgbClr val="312F2B"/>
                </a:solidFill>
                <a:latin typeface="Bahnschrift Light SemiCondensed" panose="020B0502040204020203" pitchFamily="34" charset="0"/>
                <a:ea typeface="Gelasio" pitchFamily="34" charset="-122"/>
                <a:cs typeface="Gelasio" pitchFamily="34" charset="-120"/>
              </a:rPr>
              <a:t>Future Scope</a:t>
            </a:r>
            <a:endParaRPr lang="en-US" sz="1800" dirty="0">
              <a:latin typeface="Bahnschrift Light SemiCondensed" panose="020B0502040204020203" pitchFamily="34" charset="0"/>
            </a:endParaRPr>
          </a:p>
        </p:txBody>
      </p:sp>
      <p:sp>
        <p:nvSpPr>
          <p:cNvPr id="12" name="Text 9"/>
          <p:cNvSpPr/>
          <p:nvPr/>
        </p:nvSpPr>
        <p:spPr>
          <a:xfrm>
            <a:off x="4807744" y="2571036"/>
            <a:ext cx="3595807" cy="598408"/>
          </a:xfrm>
          <a:prstGeom prst="rect">
            <a:avLst/>
          </a:prstGeom>
          <a:noFill/>
          <a:ln/>
        </p:spPr>
        <p:txBody>
          <a:bodyPr wrap="square" lIns="0" tIns="0" rIns="0" bIns="0" rtlCol="0" anchor="t"/>
          <a:lstStyle/>
          <a:p>
            <a:pPr marL="0" indent="0" algn="l">
              <a:lnSpc>
                <a:spcPts val="2350"/>
              </a:lnSpc>
              <a:buNone/>
            </a:pPr>
            <a:r>
              <a:rPr lang="en-US" sz="1450" dirty="0">
                <a:solidFill>
                  <a:srgbClr val="272525"/>
                </a:solidFill>
                <a:latin typeface="Bahnschrift Light SemiCondensed" panose="020B0502040204020203" pitchFamily="34" charset="0"/>
                <a:ea typeface="Lato" pitchFamily="34" charset="-122"/>
                <a:cs typeface="Lato" pitchFamily="34" charset="-120"/>
              </a:rPr>
              <a:t>To further enhance the system, we envision several additions:</a:t>
            </a:r>
            <a:endParaRPr lang="en-US" sz="1450" dirty="0">
              <a:latin typeface="Bahnschrift Light SemiCondensed" panose="020B0502040204020203" pitchFamily="34" charset="0"/>
            </a:endParaRPr>
          </a:p>
        </p:txBody>
      </p:sp>
      <p:sp>
        <p:nvSpPr>
          <p:cNvPr id="13" name="Text 10"/>
          <p:cNvSpPr/>
          <p:nvPr/>
        </p:nvSpPr>
        <p:spPr>
          <a:xfrm>
            <a:off x="4807744" y="3337679"/>
            <a:ext cx="3595807" cy="598408"/>
          </a:xfrm>
          <a:prstGeom prst="rect">
            <a:avLst/>
          </a:prstGeom>
          <a:noFill/>
          <a:ln/>
        </p:spPr>
        <p:txBody>
          <a:bodyPr wrap="square" lIns="0" tIns="0" rIns="0" bIns="0" rtlCol="0" anchor="t"/>
          <a:lstStyle/>
          <a:p>
            <a:pPr marL="342900" indent="-342900" algn="l">
              <a:lnSpc>
                <a:spcPts val="2350"/>
              </a:lnSpc>
              <a:buSzPct val="100000"/>
              <a:buChar char="•"/>
            </a:pPr>
            <a:r>
              <a:rPr lang="en-US" sz="1450" b="1" dirty="0">
                <a:solidFill>
                  <a:srgbClr val="272525"/>
                </a:solidFill>
                <a:latin typeface="Bahnschrift Light SemiCondensed" panose="020B0502040204020203" pitchFamily="34" charset="0"/>
                <a:ea typeface="Lato" pitchFamily="34" charset="-122"/>
                <a:cs typeface="Lato" pitchFamily="34" charset="-120"/>
              </a:rPr>
              <a:t>Barcode Scanning Integration:</a:t>
            </a:r>
            <a:r>
              <a:rPr lang="en-US" sz="1450" dirty="0">
                <a:solidFill>
                  <a:srgbClr val="272525"/>
                </a:solidFill>
                <a:latin typeface="Bahnschrift Light SemiCondensed" panose="020B0502040204020203" pitchFamily="34" charset="0"/>
                <a:ea typeface="Lato" pitchFamily="34" charset="-122"/>
                <a:cs typeface="Lato" pitchFamily="34" charset="-120"/>
              </a:rPr>
              <a:t> For rapid and error-free product entry and sales.</a:t>
            </a:r>
            <a:endParaRPr lang="en-US" sz="1450" dirty="0">
              <a:latin typeface="Bahnschrift Light SemiCondensed" panose="020B0502040204020203" pitchFamily="34" charset="0"/>
            </a:endParaRPr>
          </a:p>
        </p:txBody>
      </p:sp>
      <p:sp>
        <p:nvSpPr>
          <p:cNvPr id="14" name="Text 11"/>
          <p:cNvSpPr/>
          <p:nvPr/>
        </p:nvSpPr>
        <p:spPr>
          <a:xfrm>
            <a:off x="4807744" y="4114800"/>
            <a:ext cx="3595807" cy="897612"/>
          </a:xfrm>
          <a:prstGeom prst="rect">
            <a:avLst/>
          </a:prstGeom>
          <a:noFill/>
          <a:ln/>
        </p:spPr>
        <p:txBody>
          <a:bodyPr wrap="square" lIns="0" tIns="0" rIns="0" bIns="0" rtlCol="0" anchor="t"/>
          <a:lstStyle/>
          <a:p>
            <a:pPr marL="342900" indent="-342900" algn="l">
              <a:lnSpc>
                <a:spcPts val="2350"/>
              </a:lnSpc>
              <a:buSzPct val="100000"/>
              <a:buChar char="•"/>
            </a:pPr>
            <a:r>
              <a:rPr lang="en-US" sz="1450" b="1" dirty="0">
                <a:solidFill>
                  <a:srgbClr val="272525"/>
                </a:solidFill>
                <a:latin typeface="Bahnschrift Light SemiCondensed" panose="020B0502040204020203" pitchFamily="34" charset="0"/>
                <a:ea typeface="Lato" pitchFamily="34" charset="-122"/>
                <a:cs typeface="Lato" pitchFamily="34" charset="-120"/>
              </a:rPr>
              <a:t>SMS Alerts:</a:t>
            </a:r>
            <a:r>
              <a:rPr lang="en-US" sz="1450" dirty="0">
                <a:solidFill>
                  <a:srgbClr val="272525"/>
                </a:solidFill>
                <a:latin typeface="Bahnschrift Light SemiCondensed" panose="020B0502040204020203" pitchFamily="34" charset="0"/>
                <a:ea typeface="Lato" pitchFamily="34" charset="-122"/>
                <a:cs typeface="Lato" pitchFamily="34" charset="-120"/>
              </a:rPr>
              <a:t> To provide critical notifications even when not logged into the system.</a:t>
            </a:r>
            <a:endParaRPr lang="en-US" sz="1450" dirty="0">
              <a:latin typeface="Bahnschrift Light SemiCondensed" panose="020B0502040204020203" pitchFamily="34" charset="0"/>
            </a:endParaRPr>
          </a:p>
        </p:txBody>
      </p:sp>
      <p:sp>
        <p:nvSpPr>
          <p:cNvPr id="15" name="Text 12"/>
          <p:cNvSpPr/>
          <p:nvPr/>
        </p:nvSpPr>
        <p:spPr>
          <a:xfrm>
            <a:off x="4807744" y="4964430"/>
            <a:ext cx="3595807" cy="1196816"/>
          </a:xfrm>
          <a:prstGeom prst="rect">
            <a:avLst/>
          </a:prstGeom>
          <a:noFill/>
          <a:ln/>
        </p:spPr>
        <p:txBody>
          <a:bodyPr wrap="square" lIns="0" tIns="0" rIns="0" bIns="0" rtlCol="0" anchor="t"/>
          <a:lstStyle/>
          <a:p>
            <a:pPr marL="342900" indent="-342900" algn="l">
              <a:lnSpc>
                <a:spcPts val="2350"/>
              </a:lnSpc>
              <a:buSzPct val="100000"/>
              <a:buChar char="•"/>
            </a:pPr>
            <a:r>
              <a:rPr lang="en-US" sz="1450" b="1" dirty="0">
                <a:solidFill>
                  <a:srgbClr val="272525"/>
                </a:solidFill>
                <a:latin typeface="Bahnschrift Light SemiCondensed" panose="020B0502040204020203" pitchFamily="34" charset="0"/>
                <a:ea typeface="Lato" pitchFamily="34" charset="-122"/>
                <a:cs typeface="Lato" pitchFamily="34" charset="-120"/>
              </a:rPr>
              <a:t>Advanced Analytics Dashboard:</a:t>
            </a:r>
            <a:r>
              <a:rPr lang="en-US" sz="1450" dirty="0">
                <a:solidFill>
                  <a:srgbClr val="272525"/>
                </a:solidFill>
                <a:latin typeface="Bahnschrift Light SemiCondensed" panose="020B0502040204020203" pitchFamily="34" charset="0"/>
                <a:ea typeface="Lato" pitchFamily="34" charset="-122"/>
                <a:cs typeface="Lato" pitchFamily="34" charset="-120"/>
              </a:rPr>
              <a:t> Offering deeper insights into sales trends, popular products, and inventory turnover.</a:t>
            </a:r>
            <a:endParaRPr lang="en-US" sz="1450" dirty="0">
              <a:latin typeface="Bahnschrift Light SemiCondensed" panose="020B0502040204020203" pitchFamily="34" charset="0"/>
            </a:endParaRPr>
          </a:p>
        </p:txBody>
      </p:sp>
      <p:sp>
        <p:nvSpPr>
          <p:cNvPr id="16" name="Text 13"/>
          <p:cNvSpPr/>
          <p:nvPr/>
        </p:nvSpPr>
        <p:spPr>
          <a:xfrm>
            <a:off x="4807744" y="6226612"/>
            <a:ext cx="3595807" cy="897612"/>
          </a:xfrm>
          <a:prstGeom prst="rect">
            <a:avLst/>
          </a:prstGeom>
          <a:noFill/>
          <a:ln/>
        </p:spPr>
        <p:txBody>
          <a:bodyPr wrap="square" lIns="0" tIns="0" rIns="0" bIns="0" rtlCol="0" anchor="t"/>
          <a:lstStyle/>
          <a:p>
            <a:pPr marL="342900" indent="-342900" algn="l">
              <a:lnSpc>
                <a:spcPts val="2350"/>
              </a:lnSpc>
              <a:buSzPct val="100000"/>
              <a:buChar char="•"/>
            </a:pPr>
            <a:r>
              <a:rPr lang="en-US" sz="1450" b="1" dirty="0">
                <a:solidFill>
                  <a:srgbClr val="272525"/>
                </a:solidFill>
                <a:latin typeface="Bahnschrift Light SemiCondensed" panose="020B0502040204020203" pitchFamily="34" charset="0"/>
                <a:ea typeface="Lato" pitchFamily="34" charset="-122"/>
                <a:cs typeface="Lato" pitchFamily="34" charset="-120"/>
              </a:rPr>
              <a:t>Mobile Application:</a:t>
            </a:r>
            <a:r>
              <a:rPr lang="en-US" sz="1450" dirty="0">
                <a:solidFill>
                  <a:srgbClr val="272525"/>
                </a:solidFill>
                <a:latin typeface="Bahnschrift Light SemiCondensed" panose="020B0502040204020203" pitchFamily="34" charset="0"/>
                <a:ea typeface="Lato" pitchFamily="34" charset="-122"/>
                <a:cs typeface="Lato" pitchFamily="34" charset="-120"/>
              </a:rPr>
              <a:t> For on-the-go inventory management and sales recording.</a:t>
            </a:r>
            <a:endParaRPr lang="en-US" sz="1450" dirty="0">
              <a:latin typeface="Bahnschrift Light SemiCondensed" panose="020B0502040204020203" pitchFamily="34" charset="0"/>
            </a:endParaRPr>
          </a:p>
        </p:txBody>
      </p:sp>
      <p:sp>
        <p:nvSpPr>
          <p:cNvPr id="17" name="Rectangle 16">
            <a:extLst>
              <a:ext uri="{FF2B5EF4-FFF2-40B4-BE49-F238E27FC236}">
                <a16:creationId xmlns:a16="http://schemas.microsoft.com/office/drawing/2014/main" id="{E526E4F2-61C9-4D39-9670-AB201BB62916}"/>
              </a:ext>
            </a:extLst>
          </p:cNvPr>
          <p:cNvSpPr/>
          <p:nvPr/>
        </p:nvSpPr>
        <p:spPr>
          <a:xfrm>
            <a:off x="12862560" y="7802880"/>
            <a:ext cx="1625600" cy="317540"/>
          </a:xfrm>
          <a:prstGeom prst="rect">
            <a:avLst/>
          </a:prstGeom>
          <a:solidFill>
            <a:srgbClr val="FEFEFE"/>
          </a:solidFill>
          <a:ln>
            <a:solidFill>
              <a:srgbClr val="FEFE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ahnschrift Light SemiCondensed" panose="020B0502040204020203" pitchFamily="34" charset="0"/>
            </a:endParaRPr>
          </a:p>
        </p:txBody>
      </p:sp>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TotalTime>
  <Words>1032</Words>
  <Application>Microsoft Office PowerPoint</Application>
  <PresentationFormat>Custom</PresentationFormat>
  <Paragraphs>105</Paragraphs>
  <Slides>10</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Bahnschrift Light</vt:lpstr>
      <vt:lpstr>Lato</vt:lpstr>
      <vt:lpstr>Gelasio</vt:lpstr>
      <vt:lpstr>Arial</vt:lpstr>
      <vt:lpstr>Bahnschrift Light SemiCondensed</vt:lpstr>
      <vt:lpstr>Arial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Pandemic_maz .</cp:lastModifiedBy>
  <cp:revision>14</cp:revision>
  <dcterms:created xsi:type="dcterms:W3CDTF">2025-07-31T07:50:40Z</dcterms:created>
  <dcterms:modified xsi:type="dcterms:W3CDTF">2025-08-11T14:53:13Z</dcterms:modified>
</cp:coreProperties>
</file>